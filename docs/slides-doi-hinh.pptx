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88" r:id="rId39"/>
    <p:sldId id="286" r:id="rId37"/>
    <p:sldId id="287" r:id="rId38"/>
    <p:sldId id="268" r:id="rId19"/>
    <p:sldId id="269" r:id="rId20"/>
    <p:sldId id="270" r:id="rId21"/>
    <p:sldId id="271" r:id="rId22"/>
    <p:sldId id="272" r:id="rId23"/>
    <p:sldId id="258" r:id="rId4"/>
    <p:sldId id="259" r:id="rId5"/>
    <p:sldId id="260" r:id="rId6"/>
    <p:sldId id="261" r:id="rId7"/>
    <p:sldId id="262" r:id="rId8"/>
    <p:sldId id="263" r:id="rId9"/>
    <p:sldId id="264" r:id="rId10"/>
    <p:sldId id="265" r:id="rId11"/>
    <p:sldId id="266" r:id="rId12"/>
    <p:sldId id="281" r:id="rId32"/>
    <p:sldId id="282" r:id="rId33"/>
    <p:sldId id="283" r:id="rId34"/>
    <p:sldId id="284" r:id="rId35"/>
    <p:sldId id="285" r:id="rId36"/>
    <p:sldId id="273" r:id="rId24"/>
    <p:sldId id="274" r:id="rId25"/>
    <p:sldId id="275" r:id="rId26"/>
    <p:sldId id="276" r:id="rId27"/>
    <p:sldId id="277" r:id="rId28"/>
    <p:sldId id="278" r:id="rId29"/>
    <p:sldId id="279" r:id="rId30"/>
    <p:sldId id="280" r:id="rId31"/>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272A832-352C-826B-207C-92687EC87D5B}">
          <p14:sldIdLst>
            <p14:sldId id="256"/>
          </p14:sldIdLst>
        </p14:section>
        <p14:section name="Đội hình" id="{F33BAE82-912A-9654-EEB4-D9E9B1F46E93}">
          <p14:sldIdLst>
            <p14:sldId id="257"/>
            <p14:sldId id="258"/>
            <p14:sldId id="259"/>
            <p14:sldId id="260"/>
            <p14:sldId id="261"/>
          </p14:sldIdLst>
        </p14:section>
        <p14:section name="Luật" id="{E6D7CA45-8C74-BC97-3941-48417CC019B8}">
          <p14:sldIdLst>
            <p14:sldId id="262"/>
            <p14:sldId id="263"/>
            <p14:sldId id="264"/>
            <p14:sldId id="265"/>
          </p14:sldIdLst>
        </p14:section>
        <p14:section name="Cơ sở" id="{6D71A822-4E5B-7D7B-4641-18C75A981AB5}">
          <p14:sldIdLst>
            <p14:sldId id="266"/>
          </p14:sldIdLst>
        </p14:section>
        <p14:section name="Kết" id="{F8B04838-335D-FCAB-3CB1-7C10B49CEC55}">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620"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0.xml"/><Relationship Id="rId7" Type="http://schemas.openxmlformats.org/officeDocument/2006/relationships/slide" Target="slides/slide11.xml"/><Relationship Id="rId8" Type="http://schemas.openxmlformats.org/officeDocument/2006/relationships/slide" Target="slides/slide12.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25.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0804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474720"/>
            <a:ext cx="10698480" cy="1097280"/>
          </a:xfrm>
          <a:prstGeom prst="rect">
            <a:avLst/>
          </a:prstGeom>
          <a:noFill/>
          <a:ln/>
        </p:spPr>
        <p:txBody>
          <a:bodyPr wrap="square" rtlCol="0"/>
          <a:lstStyle>
            <a:lvl1pPr marL="0" indent="0" algn="l">
              <a:buNone/>
              <a:defRPr lang="en-US" sz="2000" i="1"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cameronfreer/lean4-skills" TargetMode="External"/><Relationship Id="rId3" Type="http://schemas.openxmlformats.org/officeDocument/2006/relationships/hyperlink" Target="https://github.com/project-numina/lean-lsp-mcp" TargetMode="External"/><Relationship Id="rId4" Type="http://schemas.openxmlformats.org/officeDocument/2006/relationships/hyperlink" Target="https://github.com/majiayu000/claude-skill-registry" TargetMode="External"/><Relationship Id="rId5" Type="http://schemas.openxmlformats.org/officeDocument/2006/relationships/hyperlink" Target="https://github.com/szeider/mcp-solver" TargetMode="External"/><Relationship Id="rId6" Type="http://schemas.openxmlformats.org/officeDocument/2006/relationships/hyperlink" Target="https://pypi.org/project/z3smt-mcp/" TargetMode="External"/><Relationship Id="rId7" Type="http://schemas.openxmlformats.org/officeDocument/2006/relationships/hyperlink" Target="https://pypi.org/project/mcp-sage/" TargetMode="External"/><Relationship Id="rId8" Type="http://schemas.openxmlformats.org/officeDocument/2006/relationships/hyperlink" Target="https://github.com/blazickjp/arxiv-mcp-server" TargetMode="External"/><Relationship Id="rId9" Type="http://schemas.openxmlformats.org/officeDocument/2006/relationships/hyperlink" Target="https://api.alphaxiv.org/mcp/v1" TargetMode="External"/><Relationship Id="rId10" Type="http://schemas.openxmlformats.org/officeDocument/2006/relationships/hyperlink" Target="https://github.com/papersflow-ai/papersflow-mcp"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blazickjp/arxiv-mcp-server" TargetMode="External"/><Relationship Id="rId3" Type="http://schemas.openxmlformats.org/officeDocument/2006/relationships/hyperlink" Target="https://github.com/Imbad0202/academic-research-skills" TargetMode="External"/><Relationship Id="rId4" Type="http://schemas.openxmlformats.org/officeDocument/2006/relationships/hyperlink" Target="https://pypi.org/project/mcp-sage/" TargetMode="External"/><Relationship Id="rId5" Type="http://schemas.openxmlformats.org/officeDocument/2006/relationships/hyperlink" Target="https://github.com/szeider/mcp-solver" TargetMode="External"/><Relationship Id="rId6" Type="http://schemas.openxmlformats.org/officeDocument/2006/relationships/hyperlink" Target="https://pages.uoregon.edu/lipshitz/projects/claude/index.html" TargetMode="External"/><Relationship Id="rId7" Type="http://schemas.openxmlformats.org/officeDocument/2006/relationships/hyperlink" Target="https://github.com/cameronfreer/lean4-skills" TargetMode="External"/><Relationship Id="rId8" Type="http://schemas.openxmlformats.org/officeDocument/2006/relationships/hyperlink" Target="https://github.com/project-numina/lean-lsp-mcp" TargetMode="External"/><Relationship Id="rId9" Type="http://schemas.openxmlformats.org/officeDocument/2006/relationships/hyperlink" Target="https://tomevault.io/tome/Mexregkan/claude-for-researcher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pages.uoregon.edu/lipshitz/projects/claude/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tomevault.io/tome/Mexregkan/claude-for-researcher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p>
            <a:pPr marL="0" indent="0" algn="l">
              <a:buNone/>
            </a:pPr>
            <a:r>
              <a:rPr lang="en-US" sz="4400" b="1" dirty="0">
                <a:solidFill>
                  <a:schemeClr val="bg1"/>
                </a:solidFill>
                <a:latin typeface="Cambria" pitchFamily="34" charset="0"/>
                <a:ea typeface="Cambria" pitchFamily="34" charset="-122"/>
                <a:cs typeface="Cambria" pitchFamily="34" charset="-120"/>
              </a:rPr>
              <a:t>Đội nghiên cứu toán</a:t>
            </a:r>
            <a:endParaRPr lang="en-US" sz="4400" dirty="0"/>
          </a:p>
        </p:txBody>
      </p:sp>
      <p:sp>
        <p:nvSpPr>
          <p:cNvPr id="3" name="Text 0"/>
          <p:cNvSpPr>
            <a:spLocks noGrp="1"/>
          </p:cNvSpPr>
          <p:nvPr>
            <p:ph type="body" idx="101" hasCustomPrompt="1"/>
          </p:nvPr>
        </p:nvSpPr>
        <p:spPr>
          <a:xfrm>
            <a:off x="731520" y="3474720"/>
            <a:ext cx="10698480" cy="1097280"/>
          </a:xfrm>
          <a:prstGeom prst="rect">
            <a:avLst/>
          </a:prstGeom>
          <a:noFill/>
          <a:ln/>
        </p:spPr>
        <p:txBody>
          <a:bodyPr wrap="square" rtlCol="0"/>
          <a:lstStyle/>
          <a:p>
            <a:pPr marL="0" indent="0" algn="l">
              <a:buNone/>
            </a:pPr>
            <a:r>
              <a:rPr lang="en-US" sz="2000" i="1" dirty="0">
                <a:solidFill>
                  <a:schemeClr val="bg2"/>
                </a:solidFill>
              </a:rPr>
              <a:t>Tấn công sinh ý và chứng minh. Phòng thủ kiểm. Tiền vệ điều phối.</a:t>
            </a:r>
            <a:endParaRPr lang="en-US" sz="2000" dirty="0"/>
          </a:p>
        </p:txBody>
      </p:sp>
      <p:sp>
        <p:nvSpPr>
          <p:cNvPr id="4" name="Shape 2"/>
          <p:cNvSpPr/>
          <p:nvPr/>
        </p:nvSpPr>
        <p:spPr>
          <a:xfrm>
            <a:off x="731520" y="4937760"/>
            <a:ext cx="256032" cy="256032"/>
          </a:xfrm>
          <a:prstGeom prst="ellipse">
            <a:avLst/>
          </a:prstGeom>
          <a:solidFill>
            <a:srgbClr val="2B59D9"/>
          </a:solidFill>
          <a:ln w="12700">
            <a:solidFill>
              <a:srgbClr val="2B59D9"/>
            </a:solidFill>
            <a:prstDash val="solid"/>
          </a:ln>
        </p:spPr>
        <p:txBody>
          <a:bodyPr/>
          <a:lstStyle/>
          <a:p>
            <a:endParaRPr lang="en-US"/>
          </a:p>
        </p:txBody>
      </p:sp>
      <p:sp>
        <p:nvSpPr>
          <p:cNvPr id="5" name="Shape 3"/>
          <p:cNvSpPr/>
          <p:nvPr/>
        </p:nvSpPr>
        <p:spPr>
          <a:xfrm>
            <a:off x="1143000" y="4937760"/>
            <a:ext cx="256032" cy="256032"/>
          </a:xfrm>
          <a:prstGeom prst="ellipse">
            <a:avLst/>
          </a:prstGeom>
          <a:solidFill>
            <a:srgbClr val="FFFFFF"/>
          </a:solidFill>
          <a:ln w="12700">
            <a:solidFill>
              <a:srgbClr val="FFFFFF"/>
            </a:solidFill>
            <a:prstDash val="solid"/>
          </a:ln>
        </p:spPr>
        <p:txBody>
          <a:bodyPr/>
          <a:lstStyle/>
          <a:p>
            <a:endParaRPr lang="en-US"/>
          </a:p>
        </p:txBody>
      </p:sp>
      <p:sp>
        <p:nvSpPr>
          <p:cNvPr id="6" name="Shape 4"/>
          <p:cNvSpPr/>
          <p:nvPr/>
        </p:nvSpPr>
        <p:spPr>
          <a:xfrm>
            <a:off x="1554480" y="4937760"/>
            <a:ext cx="256032" cy="256032"/>
          </a:xfrm>
          <a:prstGeom prst="ellipse">
            <a:avLst/>
          </a:prstGeom>
          <a:solidFill>
            <a:srgbClr val="C93A2A"/>
          </a:solidFill>
          <a:ln w="12700">
            <a:solidFill>
              <a:srgbClr val="C93A2A"/>
            </a:solidFill>
            <a:prstDash val="solid"/>
          </a:ln>
        </p:spPr>
        <p:txBody>
          <a:bodyPr/>
          <a:lstStyle/>
          <a:p>
            <a:endParaRPr lang="en-US"/>
          </a:p>
        </p:txBody>
      </p:sp>
      <p:sp>
        <p:nvSpPr>
          <p:cNvPr id="7" name="Shape 5"/>
          <p:cNvSpPr/>
          <p:nvPr/>
        </p:nvSpPr>
        <p:spPr>
          <a:xfrm>
            <a:off x="1965960" y="4937760"/>
            <a:ext cx="256032" cy="256032"/>
          </a:xfrm>
          <a:prstGeom prst="ellipse">
            <a:avLst/>
          </a:prstGeom>
          <a:solidFill>
            <a:srgbClr val="A86C0E"/>
          </a:solidFill>
          <a:ln w="12700">
            <a:solidFill>
              <a:srgbClr val="A86C0E"/>
            </a:solidFill>
            <a:prstDash val="solid"/>
          </a:ln>
        </p:spPr>
        <p:txBody>
          <a:bodyPr/>
          <a:lstStyle/>
          <a:p>
            <a:endParaRPr lang="en-US"/>
          </a:p>
        </p:txBody>
      </p:sp>
      <p:sp>
        <p:nvSpPr>
          <p:cNvPr id="8" name="Shape 6"/>
          <p:cNvSpPr/>
          <p:nvPr/>
        </p:nvSpPr>
        <p:spPr>
          <a:xfrm>
            <a:off x="2377440" y="4937760"/>
            <a:ext cx="256032" cy="256032"/>
          </a:xfrm>
          <a:prstGeom prst="ellipse">
            <a:avLst/>
          </a:prstGeom>
          <a:solidFill>
            <a:srgbClr val="157A55"/>
          </a:solidFill>
          <a:ln w="12700">
            <a:solidFill>
              <a:srgbClr val="157A5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r>
              <a:rPr lang="en-US" dirty="0"/>
              <a:t>“Dream Team” Barcelona </a:t>
            </a:r>
            <a:r>
              <a:rPr lang="en-US" dirty="0" err="1"/>
              <a:t>của</a:t>
            </a:r>
            <a:r>
              <a:rPr lang="en-US" dirty="0"/>
              <a:t> Johan Cruyff</a:t>
            </a:r>
            <a:endParaRPr lang="en-US" sz="3200" dirty="0"/>
          </a:p>
        </p:txBody>
      </p:sp>
      <p:sp>
        <p:nvSpPr>
          <p:cNvPr id="3" name="Shape 1"/>
          <p:cNvSpPr/>
          <p:nvPr/>
        </p:nvSpPr>
        <p:spPr>
          <a:xfrm>
            <a:off x="365760" y="1143000"/>
            <a:ext cx="9833921" cy="978408"/>
          </a:xfrm>
          <a:prstGeom prst="rect">
            <a:avLst/>
          </a:prstGeom>
          <a:solidFill>
            <a:srgbClr val="EEF3FD"/>
          </a:solidFill>
          <a:ln w="12700">
            <a:solidFill>
              <a:srgbClr val="EEF3FD"/>
            </a:solidFill>
            <a:prstDash val="solid"/>
          </a:ln>
        </p:spPr>
        <p:txBody>
          <a:bodyPr/>
          <a:lstStyle/>
          <a:p>
            <a:endParaRPr lang="en-US"/>
          </a:p>
        </p:txBody>
      </p:sp>
      <p:sp>
        <p:nvSpPr>
          <p:cNvPr id="4" name="Text 2"/>
          <p:cNvSpPr txBox="1"/>
          <p:nvPr/>
        </p:nvSpPr>
        <p:spPr>
          <a:xfrm rot="16200000">
            <a:off x="45720" y="1490472"/>
            <a:ext cx="731520" cy="274320"/>
          </a:xfrm>
          <a:prstGeom prst="rect">
            <a:avLst/>
          </a:prstGeom>
          <a:noFill/>
          <a:ln/>
        </p:spPr>
        <p:txBody>
          <a:bodyPr wrap="square" lIns="0" tIns="0" rIns="0" bIns="0" rtlCol="0" anchor="ctr"/>
          <a:lstStyle/>
          <a:p>
            <a:pPr marL="0" indent="0" algn="ctr">
              <a:buNone/>
            </a:pPr>
            <a:r>
              <a:rPr lang="en-US" sz="1200" b="1" dirty="0">
                <a:solidFill>
                  <a:srgbClr val="2B59D9"/>
                </a:solidFill>
              </a:rPr>
              <a:t>Tấn công</a:t>
            </a:r>
            <a:endParaRPr lang="en-US" sz="1200" dirty="0"/>
          </a:p>
        </p:txBody>
      </p:sp>
      <p:sp>
        <p:nvSpPr>
          <p:cNvPr id="5" name="Shape 3"/>
          <p:cNvSpPr/>
          <p:nvPr/>
        </p:nvSpPr>
        <p:spPr>
          <a:xfrm>
            <a:off x="365760" y="2121408"/>
            <a:ext cx="9833921" cy="2724912"/>
          </a:xfrm>
          <a:prstGeom prst="rect">
            <a:avLst/>
          </a:prstGeom>
          <a:solidFill>
            <a:srgbClr val="F2F4F7"/>
          </a:solidFill>
          <a:ln w="12700">
            <a:solidFill>
              <a:srgbClr val="F2F4F7"/>
            </a:solidFill>
            <a:prstDash val="solid"/>
          </a:ln>
        </p:spPr>
        <p:txBody>
          <a:bodyPr/>
          <a:lstStyle/>
          <a:p>
            <a:endParaRPr lang="en-US"/>
          </a:p>
        </p:txBody>
      </p:sp>
      <p:sp>
        <p:nvSpPr>
          <p:cNvPr id="6" name="Text 4"/>
          <p:cNvSpPr txBox="1"/>
          <p:nvPr/>
        </p:nvSpPr>
        <p:spPr>
          <a:xfrm rot="16200000">
            <a:off x="45720" y="3346704"/>
            <a:ext cx="731520" cy="274320"/>
          </a:xfrm>
          <a:prstGeom prst="rect">
            <a:avLst/>
          </a:prstGeom>
          <a:noFill/>
          <a:ln/>
        </p:spPr>
        <p:txBody>
          <a:bodyPr wrap="square" lIns="0" tIns="0" rIns="0" bIns="0" rtlCol="0" anchor="ctr"/>
          <a:lstStyle/>
          <a:p>
            <a:pPr marL="0" indent="0" algn="ctr">
              <a:buNone/>
            </a:pPr>
            <a:r>
              <a:rPr lang="en-US" sz="1200" b="1" dirty="0">
                <a:solidFill>
                  <a:srgbClr val="1C2333"/>
                </a:solidFill>
              </a:rPr>
              <a:t>Tiền vệ</a:t>
            </a:r>
            <a:endParaRPr lang="en-US" sz="1200" dirty="0"/>
          </a:p>
        </p:txBody>
      </p:sp>
      <p:sp>
        <p:nvSpPr>
          <p:cNvPr id="7" name="Shape 5"/>
          <p:cNvSpPr/>
          <p:nvPr/>
        </p:nvSpPr>
        <p:spPr>
          <a:xfrm>
            <a:off x="365760" y="4846320"/>
            <a:ext cx="9833920" cy="1792224"/>
          </a:xfrm>
          <a:prstGeom prst="rect">
            <a:avLst/>
          </a:prstGeom>
          <a:solidFill>
            <a:srgbClr val="FCF3EA"/>
          </a:solidFill>
          <a:ln w="12700">
            <a:solidFill>
              <a:srgbClr val="FCF3EA"/>
            </a:solidFill>
            <a:prstDash val="solid"/>
          </a:ln>
        </p:spPr>
        <p:txBody>
          <a:bodyPr/>
          <a:lstStyle/>
          <a:p>
            <a:endParaRPr lang="en-US"/>
          </a:p>
        </p:txBody>
      </p:sp>
      <p:sp>
        <p:nvSpPr>
          <p:cNvPr id="8" name="Text 6"/>
          <p:cNvSpPr txBox="1"/>
          <p:nvPr/>
        </p:nvSpPr>
        <p:spPr>
          <a:xfrm rot="16200000">
            <a:off x="45720" y="5605272"/>
            <a:ext cx="731520" cy="274320"/>
          </a:xfrm>
          <a:prstGeom prst="rect">
            <a:avLst/>
          </a:prstGeom>
          <a:noFill/>
          <a:ln/>
        </p:spPr>
        <p:txBody>
          <a:bodyPr wrap="square" lIns="0" tIns="0" rIns="0" bIns="0" rtlCol="0" anchor="ctr"/>
          <a:lstStyle/>
          <a:p>
            <a:pPr marL="0" indent="0" algn="ctr">
              <a:buNone/>
            </a:pPr>
            <a:r>
              <a:rPr lang="en-US" sz="1200" b="1" dirty="0">
                <a:solidFill>
                  <a:srgbClr val="A86C0E"/>
                </a:solidFill>
              </a:rPr>
              <a:t>Phòng thủ</a:t>
            </a:r>
            <a:endParaRPr lang="en-US" sz="1200" dirty="0"/>
          </a:p>
        </p:txBody>
      </p:sp>
      <p:sp>
        <p:nvSpPr>
          <p:cNvPr id="9" name="Shape 7"/>
          <p:cNvSpPr/>
          <p:nvPr/>
        </p:nvSpPr>
        <p:spPr>
          <a:xfrm>
            <a:off x="365760" y="2121408"/>
            <a:ext cx="11475720" cy="0"/>
          </a:xfrm>
          <a:prstGeom prst="line">
            <a:avLst/>
          </a:prstGeom>
          <a:noFill/>
          <a:ln w="22225">
            <a:solidFill>
              <a:srgbClr val="C93A2A"/>
            </a:solidFill>
            <a:prstDash val="dash"/>
          </a:ln>
        </p:spPr>
        <p:txBody>
          <a:bodyPr/>
          <a:lstStyle/>
          <a:p>
            <a:endParaRPr lang="en-US"/>
          </a:p>
        </p:txBody>
      </p:sp>
      <p:sp>
        <p:nvSpPr>
          <p:cNvPr id="10" name="Shape 8"/>
          <p:cNvSpPr/>
          <p:nvPr/>
        </p:nvSpPr>
        <p:spPr>
          <a:xfrm>
            <a:off x="10483596" y="1892808"/>
            <a:ext cx="1325880" cy="453542"/>
          </a:xfrm>
          <a:prstGeom prst="roundRect">
            <a:avLst>
              <a:gd name="adj" fmla="val 50000"/>
            </a:avLst>
          </a:prstGeom>
          <a:solidFill>
            <a:srgbClr val="FFFFFF"/>
          </a:solidFill>
          <a:ln w="15875">
            <a:solidFill>
              <a:srgbClr val="C93A2A"/>
            </a:solidFill>
            <a:prstDash val="solid"/>
          </a:ln>
        </p:spPr>
        <p:txBody>
          <a:bodyPr/>
          <a:lstStyle/>
          <a:p>
            <a:endParaRPr lang="en-US"/>
          </a:p>
        </p:txBody>
      </p:sp>
      <p:sp>
        <p:nvSpPr>
          <p:cNvPr id="11" name="Text 9"/>
          <p:cNvSpPr txBox="1"/>
          <p:nvPr/>
        </p:nvSpPr>
        <p:spPr>
          <a:xfrm>
            <a:off x="10529336" y="1965960"/>
            <a:ext cx="1266424" cy="292608"/>
          </a:xfrm>
          <a:prstGeom prst="rect">
            <a:avLst/>
          </a:prstGeom>
          <a:noFill/>
          <a:ln/>
        </p:spPr>
        <p:txBody>
          <a:bodyPr wrap="square" lIns="0" tIns="0" rIns="0" bIns="0" rtlCol="0" anchor="ctr"/>
          <a:lstStyle/>
          <a:p>
            <a:pPr marL="0" indent="0" algn="ctr">
              <a:buNone/>
            </a:pPr>
            <a:r>
              <a:rPr lang="en-US" sz="1100" b="1" dirty="0">
                <a:solidFill>
                  <a:srgbClr val="C93A2A"/>
                </a:solidFill>
              </a:rPr>
              <a:t>Tấn công không được sửa bộ chấm</a:t>
            </a:r>
            <a:endParaRPr lang="en-US" sz="1100" dirty="0"/>
          </a:p>
        </p:txBody>
      </p:sp>
      <p:grpSp>
        <p:nvGrpSpPr>
          <p:cNvPr id="212" name="Số 11"/>
          <p:cNvGrpSpPr/>
          <p:nvPr/>
        </p:nvGrpSpPr>
        <p:grpSpPr>
          <a:xfrm>
            <a:off x="1303020" y="3310128"/>
            <a:ext cx="1600200" cy="566928"/>
            <a:chOff x="1303020" y="3310128"/>
            <a:chExt cx="1600200" cy="566928"/>
          </a:xfrm>
        </p:grpSpPr>
        <p:sp>
          <p:nvSpPr>
            <p:cNvPr id="55" name="ghe-11"/>
            <p:cNvSpPr/>
            <p:nvPr/>
          </p:nvSpPr>
          <p:spPr>
            <a:xfrm>
              <a:off x="1303020" y="3310128"/>
              <a:ext cx="1600200" cy="566928"/>
            </a:xfrm>
            <a:prstGeom prst="roundRect">
              <a:avLst>
                <a:gd name="adj" fmla="val 12821"/>
              </a:avLst>
            </a:prstGeom>
            <a:solidFill>
              <a:srgbClr val="FFFFFF"/>
            </a:solidFill>
            <a:ln w="15875">
              <a:solidFill>
                <a:srgbClr val="2B59D9"/>
              </a:solidFill>
              <a:prstDash val="dash"/>
            </a:ln>
          </p:spPr>
          <p:txBody>
            <a:bodyPr/>
            <a:lstStyle/>
            <a:p>
              <a:endParaRPr lang="en-US"/>
            </a:p>
          </p:txBody>
        </p:sp>
        <p:sp>
          <p:nvSpPr>
            <p:cNvPr id="56" name="Shape 54"/>
            <p:cNvSpPr/>
            <p:nvPr/>
          </p:nvSpPr>
          <p:spPr>
            <a:xfrm>
              <a:off x="1376172" y="3374136"/>
              <a:ext cx="256032" cy="256032"/>
            </a:xfrm>
            <a:prstGeom prst="ellipse">
              <a:avLst/>
            </a:prstGeom>
            <a:solidFill>
              <a:srgbClr val="FFFFFF"/>
            </a:solidFill>
            <a:ln w="15875">
              <a:solidFill>
                <a:srgbClr val="2B59D9"/>
              </a:solidFill>
              <a:prstDash val="solid"/>
            </a:ln>
          </p:spPr>
          <p:txBody>
            <a:bodyPr/>
            <a:lstStyle/>
            <a:p>
              <a:endParaRPr lang="en-US"/>
            </a:p>
          </p:txBody>
        </p:sp>
        <p:sp>
          <p:nvSpPr>
            <p:cNvPr id="57" name="Text 55"/>
            <p:cNvSpPr txBox="1"/>
            <p:nvPr/>
          </p:nvSpPr>
          <p:spPr>
            <a:xfrm>
              <a:off x="1376172" y="3374136"/>
              <a:ext cx="256032" cy="256032"/>
            </a:xfrm>
            <a:prstGeom prst="rect">
              <a:avLst/>
            </a:prstGeom>
            <a:noFill/>
            <a:ln/>
          </p:spPr>
          <p:txBody>
            <a:bodyPr wrap="square" lIns="0" tIns="0" rIns="0" bIns="0" rtlCol="0" anchor="ctr"/>
            <a:lstStyle/>
            <a:p>
              <a:pPr marL="0" indent="0" algn="ctr">
                <a:buNone/>
              </a:pPr>
              <a:r>
                <a:rPr lang="en-US" sz="1050" b="1" dirty="0">
                  <a:solidFill>
                    <a:srgbClr val="2B59D9"/>
                  </a:solidFill>
                </a:rPr>
                <a:t>11</a:t>
              </a:r>
              <a:endParaRPr lang="en-US" sz="1050" dirty="0"/>
            </a:p>
          </p:txBody>
        </p:sp>
        <p:sp>
          <p:nvSpPr>
            <p:cNvPr id="58" name="Text 56"/>
            <p:cNvSpPr txBox="1"/>
            <p:nvPr/>
          </p:nvSpPr>
          <p:spPr>
            <a:xfrm>
              <a:off x="1687068" y="3346704"/>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Ngành kề</a:t>
              </a:r>
              <a:endParaRPr lang="en-US" sz="1200" dirty="0"/>
            </a:p>
          </p:txBody>
        </p:sp>
        <p:sp>
          <p:nvSpPr>
            <p:cNvPr id="59" name="Text 57"/>
            <p:cNvSpPr txBox="1"/>
            <p:nvPr/>
          </p:nvSpPr>
          <p:spPr>
            <a:xfrm>
              <a:off x="1357884" y="3639312"/>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ý gần → thử ở Số 14</a:t>
              </a:r>
              <a:endParaRPr lang="en-US" sz="1000" dirty="0"/>
            </a:p>
          </p:txBody>
        </p:sp>
      </p:grpSp>
      <p:grpSp>
        <p:nvGrpSpPr>
          <p:cNvPr id="210" name="Số 9"/>
          <p:cNvGrpSpPr/>
          <p:nvPr/>
        </p:nvGrpSpPr>
        <p:grpSpPr>
          <a:xfrm>
            <a:off x="4686300" y="1325880"/>
            <a:ext cx="1600200" cy="566928"/>
            <a:chOff x="4686300" y="1325880"/>
            <a:chExt cx="1600200" cy="566928"/>
          </a:xfrm>
        </p:grpSpPr>
        <p:sp>
          <p:nvSpPr>
            <p:cNvPr id="60" name="ghe-9"/>
            <p:cNvSpPr/>
            <p:nvPr/>
          </p:nvSpPr>
          <p:spPr>
            <a:xfrm>
              <a:off x="4686300" y="1325880"/>
              <a:ext cx="1600200" cy="566928"/>
            </a:xfrm>
            <a:prstGeom prst="roundRect">
              <a:avLst>
                <a:gd name="adj" fmla="val 12821"/>
              </a:avLst>
            </a:prstGeom>
            <a:solidFill>
              <a:srgbClr val="E6EDFC"/>
            </a:solidFill>
            <a:ln w="41275">
              <a:solidFill>
                <a:srgbClr val="2B59D9"/>
              </a:solidFill>
              <a:prstDash val="solid"/>
            </a:ln>
          </p:spPr>
          <p:txBody>
            <a:bodyPr/>
            <a:lstStyle/>
            <a:p>
              <a:endParaRPr lang="en-US"/>
            </a:p>
          </p:txBody>
        </p:sp>
        <p:sp>
          <p:nvSpPr>
            <p:cNvPr id="61" name="Shape 59"/>
            <p:cNvSpPr/>
            <p:nvPr/>
          </p:nvSpPr>
          <p:spPr>
            <a:xfrm>
              <a:off x="4759452" y="1389888"/>
              <a:ext cx="256032" cy="256032"/>
            </a:xfrm>
            <a:prstGeom prst="ellipse">
              <a:avLst/>
            </a:prstGeom>
            <a:solidFill>
              <a:srgbClr val="2B59D9"/>
            </a:solidFill>
            <a:ln w="15875">
              <a:solidFill>
                <a:srgbClr val="2B59D9"/>
              </a:solidFill>
              <a:prstDash val="solid"/>
            </a:ln>
          </p:spPr>
          <p:txBody>
            <a:bodyPr/>
            <a:lstStyle/>
            <a:p>
              <a:endParaRPr lang="en-US"/>
            </a:p>
          </p:txBody>
        </p:sp>
        <p:sp>
          <p:nvSpPr>
            <p:cNvPr id="62" name="Text 60"/>
            <p:cNvSpPr txBox="1"/>
            <p:nvPr/>
          </p:nvSpPr>
          <p:spPr>
            <a:xfrm>
              <a:off x="4759452" y="1389888"/>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rPr>
                <a:t>9</a:t>
              </a:r>
              <a:endParaRPr lang="en-US" sz="1050" dirty="0"/>
            </a:p>
          </p:txBody>
        </p:sp>
        <p:sp>
          <p:nvSpPr>
            <p:cNvPr id="63" name="Text 61"/>
            <p:cNvSpPr txBox="1"/>
            <p:nvPr/>
          </p:nvSpPr>
          <p:spPr>
            <a:xfrm>
              <a:off x="5070348" y="136245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Chứng minh</a:t>
              </a:r>
              <a:endParaRPr lang="en-US" sz="1200" dirty="0"/>
            </a:p>
          </p:txBody>
        </p:sp>
        <p:sp>
          <p:nvSpPr>
            <p:cNvPr id="64" name="Text 62"/>
            <p:cNvSpPr txBox="1"/>
            <p:nvPr/>
          </p:nvSpPr>
          <p:spPr>
            <a:xfrm>
              <a:off x="4741164" y="165506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chứng minh bổ đề, nộp</a:t>
              </a:r>
              <a:endParaRPr lang="en-US" sz="1000" dirty="0"/>
            </a:p>
          </p:txBody>
        </p:sp>
      </p:grpSp>
      <p:grpSp>
        <p:nvGrpSpPr>
          <p:cNvPr id="214" name="Số 7"/>
          <p:cNvGrpSpPr/>
          <p:nvPr/>
        </p:nvGrpSpPr>
        <p:grpSpPr>
          <a:xfrm>
            <a:off x="8069580" y="3310128"/>
            <a:ext cx="1600200" cy="566928"/>
            <a:chOff x="8069580" y="3310128"/>
            <a:chExt cx="1600200" cy="566928"/>
          </a:xfrm>
        </p:grpSpPr>
        <p:sp>
          <p:nvSpPr>
            <p:cNvPr id="65" name="ghe-7"/>
            <p:cNvSpPr/>
            <p:nvPr/>
          </p:nvSpPr>
          <p:spPr>
            <a:xfrm>
              <a:off x="8069580" y="3310128"/>
              <a:ext cx="1600200" cy="566928"/>
            </a:xfrm>
            <a:prstGeom prst="roundRect">
              <a:avLst>
                <a:gd name="adj" fmla="val 12821"/>
              </a:avLst>
            </a:prstGeom>
            <a:solidFill>
              <a:srgbClr val="FFFFFF"/>
            </a:solidFill>
            <a:ln w="15875">
              <a:solidFill>
                <a:srgbClr val="2B59D9"/>
              </a:solidFill>
              <a:prstDash val="dash"/>
            </a:ln>
          </p:spPr>
          <p:txBody>
            <a:bodyPr/>
            <a:lstStyle/>
            <a:p>
              <a:endParaRPr lang="en-US"/>
            </a:p>
          </p:txBody>
        </p:sp>
        <p:sp>
          <p:nvSpPr>
            <p:cNvPr id="66" name="Shape 64"/>
            <p:cNvSpPr/>
            <p:nvPr/>
          </p:nvSpPr>
          <p:spPr>
            <a:xfrm>
              <a:off x="8142732" y="3374136"/>
              <a:ext cx="256032" cy="256032"/>
            </a:xfrm>
            <a:prstGeom prst="ellipse">
              <a:avLst/>
            </a:prstGeom>
            <a:solidFill>
              <a:srgbClr val="FFFFFF"/>
            </a:solidFill>
            <a:ln w="15875">
              <a:solidFill>
                <a:srgbClr val="2B59D9"/>
              </a:solidFill>
              <a:prstDash val="solid"/>
            </a:ln>
          </p:spPr>
          <p:txBody>
            <a:bodyPr/>
            <a:lstStyle/>
            <a:p>
              <a:endParaRPr lang="en-US"/>
            </a:p>
          </p:txBody>
        </p:sp>
        <p:sp>
          <p:nvSpPr>
            <p:cNvPr id="67" name="Text 65"/>
            <p:cNvSpPr txBox="1"/>
            <p:nvPr/>
          </p:nvSpPr>
          <p:spPr>
            <a:xfrm>
              <a:off x="8142732" y="3374136"/>
              <a:ext cx="256032" cy="256032"/>
            </a:xfrm>
            <a:prstGeom prst="rect">
              <a:avLst/>
            </a:prstGeom>
            <a:noFill/>
            <a:ln/>
          </p:spPr>
          <p:txBody>
            <a:bodyPr wrap="square" lIns="0" tIns="0" rIns="0" bIns="0" rtlCol="0" anchor="ctr"/>
            <a:lstStyle/>
            <a:p>
              <a:pPr marL="0" indent="0" algn="ctr">
                <a:buNone/>
              </a:pPr>
              <a:r>
                <a:rPr lang="en-US" sz="1050" b="1" dirty="0">
                  <a:solidFill>
                    <a:srgbClr val="2B59D9"/>
                  </a:solidFill>
                </a:rPr>
                <a:t>7</a:t>
              </a:r>
              <a:endParaRPr lang="en-US" sz="1050" dirty="0"/>
            </a:p>
          </p:txBody>
        </p:sp>
        <p:sp>
          <p:nvSpPr>
            <p:cNvPr id="68" name="Text 66"/>
            <p:cNvSpPr txBox="1"/>
            <p:nvPr/>
          </p:nvSpPr>
          <p:spPr>
            <a:xfrm>
              <a:off x="8453628" y="3346704"/>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Ngành xa</a:t>
              </a:r>
              <a:endParaRPr lang="en-US" sz="1200" dirty="0"/>
            </a:p>
          </p:txBody>
        </p:sp>
        <p:sp>
          <p:nvSpPr>
            <p:cNvPr id="69" name="Text 67"/>
            <p:cNvSpPr txBox="1"/>
            <p:nvPr/>
          </p:nvSpPr>
          <p:spPr>
            <a:xfrm>
              <a:off x="8124444" y="3639312"/>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ý xa → thử ở Số 14</a:t>
              </a:r>
              <a:endParaRPr lang="en-US" sz="1000" dirty="0"/>
            </a:p>
          </p:txBody>
        </p:sp>
      </p:grpSp>
      <p:grpSp>
        <p:nvGrpSpPr>
          <p:cNvPr id="213" name="Số 10"/>
          <p:cNvGrpSpPr/>
          <p:nvPr/>
        </p:nvGrpSpPr>
        <p:grpSpPr>
          <a:xfrm>
            <a:off x="4686300" y="3310128"/>
            <a:ext cx="1600200" cy="566928"/>
            <a:chOff x="4686300" y="3310128"/>
            <a:chExt cx="1600200" cy="566928"/>
          </a:xfrm>
        </p:grpSpPr>
        <p:sp>
          <p:nvSpPr>
            <p:cNvPr id="70" name="ghe-10"/>
            <p:cNvSpPr/>
            <p:nvPr/>
          </p:nvSpPr>
          <p:spPr>
            <a:xfrm>
              <a:off x="4686300" y="3310128"/>
              <a:ext cx="1600200" cy="566928"/>
            </a:xfrm>
            <a:prstGeom prst="roundRect">
              <a:avLst>
                <a:gd name="adj" fmla="val 12821"/>
              </a:avLst>
            </a:prstGeom>
            <a:solidFill>
              <a:srgbClr val="FFFFFF"/>
            </a:solidFill>
            <a:ln w="25400">
              <a:solidFill>
                <a:srgbClr val="2B59D9"/>
              </a:solidFill>
              <a:prstDash val="solid"/>
            </a:ln>
          </p:spPr>
          <p:txBody>
            <a:bodyPr/>
            <a:lstStyle/>
            <a:p>
              <a:endParaRPr lang="en-US"/>
            </a:p>
          </p:txBody>
        </p:sp>
        <p:sp>
          <p:nvSpPr>
            <p:cNvPr id="71" name="Shape 69"/>
            <p:cNvSpPr/>
            <p:nvPr/>
          </p:nvSpPr>
          <p:spPr>
            <a:xfrm>
              <a:off x="4759452" y="3374136"/>
              <a:ext cx="256032" cy="256032"/>
            </a:xfrm>
            <a:prstGeom prst="ellipse">
              <a:avLst/>
            </a:prstGeom>
            <a:solidFill>
              <a:srgbClr val="2B59D9"/>
            </a:solidFill>
            <a:ln w="15875">
              <a:solidFill>
                <a:srgbClr val="2B59D9"/>
              </a:solidFill>
              <a:prstDash val="solid"/>
            </a:ln>
          </p:spPr>
          <p:txBody>
            <a:bodyPr/>
            <a:lstStyle/>
            <a:p>
              <a:endParaRPr lang="en-US"/>
            </a:p>
          </p:txBody>
        </p:sp>
        <p:sp>
          <p:nvSpPr>
            <p:cNvPr id="72" name="Text 70"/>
            <p:cNvSpPr txBox="1"/>
            <p:nvPr/>
          </p:nvSpPr>
          <p:spPr>
            <a:xfrm>
              <a:off x="4759452" y="3374136"/>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rPr>
                <a:t>10</a:t>
              </a:r>
              <a:endParaRPr lang="en-US" sz="1050" dirty="0"/>
            </a:p>
          </p:txBody>
        </p:sp>
        <p:sp>
          <p:nvSpPr>
            <p:cNvPr id="73" name="Text 71"/>
            <p:cNvSpPr txBox="1"/>
            <p:nvPr/>
          </p:nvSpPr>
          <p:spPr>
            <a:xfrm>
              <a:off x="5070348" y="3346704"/>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Trong ngành</a:t>
              </a:r>
              <a:endParaRPr lang="en-US" sz="1200" dirty="0"/>
            </a:p>
          </p:txBody>
        </p:sp>
        <p:sp>
          <p:nvSpPr>
            <p:cNvPr id="74" name="Text 72"/>
            <p:cNvSpPr txBox="1"/>
            <p:nvPr/>
          </p:nvSpPr>
          <p:spPr>
            <a:xfrm>
              <a:off x="4741164" y="3639312"/>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đặt phỏng đoán → Số 8</a:t>
              </a:r>
              <a:endParaRPr lang="en-US" sz="1000" dirty="0"/>
            </a:p>
          </p:txBody>
        </p:sp>
      </p:grpSp>
      <p:grpSp>
        <p:nvGrpSpPr>
          <p:cNvPr id="215" name="Số 8"/>
          <p:cNvGrpSpPr/>
          <p:nvPr/>
        </p:nvGrpSpPr>
        <p:grpSpPr>
          <a:xfrm>
            <a:off x="4686300" y="2395728"/>
            <a:ext cx="1600200" cy="566928"/>
            <a:chOff x="4686300" y="2395728"/>
            <a:chExt cx="1600200" cy="566928"/>
          </a:xfrm>
        </p:grpSpPr>
        <p:sp>
          <p:nvSpPr>
            <p:cNvPr id="75" name="ghe-8"/>
            <p:cNvSpPr/>
            <p:nvPr/>
          </p:nvSpPr>
          <p:spPr>
            <a:xfrm>
              <a:off x="4686300" y="2395728"/>
              <a:ext cx="1600200" cy="566928"/>
            </a:xfrm>
            <a:prstGeom prst="roundRect">
              <a:avLst>
                <a:gd name="adj" fmla="val 12821"/>
              </a:avLst>
            </a:prstGeom>
            <a:solidFill>
              <a:srgbClr val="FFFFFF"/>
            </a:solidFill>
            <a:ln w="15875">
              <a:solidFill>
                <a:srgbClr val="2B59D9"/>
              </a:solidFill>
              <a:prstDash val="solid"/>
            </a:ln>
          </p:spPr>
          <p:txBody>
            <a:bodyPr/>
            <a:lstStyle/>
            <a:p>
              <a:endParaRPr lang="en-US"/>
            </a:p>
          </p:txBody>
        </p:sp>
        <p:sp>
          <p:nvSpPr>
            <p:cNvPr id="76" name="Shape 74"/>
            <p:cNvSpPr/>
            <p:nvPr/>
          </p:nvSpPr>
          <p:spPr>
            <a:xfrm>
              <a:off x="4759452" y="2459736"/>
              <a:ext cx="256032" cy="256032"/>
            </a:xfrm>
            <a:prstGeom prst="ellipse">
              <a:avLst/>
            </a:prstGeom>
            <a:solidFill>
              <a:srgbClr val="FFFFFF"/>
            </a:solidFill>
            <a:ln w="15875">
              <a:solidFill>
                <a:srgbClr val="2B59D9"/>
              </a:solidFill>
              <a:prstDash val="solid"/>
            </a:ln>
          </p:spPr>
          <p:txBody>
            <a:bodyPr/>
            <a:lstStyle/>
            <a:p>
              <a:endParaRPr lang="en-US"/>
            </a:p>
          </p:txBody>
        </p:sp>
        <p:sp>
          <p:nvSpPr>
            <p:cNvPr id="77" name="Text 75"/>
            <p:cNvSpPr txBox="1"/>
            <p:nvPr/>
          </p:nvSpPr>
          <p:spPr>
            <a:xfrm>
              <a:off x="4759452" y="2459736"/>
              <a:ext cx="256032" cy="256032"/>
            </a:xfrm>
            <a:prstGeom prst="rect">
              <a:avLst/>
            </a:prstGeom>
            <a:noFill/>
            <a:ln/>
          </p:spPr>
          <p:txBody>
            <a:bodyPr wrap="square" lIns="0" tIns="0" rIns="0" bIns="0" rtlCol="0" anchor="ctr"/>
            <a:lstStyle/>
            <a:p>
              <a:pPr marL="0" indent="0" algn="ctr">
                <a:buNone/>
              </a:pPr>
              <a:r>
                <a:rPr lang="en-US" sz="1050" b="1" dirty="0">
                  <a:solidFill>
                    <a:srgbClr val="2B59D9"/>
                  </a:solidFill>
                </a:rPr>
                <a:t>8</a:t>
              </a:r>
              <a:endParaRPr lang="en-US" sz="1050" dirty="0"/>
            </a:p>
          </p:txBody>
        </p:sp>
        <p:sp>
          <p:nvSpPr>
            <p:cNvPr id="78" name="Text 76"/>
            <p:cNvSpPr txBox="1"/>
            <p:nvPr/>
          </p:nvSpPr>
          <p:spPr>
            <a:xfrm>
              <a:off x="5070348" y="2432304"/>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Blueprint</a:t>
              </a:r>
              <a:endParaRPr lang="en-US" sz="1200" dirty="0"/>
            </a:p>
          </p:txBody>
        </p:sp>
        <p:sp>
          <p:nvSpPr>
            <p:cNvPr id="79" name="Text 77"/>
            <p:cNvSpPr txBox="1"/>
            <p:nvPr/>
          </p:nvSpPr>
          <p:spPr>
            <a:xfrm>
              <a:off x="4741164" y="2724912"/>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đồ thị bổ đề, giao bổ đề</a:t>
              </a:r>
              <a:endParaRPr lang="en-US" sz="1000" dirty="0"/>
            </a:p>
          </p:txBody>
        </p:sp>
      </p:grpSp>
      <p:grpSp>
        <p:nvGrpSpPr>
          <p:cNvPr id="209" name="Số 14"/>
          <p:cNvGrpSpPr/>
          <p:nvPr/>
        </p:nvGrpSpPr>
        <p:grpSpPr>
          <a:xfrm>
            <a:off x="1303020" y="1325880"/>
            <a:ext cx="1600200" cy="566928"/>
            <a:chOff x="1303020" y="1325880"/>
            <a:chExt cx="1600200" cy="566928"/>
          </a:xfrm>
        </p:grpSpPr>
        <p:sp>
          <p:nvSpPr>
            <p:cNvPr id="80" name="ghe-14"/>
            <p:cNvSpPr/>
            <p:nvPr/>
          </p:nvSpPr>
          <p:spPr>
            <a:xfrm>
              <a:off x="1303020" y="1325880"/>
              <a:ext cx="1600200" cy="566928"/>
            </a:xfrm>
            <a:prstGeom prst="roundRect">
              <a:avLst>
                <a:gd name="adj" fmla="val 12821"/>
              </a:avLst>
            </a:prstGeom>
            <a:solidFill>
              <a:srgbClr val="E6EDFC"/>
            </a:solidFill>
            <a:ln w="41275">
              <a:solidFill>
                <a:srgbClr val="2B59D9"/>
              </a:solidFill>
              <a:prstDash val="solid"/>
            </a:ln>
          </p:spPr>
          <p:txBody>
            <a:bodyPr/>
            <a:lstStyle/>
            <a:p>
              <a:endParaRPr lang="en-US"/>
            </a:p>
          </p:txBody>
        </p:sp>
        <p:sp>
          <p:nvSpPr>
            <p:cNvPr id="81" name="Shape 79"/>
            <p:cNvSpPr/>
            <p:nvPr/>
          </p:nvSpPr>
          <p:spPr>
            <a:xfrm>
              <a:off x="1376172" y="1389888"/>
              <a:ext cx="256032" cy="256032"/>
            </a:xfrm>
            <a:prstGeom prst="ellipse">
              <a:avLst/>
            </a:prstGeom>
            <a:solidFill>
              <a:srgbClr val="FFFFFF"/>
            </a:solidFill>
            <a:ln w="15875">
              <a:solidFill>
                <a:srgbClr val="2B59D9"/>
              </a:solidFill>
              <a:prstDash val="solid"/>
            </a:ln>
          </p:spPr>
          <p:txBody>
            <a:bodyPr/>
            <a:lstStyle/>
            <a:p>
              <a:endParaRPr lang="en-US"/>
            </a:p>
          </p:txBody>
        </p:sp>
        <p:sp>
          <p:nvSpPr>
            <p:cNvPr id="82" name="Text 80"/>
            <p:cNvSpPr txBox="1"/>
            <p:nvPr/>
          </p:nvSpPr>
          <p:spPr>
            <a:xfrm>
              <a:off x="1376172" y="1389888"/>
              <a:ext cx="256032" cy="256032"/>
            </a:xfrm>
            <a:prstGeom prst="rect">
              <a:avLst/>
            </a:prstGeom>
            <a:noFill/>
            <a:ln/>
          </p:spPr>
          <p:txBody>
            <a:bodyPr wrap="square" lIns="0" tIns="0" rIns="0" bIns="0" rtlCol="0" anchor="ctr"/>
            <a:lstStyle/>
            <a:p>
              <a:pPr marL="0" indent="0" algn="ctr">
                <a:buNone/>
              </a:pPr>
              <a:r>
                <a:rPr lang="en-US" sz="1050" b="1" dirty="0">
                  <a:solidFill>
                    <a:srgbClr val="2B59D9"/>
                  </a:solidFill>
                </a:rPr>
                <a:t>14</a:t>
              </a:r>
              <a:endParaRPr lang="en-US" sz="1050" dirty="0"/>
            </a:p>
          </p:txBody>
        </p:sp>
        <p:sp>
          <p:nvSpPr>
            <p:cNvPr id="83" name="Text 81"/>
            <p:cNvSpPr txBox="1"/>
            <p:nvPr/>
          </p:nvSpPr>
          <p:spPr>
            <a:xfrm>
              <a:off x="1687068" y="136245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Ví dụ</a:t>
              </a:r>
              <a:endParaRPr lang="en-US" sz="1200" dirty="0"/>
            </a:p>
          </p:txBody>
        </p:sp>
        <p:sp>
          <p:nvSpPr>
            <p:cNvPr id="84" name="Text 82"/>
            <p:cNvSpPr txBox="1"/>
            <p:nvPr/>
          </p:nvSpPr>
          <p:spPr>
            <a:xfrm>
              <a:off x="1357884" y="165506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ví dụ mẫu A→Z, dữ liệu</a:t>
              </a:r>
              <a:endParaRPr lang="en-US" sz="1000" dirty="0"/>
            </a:p>
          </p:txBody>
        </p:sp>
      </p:grpSp>
      <p:grpSp>
        <p:nvGrpSpPr>
          <p:cNvPr id="216" name="Số 6"/>
          <p:cNvGrpSpPr/>
          <p:nvPr/>
        </p:nvGrpSpPr>
        <p:grpSpPr>
          <a:xfrm>
            <a:off x="4686300" y="4224528"/>
            <a:ext cx="1600200" cy="566928"/>
            <a:chOff x="4686300" y="4224528"/>
            <a:chExt cx="1600200" cy="566928"/>
          </a:xfrm>
        </p:grpSpPr>
        <p:sp>
          <p:nvSpPr>
            <p:cNvPr id="85" name="ghe-6"/>
            <p:cNvSpPr/>
            <p:nvPr/>
          </p:nvSpPr>
          <p:spPr>
            <a:xfrm>
              <a:off x="4686300" y="4224528"/>
              <a:ext cx="1600200" cy="566928"/>
            </a:xfrm>
            <a:prstGeom prst="roundRect">
              <a:avLst>
                <a:gd name="adj" fmla="val 12821"/>
              </a:avLst>
            </a:prstGeom>
            <a:solidFill>
              <a:srgbClr val="FFFFFF"/>
            </a:solidFill>
            <a:ln w="25400">
              <a:solidFill>
                <a:srgbClr val="1C2333"/>
              </a:solidFill>
              <a:prstDash val="solid"/>
            </a:ln>
          </p:spPr>
          <p:txBody>
            <a:bodyPr/>
            <a:lstStyle/>
            <a:p>
              <a:endParaRPr lang="en-US"/>
            </a:p>
          </p:txBody>
        </p:sp>
        <p:sp>
          <p:nvSpPr>
            <p:cNvPr id="86" name="Shape 84"/>
            <p:cNvSpPr/>
            <p:nvPr/>
          </p:nvSpPr>
          <p:spPr>
            <a:xfrm>
              <a:off x="4759452" y="4288536"/>
              <a:ext cx="256032" cy="256032"/>
            </a:xfrm>
            <a:prstGeom prst="ellipse">
              <a:avLst/>
            </a:prstGeom>
            <a:solidFill>
              <a:srgbClr val="1C2333"/>
            </a:solidFill>
            <a:ln w="15875">
              <a:solidFill>
                <a:srgbClr val="1C2333"/>
              </a:solidFill>
              <a:prstDash val="solid"/>
            </a:ln>
          </p:spPr>
          <p:txBody>
            <a:bodyPr/>
            <a:lstStyle/>
            <a:p>
              <a:endParaRPr lang="en-US"/>
            </a:p>
          </p:txBody>
        </p:sp>
        <p:sp>
          <p:nvSpPr>
            <p:cNvPr id="87" name="Text 85"/>
            <p:cNvSpPr txBox="1"/>
            <p:nvPr/>
          </p:nvSpPr>
          <p:spPr>
            <a:xfrm>
              <a:off x="4759452" y="4288536"/>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88" name="Text 86"/>
            <p:cNvSpPr txBox="1"/>
            <p:nvPr/>
          </p:nvSpPr>
          <p:spPr>
            <a:xfrm>
              <a:off x="5070348" y="4261104"/>
              <a:ext cx="1179576" cy="274320"/>
            </a:xfrm>
            <a:prstGeom prst="rect">
              <a:avLst/>
            </a:prstGeom>
            <a:noFill/>
            <a:ln/>
          </p:spPr>
          <p:txBody>
            <a:bodyPr wrap="square" lIns="0" tIns="0" rIns="0" bIns="0" rtlCol="0" anchor="ctr"/>
            <a:lstStyle/>
            <a:p>
              <a:r>
                <a:rPr lang="en-US" sz="1200" b="1" dirty="0" err="1">
                  <a:solidFill>
                    <a:srgbClr val="1C2333"/>
                  </a:solidFill>
                </a:rPr>
                <a:t>Điều phối</a:t>
              </a:r>
              <a:r>
                <a:rPr lang="en-US" sz="1200" b="1" dirty="0">
                  <a:solidFill>
                    <a:srgbClr val="1C2333"/>
                  </a:solidFill>
                </a:rPr>
                <a:t/>
              </a:r>
              <a:r>
                <a:rPr lang="en-US" sz="1200" b="1" dirty="0" err="1">
                  <a:solidFill>
                    <a:srgbClr val="1C2333"/>
                  </a:solidFill>
                </a:rPr>
                <a:t/>
              </a:r>
              <a:r>
                <a:rPr lang="en-US" sz="1200" b="1" dirty="0">
                  <a:solidFill>
                    <a:srgbClr val="1C2333"/>
                  </a:solidFill>
                </a:rPr>
                <a:t/>
              </a:r>
              <a:r>
                <a:rPr lang="en-US" sz="1200" b="1" dirty="0" err="1">
                  <a:solidFill>
                    <a:srgbClr val="1C2333"/>
                  </a:solidFill>
                </a:rPr>
                <a:t/>
              </a:r>
              <a:r>
                <a:rPr lang="en-US" sz="1200" b="1" dirty="0">
                  <a:solidFill>
                    <a:srgbClr val="1C2333"/>
                  </a:solidFill>
                </a:rPr>
                <a:t/>
              </a:r>
              <a:r>
                <a:rPr lang="en-US" sz="1200" b="1" dirty="0" err="1">
                  <a:solidFill>
                    <a:srgbClr val="1C2333"/>
                  </a:solidFill>
                </a:rPr>
                <a:t/>
              </a:r>
              <a:endParaRPr lang="en-US" sz="1200" dirty="0"/>
            </a:p>
          </p:txBody>
        </p:sp>
        <p:sp>
          <p:nvSpPr>
            <p:cNvPr id="89" name="Text 87"/>
            <p:cNvSpPr txBox="1"/>
            <p:nvPr/>
          </p:nvSpPr>
          <p:spPr>
            <a:xfrm>
              <a:off x="4741164" y="4553712"/>
              <a:ext cx="1490472" cy="201168"/>
            </a:xfrm>
            <a:prstGeom prst="rect">
              <a:avLst/>
            </a:prstGeom>
            <a:noFill/>
            <a:ln/>
          </p:spPr>
          <p:txBody>
            <a:bodyPr wrap="square" lIns="0" tIns="0" rIns="0" bIns="0" rtlCol="0" anchor="ctr"/>
            <a:lstStyle/>
            <a:p>
              <a:pPr algn="ctr"/>
              <a:r>
                <a:rPr lang="en-US" sz="1000" dirty="0" err="1"/>
                <a:t>giao việc, giữ bảng</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p>
          </p:txBody>
        </p:sp>
      </p:grpSp>
      <p:sp>
        <p:nvSpPr>
          <p:cNvPr id="90" name="ghe-"/>
          <p:cNvSpPr/>
          <p:nvPr/>
        </p:nvSpPr>
        <p:spPr>
          <a:xfrm>
            <a:off x="10491214" y="4809744"/>
            <a:ext cx="1335025" cy="1023387"/>
          </a:xfrm>
          <a:prstGeom prst="roundRect">
            <a:avLst>
              <a:gd name="adj" fmla="val 12821"/>
            </a:avLst>
          </a:prstGeom>
          <a:solidFill>
            <a:srgbClr val="FFFFFF"/>
          </a:solidFill>
          <a:ln w="15875">
            <a:solidFill>
              <a:srgbClr val="5F6878"/>
            </a:solidFill>
            <a:prstDash val="dash"/>
          </a:ln>
        </p:spPr>
        <p:txBody>
          <a:bodyPr/>
          <a:lstStyle/>
          <a:p>
            <a:endParaRPr lang="en-US"/>
          </a:p>
        </p:txBody>
      </p:sp>
      <p:sp>
        <p:nvSpPr>
          <p:cNvPr id="91" name="Text 89"/>
          <p:cNvSpPr txBox="1"/>
          <p:nvPr/>
        </p:nvSpPr>
        <p:spPr>
          <a:xfrm>
            <a:off x="10104120" y="4800234"/>
            <a:ext cx="1965960" cy="384048"/>
          </a:xfrm>
          <a:prstGeom prst="rect">
            <a:avLst/>
          </a:prstGeom>
          <a:noFill/>
          <a:ln/>
        </p:spPr>
        <p:txBody>
          <a:bodyPr wrap="square" lIns="0" tIns="0" rIns="0" bIns="0" rtlCol="0" anchor="ctr"/>
          <a:lstStyle/>
          <a:p>
            <a:pPr marL="0" indent="0" algn="ctr">
              <a:buNone/>
            </a:pPr>
            <a:r>
              <a:rPr lang="en-US" sz="1500" b="1" dirty="0">
                <a:solidFill>
                  <a:srgbClr val="1C2333"/>
                </a:solidFill>
              </a:rPr>
              <a:t>Dự bị</a:t>
            </a:r>
            <a:endParaRPr lang="en-US" sz="1500" dirty="0"/>
          </a:p>
        </p:txBody>
      </p:sp>
      <p:sp>
        <p:nvSpPr>
          <p:cNvPr id="92" name="Text 90"/>
          <p:cNvSpPr txBox="1"/>
          <p:nvPr/>
        </p:nvSpPr>
        <p:spPr>
          <a:xfrm>
            <a:off x="10619598" y="5253210"/>
            <a:ext cx="899189" cy="237744"/>
          </a:xfrm>
          <a:prstGeom prst="rect">
            <a:avLst/>
          </a:prstGeom>
          <a:noFill/>
          <a:ln/>
        </p:spPr>
        <p:txBody>
          <a:bodyPr wrap="square" lIns="0" tIns="0" rIns="0" bIns="0" rtlCol="0" anchor="ctr"/>
          <a:lstStyle/>
          <a:p>
            <a:pPr marL="0" indent="0" algn="ctr">
              <a:buNone/>
            </a:pPr>
            <a:r>
              <a:rPr lang="en-US" sz="1100" dirty="0">
                <a:solidFill>
                  <a:srgbClr val="394152"/>
                </a:solidFill>
              </a:rPr>
              <a:t>thay khi ngữ cảnh ≥ 50%</a:t>
            </a:r>
          </a:p>
          <a:p>
            <a:pPr marL="0" indent="0" algn="ctr">
              <a:buNone/>
            </a:pPr>
            <a:r>
              <a:rPr lang="en-US" sz="1100" dirty="0">
                <a:solidFill>
                  <a:srgbClr val="394152"/>
                </a:solidFill>
              </a:rPr>
              <a:t>Quân </a:t>
            </a:r>
            <a:r>
              <a:rPr lang="en-US" sz="1100" dirty="0" err="1">
                <a:solidFill>
                  <a:srgbClr val="394152"/>
                </a:solidFill>
              </a:rPr>
              <a:t>mệt</a:t>
            </a:r>
            <a:endParaRPr lang="en-US" sz="1100" dirty="0"/>
          </a:p>
        </p:txBody>
      </p:sp>
      <p:grpSp>
        <p:nvGrpSpPr>
          <p:cNvPr id="217" name="Số 3"/>
          <p:cNvGrpSpPr/>
          <p:nvPr/>
        </p:nvGrpSpPr>
        <p:grpSpPr>
          <a:xfrm>
            <a:off x="1303020" y="5029200"/>
            <a:ext cx="1600200" cy="566928"/>
            <a:chOff x="1303020" y="5029200"/>
            <a:chExt cx="1600200" cy="566928"/>
          </a:xfrm>
        </p:grpSpPr>
        <p:sp>
          <p:nvSpPr>
            <p:cNvPr id="93" name="ghe-3"/>
            <p:cNvSpPr/>
            <p:nvPr/>
          </p:nvSpPr>
          <p:spPr>
            <a:xfrm>
              <a:off x="1303020" y="5029200"/>
              <a:ext cx="1600200" cy="566928"/>
            </a:xfrm>
            <a:prstGeom prst="roundRect">
              <a:avLst>
                <a:gd name="adj" fmla="val 12821"/>
              </a:avLst>
            </a:prstGeom>
            <a:solidFill>
              <a:srgbClr val="FFFFFF"/>
            </a:solidFill>
            <a:ln w="15875">
              <a:solidFill>
                <a:srgbClr val="C93A2A"/>
              </a:solidFill>
              <a:prstDash val="solid"/>
            </a:ln>
          </p:spPr>
          <p:txBody>
            <a:bodyPr/>
            <a:lstStyle/>
            <a:p>
              <a:endParaRPr lang="en-US"/>
            </a:p>
          </p:txBody>
        </p:sp>
        <p:sp>
          <p:nvSpPr>
            <p:cNvPr id="94" name="Shape 92"/>
            <p:cNvSpPr/>
            <p:nvPr/>
          </p:nvSpPr>
          <p:spPr>
            <a:xfrm>
              <a:off x="1376172" y="5093208"/>
              <a:ext cx="256032" cy="256032"/>
            </a:xfrm>
            <a:prstGeom prst="ellipse">
              <a:avLst/>
            </a:prstGeom>
            <a:solidFill>
              <a:srgbClr val="FFFFFF"/>
            </a:solidFill>
            <a:ln w="15875">
              <a:solidFill>
                <a:srgbClr val="C93A2A"/>
              </a:solidFill>
              <a:prstDash val="solid"/>
            </a:ln>
          </p:spPr>
          <p:txBody>
            <a:bodyPr/>
            <a:lstStyle/>
            <a:p>
              <a:endParaRPr lang="en-US"/>
            </a:p>
          </p:txBody>
        </p:sp>
        <p:sp>
          <p:nvSpPr>
            <p:cNvPr id="95" name="Text 93"/>
            <p:cNvSpPr txBox="1"/>
            <p:nvPr/>
          </p:nvSpPr>
          <p:spPr>
            <a:xfrm>
              <a:off x="1376172" y="5093208"/>
              <a:ext cx="256032" cy="256032"/>
            </a:xfrm>
            <a:prstGeom prst="rect">
              <a:avLst/>
            </a:prstGeom>
            <a:noFill/>
            <a:ln/>
          </p:spPr>
          <p:txBody>
            <a:bodyPr wrap="square" lIns="0" tIns="0" rIns="0" bIns="0" rtlCol="0" anchor="ctr"/>
            <a:lstStyle/>
            <a:p>
              <a:pPr marL="0" indent="0" algn="ctr">
                <a:buNone/>
              </a:pPr>
              <a:r>
                <a:rPr lang="en-US" sz="1050" b="1" dirty="0">
                  <a:solidFill>
                    <a:srgbClr val="C93A2A"/>
                  </a:solidFill>
                </a:rPr>
                <a:t>3</a:t>
              </a:r>
              <a:endParaRPr lang="en-US" sz="1050" dirty="0"/>
            </a:p>
          </p:txBody>
        </p:sp>
        <p:sp>
          <p:nvSpPr>
            <p:cNvPr id="96" name="Text 94"/>
            <p:cNvSpPr txBox="1"/>
            <p:nvPr/>
          </p:nvSpPr>
          <p:spPr>
            <a:xfrm>
              <a:off x="1687068" y="506577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Tính mới</a:t>
              </a:r>
              <a:endParaRPr lang="en-US" sz="1200" dirty="0"/>
            </a:p>
          </p:txBody>
        </p:sp>
        <p:sp>
          <p:nvSpPr>
            <p:cNvPr id="97" name="Text 95"/>
            <p:cNvSpPr txBox="1"/>
            <p:nvPr/>
          </p:nvSpPr>
          <p:spPr>
            <a:xfrm>
              <a:off x="1357884" y="535838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đã ai làm, trích dẫn</a:t>
              </a:r>
              <a:endParaRPr lang="en-US" sz="1000" dirty="0"/>
            </a:p>
          </p:txBody>
        </p:sp>
      </p:grpSp>
      <p:grpSp>
        <p:nvGrpSpPr>
          <p:cNvPr id="211" name="Số 4"/>
          <p:cNvGrpSpPr/>
          <p:nvPr/>
        </p:nvGrpSpPr>
        <p:grpSpPr>
          <a:xfrm>
            <a:off x="8069580" y="1325880"/>
            <a:ext cx="1600200" cy="566928"/>
            <a:chOff x="8069580" y="1325880"/>
            <a:chExt cx="1600200" cy="566928"/>
          </a:xfrm>
        </p:grpSpPr>
        <p:sp>
          <p:nvSpPr>
            <p:cNvPr id="98" name="ghe-4"/>
            <p:cNvSpPr/>
            <p:nvPr/>
          </p:nvSpPr>
          <p:spPr>
            <a:xfrm>
              <a:off x="8069580" y="1325880"/>
              <a:ext cx="1600200" cy="566928"/>
            </a:xfrm>
            <a:prstGeom prst="roundRect">
              <a:avLst>
                <a:gd name="adj" fmla="val 12821"/>
              </a:avLst>
            </a:prstGeom>
            <a:solidFill>
              <a:srgbClr val="FBE5E2"/>
            </a:solidFill>
            <a:ln w="41275">
              <a:solidFill>
                <a:srgbClr val="C93A2A"/>
              </a:solidFill>
              <a:prstDash val="solid"/>
            </a:ln>
          </p:spPr>
          <p:txBody>
            <a:bodyPr/>
            <a:lstStyle/>
            <a:p>
              <a:endParaRPr lang="en-US"/>
            </a:p>
          </p:txBody>
        </p:sp>
        <p:sp>
          <p:nvSpPr>
            <p:cNvPr id="99" name="Shape 97"/>
            <p:cNvSpPr/>
            <p:nvPr/>
          </p:nvSpPr>
          <p:spPr>
            <a:xfrm>
              <a:off x="8142732" y="1389888"/>
              <a:ext cx="256032" cy="256032"/>
            </a:xfrm>
            <a:prstGeom prst="ellipse">
              <a:avLst/>
            </a:prstGeom>
            <a:solidFill>
              <a:srgbClr val="C93A2A"/>
            </a:solidFill>
            <a:ln w="15875">
              <a:solidFill>
                <a:srgbClr val="C93A2A"/>
              </a:solidFill>
              <a:prstDash val="solid"/>
            </a:ln>
          </p:spPr>
          <p:txBody>
            <a:bodyPr/>
            <a:lstStyle/>
            <a:p>
              <a:endParaRPr lang="en-US"/>
            </a:p>
          </p:txBody>
        </p:sp>
        <p:sp>
          <p:nvSpPr>
            <p:cNvPr id="100" name="Text 98"/>
            <p:cNvSpPr txBox="1"/>
            <p:nvPr/>
          </p:nvSpPr>
          <p:spPr>
            <a:xfrm>
              <a:off x="8142732" y="1389888"/>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101" name="Text 99"/>
            <p:cNvSpPr txBox="1"/>
            <p:nvPr/>
          </p:nvSpPr>
          <p:spPr>
            <a:xfrm>
              <a:off x="8453628" y="136245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Phá</a:t>
              </a:r>
              <a:endParaRPr lang="en-US" sz="1200" dirty="0"/>
            </a:p>
          </p:txBody>
        </p:sp>
        <p:sp>
          <p:nvSpPr>
            <p:cNvPr id="102" name="Text 100"/>
            <p:cNvSpPr txBox="1"/>
            <p:nvPr/>
          </p:nvSpPr>
          <p:spPr>
            <a:xfrm>
              <a:off x="8124444" y="165506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phá bổ đề, chọn ca mới</a:t>
              </a:r>
              <a:endParaRPr lang="en-US" sz="1000" dirty="0"/>
            </a:p>
          </p:txBody>
        </p:sp>
      </p:grpSp>
      <p:grpSp>
        <p:nvGrpSpPr>
          <p:cNvPr id="218" name="Số 2"/>
          <p:cNvGrpSpPr/>
          <p:nvPr/>
        </p:nvGrpSpPr>
        <p:grpSpPr>
          <a:xfrm>
            <a:off x="8069580" y="5029200"/>
            <a:ext cx="1600200" cy="566928"/>
            <a:chOff x="8069580" y="5029200"/>
            <a:chExt cx="1600200" cy="566928"/>
          </a:xfrm>
        </p:grpSpPr>
        <p:sp>
          <p:nvSpPr>
            <p:cNvPr id="103" name="ghe-2"/>
            <p:cNvSpPr/>
            <p:nvPr/>
          </p:nvSpPr>
          <p:spPr>
            <a:xfrm>
              <a:off x="8069580" y="5029200"/>
              <a:ext cx="1600200" cy="566928"/>
            </a:xfrm>
            <a:prstGeom prst="roundRect">
              <a:avLst>
                <a:gd name="adj" fmla="val 12821"/>
              </a:avLst>
            </a:prstGeom>
            <a:solidFill>
              <a:srgbClr val="FFFFFF"/>
            </a:solidFill>
            <a:ln w="15875">
              <a:solidFill>
                <a:srgbClr val="C93A2A"/>
              </a:solidFill>
              <a:prstDash val="solid"/>
            </a:ln>
          </p:spPr>
          <p:txBody>
            <a:bodyPr/>
            <a:lstStyle/>
            <a:p>
              <a:endParaRPr lang="en-US"/>
            </a:p>
          </p:txBody>
        </p:sp>
        <p:sp>
          <p:nvSpPr>
            <p:cNvPr id="104" name="Shape 102"/>
            <p:cNvSpPr/>
            <p:nvPr/>
          </p:nvSpPr>
          <p:spPr>
            <a:xfrm>
              <a:off x="8142732" y="5093208"/>
              <a:ext cx="256032" cy="256032"/>
            </a:xfrm>
            <a:prstGeom prst="ellipse">
              <a:avLst/>
            </a:prstGeom>
            <a:solidFill>
              <a:srgbClr val="FFFFFF"/>
            </a:solidFill>
            <a:ln w="15875">
              <a:solidFill>
                <a:srgbClr val="C93A2A"/>
              </a:solidFill>
              <a:prstDash val="solid"/>
            </a:ln>
          </p:spPr>
          <p:txBody>
            <a:bodyPr/>
            <a:lstStyle/>
            <a:p>
              <a:endParaRPr lang="en-US"/>
            </a:p>
          </p:txBody>
        </p:sp>
        <p:sp>
          <p:nvSpPr>
            <p:cNvPr id="105" name="Text 103"/>
            <p:cNvSpPr txBox="1"/>
            <p:nvPr/>
          </p:nvSpPr>
          <p:spPr>
            <a:xfrm>
              <a:off x="8142732" y="5093208"/>
              <a:ext cx="256032" cy="256032"/>
            </a:xfrm>
            <a:prstGeom prst="rect">
              <a:avLst/>
            </a:prstGeom>
            <a:noFill/>
            <a:ln/>
          </p:spPr>
          <p:txBody>
            <a:bodyPr wrap="square" lIns="0" tIns="0" rIns="0" bIns="0" rtlCol="0" anchor="ctr"/>
            <a:lstStyle/>
            <a:p>
              <a:pPr marL="0" indent="0" algn="ctr">
                <a:buNone/>
              </a:pPr>
              <a:r>
                <a:rPr lang="en-US" sz="1050" b="1" dirty="0">
                  <a:solidFill>
                    <a:srgbClr val="C93A2A"/>
                  </a:solidFill>
                </a:rPr>
                <a:t>2</a:t>
              </a:r>
              <a:endParaRPr lang="en-US" sz="1050" dirty="0"/>
            </a:p>
          </p:txBody>
        </p:sp>
        <p:sp>
          <p:nvSpPr>
            <p:cNvPr id="106" name="Text 104"/>
            <p:cNvSpPr txBox="1"/>
            <p:nvPr/>
          </p:nvSpPr>
          <p:spPr>
            <a:xfrm>
              <a:off x="8453628" y="506577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Soát chứng minh</a:t>
              </a:r>
              <a:endParaRPr lang="en-US" sz="1200" dirty="0"/>
            </a:p>
          </p:txBody>
        </p:sp>
        <p:sp>
          <p:nvSpPr>
            <p:cNvPr id="107" name="Text 105"/>
            <p:cNvSpPr txBox="1"/>
            <p:nvPr/>
          </p:nvSpPr>
          <p:spPr>
            <a:xfrm>
              <a:off x="8124444" y="535838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soát bước, phản ví dụ</a:t>
              </a:r>
              <a:endParaRPr lang="en-US" sz="1000" dirty="0"/>
            </a:p>
          </p:txBody>
        </p:sp>
      </p:grpSp>
      <p:sp>
        <p:nvSpPr>
          <p:cNvPr id="109" name="Text 107"/>
          <p:cNvSpPr txBox="1"/>
          <p:nvPr/>
        </p:nvSpPr>
        <p:spPr>
          <a:xfrm>
            <a:off x="10709373" y="5039076"/>
            <a:ext cx="809414" cy="384048"/>
          </a:xfrm>
          <a:prstGeom prst="rect">
            <a:avLst/>
          </a:prstGeom>
          <a:noFill/>
          <a:ln/>
        </p:spPr>
        <p:txBody>
          <a:bodyPr wrap="square" lIns="0" tIns="0" rIns="0" bIns="0" rtlCol="0" anchor="ctr"/>
          <a:lstStyle/>
          <a:p>
            <a:pPr marL="0" indent="0" algn="ctr">
              <a:buNone/>
            </a:pPr>
            <a:endParaRPr lang="en-US" sz="1500" dirty="0"/>
          </a:p>
        </p:txBody>
      </p:sp>
      <p:sp>
        <p:nvSpPr>
          <p:cNvPr id="111" name="ghe-"/>
          <p:cNvSpPr/>
          <p:nvPr/>
        </p:nvSpPr>
        <p:spPr>
          <a:xfrm>
            <a:off x="10529336" y="5875934"/>
            <a:ext cx="1381760" cy="713232"/>
          </a:xfrm>
          <a:prstGeom prst="roundRect">
            <a:avLst>
              <a:gd name="adj" fmla="val 12821"/>
            </a:avLst>
          </a:prstGeom>
          <a:solidFill>
            <a:srgbClr val="FFFFFF"/>
          </a:solidFill>
          <a:ln w="25400">
            <a:solidFill>
              <a:srgbClr val="A86C0E"/>
            </a:solidFill>
            <a:prstDash val="solid"/>
          </a:ln>
        </p:spPr>
        <p:txBody>
          <a:bodyPr/>
          <a:lstStyle/>
          <a:p>
            <a:endParaRPr lang="en-US"/>
          </a:p>
        </p:txBody>
      </p:sp>
      <p:sp>
        <p:nvSpPr>
          <p:cNvPr id="112" name="Text 110"/>
          <p:cNvSpPr txBox="1"/>
          <p:nvPr/>
        </p:nvSpPr>
        <p:spPr>
          <a:xfrm>
            <a:off x="10526707" y="5916533"/>
            <a:ext cx="1279407" cy="384048"/>
          </a:xfrm>
          <a:prstGeom prst="rect">
            <a:avLst/>
          </a:prstGeom>
          <a:noFill/>
          <a:ln/>
        </p:spPr>
        <p:txBody>
          <a:bodyPr wrap="square" lIns="0" tIns="0" rIns="0" bIns="0" rtlCol="0" anchor="ctr"/>
          <a:lstStyle/>
          <a:p>
            <a:pPr marL="0" indent="0" algn="ctr">
              <a:buNone/>
            </a:pPr>
            <a:r>
              <a:rPr lang="en-US" sz="1500" b="1" dirty="0">
                <a:solidFill>
                  <a:srgbClr val="1C2333"/>
                </a:solidFill>
              </a:rPr>
              <a:t>Kho đã kiểm</a:t>
            </a:r>
            <a:endParaRPr lang="en-US" sz="1500" dirty="0"/>
          </a:p>
        </p:txBody>
      </p:sp>
      <p:sp>
        <p:nvSpPr>
          <p:cNvPr id="113" name="Text 111"/>
          <p:cNvSpPr txBox="1"/>
          <p:nvPr/>
        </p:nvSpPr>
        <p:spPr>
          <a:xfrm>
            <a:off x="10508419" y="6300581"/>
            <a:ext cx="1299878" cy="237744"/>
          </a:xfrm>
          <a:prstGeom prst="rect">
            <a:avLst/>
          </a:prstGeom>
          <a:noFill/>
          <a:ln/>
        </p:spPr>
        <p:txBody>
          <a:bodyPr wrap="square" lIns="0" tIns="0" rIns="0" bIns="0" rtlCol="0" anchor="ctr"/>
          <a:lstStyle/>
          <a:p>
            <a:pPr marL="0" indent="0" algn="ctr">
              <a:buNone/>
            </a:pPr>
            <a:r>
              <a:rPr lang="en-US" sz="1100" dirty="0">
                <a:solidFill>
                  <a:srgbClr val="394152"/>
                </a:solidFill>
              </a:rPr>
              <a:t>chỉ thủ môn ghi, kèm mức kiểm cuối</a:t>
            </a:r>
            <a:endParaRPr lang="en-US" sz="1100" dirty="0"/>
          </a:p>
        </p:txBody>
      </p:sp>
      <p:grpSp>
        <p:nvGrpSpPr>
          <p:cNvPr id="219" name="Số 1"/>
          <p:cNvGrpSpPr/>
          <p:nvPr/>
        </p:nvGrpSpPr>
        <p:grpSpPr>
          <a:xfrm>
            <a:off x="4686300" y="5943600"/>
            <a:ext cx="1600200" cy="566928"/>
            <a:chOff x="4686300" y="5943600"/>
            <a:chExt cx="1600200" cy="566928"/>
          </a:xfrm>
        </p:grpSpPr>
        <p:sp>
          <p:nvSpPr>
            <p:cNvPr id="132" name="ghe-1"/>
            <p:cNvSpPr/>
            <p:nvPr/>
          </p:nvSpPr>
          <p:spPr>
            <a:xfrm>
              <a:off x="4686300" y="5943600"/>
              <a:ext cx="1600200" cy="566928"/>
            </a:xfrm>
            <a:prstGeom prst="roundRect">
              <a:avLst>
                <a:gd name="adj" fmla="val 12821"/>
              </a:avLst>
            </a:prstGeom>
            <a:solidFill>
              <a:srgbClr val="FFFFFF"/>
            </a:solidFill>
            <a:ln w="25400">
              <a:solidFill>
                <a:srgbClr val="A86C0E"/>
              </a:solidFill>
              <a:prstDash val="solid"/>
            </a:ln>
          </p:spPr>
          <p:txBody>
            <a:bodyPr/>
            <a:lstStyle/>
            <a:p>
              <a:endParaRPr lang="en-US"/>
            </a:p>
          </p:txBody>
        </p:sp>
        <p:sp>
          <p:nvSpPr>
            <p:cNvPr id="133" name="Shape 131"/>
            <p:cNvSpPr/>
            <p:nvPr/>
          </p:nvSpPr>
          <p:spPr>
            <a:xfrm>
              <a:off x="4759452" y="6007608"/>
              <a:ext cx="256032" cy="256032"/>
            </a:xfrm>
            <a:prstGeom prst="ellipse">
              <a:avLst/>
            </a:prstGeom>
            <a:solidFill>
              <a:srgbClr val="A86C0E"/>
            </a:solidFill>
            <a:ln w="15875">
              <a:solidFill>
                <a:srgbClr val="A86C0E"/>
              </a:solidFill>
              <a:prstDash val="solid"/>
            </a:ln>
          </p:spPr>
          <p:txBody>
            <a:bodyPr/>
            <a:lstStyle/>
            <a:p>
              <a:endParaRPr lang="en-US"/>
            </a:p>
          </p:txBody>
        </p:sp>
        <p:sp>
          <p:nvSpPr>
            <p:cNvPr id="134" name="Text 132"/>
            <p:cNvSpPr txBox="1"/>
            <p:nvPr/>
          </p:nvSpPr>
          <p:spPr>
            <a:xfrm>
              <a:off x="4759452" y="6007608"/>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135" name="Text 133"/>
            <p:cNvSpPr txBox="1"/>
            <p:nvPr/>
          </p:nvSpPr>
          <p:spPr>
            <a:xfrm>
              <a:off x="5070348" y="5980176"/>
              <a:ext cx="1179576" cy="274320"/>
            </a:xfrm>
            <a:prstGeom prst="rect">
              <a:avLst/>
            </a:prstGeom>
            <a:noFill/>
            <a:ln/>
          </p:spPr>
          <p:txBody>
            <a:bodyPr wrap="square" lIns="0" tIns="0" rIns="0" bIns="0" rtlCol="0" anchor="ctr"/>
            <a:lstStyle/>
            <a:p>
              <a:pPr marL="0" indent="0" algn="l">
                <a:buNone/>
              </a:pPr>
              <a:r>
                <a:rPr lang="en-US" sz="1200" b="1" dirty="0">
                  <a:solidFill>
                    <a:srgbClr val="1C2333"/>
                  </a:solidFill>
                </a:rPr>
                <a:t>Kiểm chứng cuối</a:t>
              </a:r>
              <a:endParaRPr lang="en-US" sz="1200" dirty="0"/>
            </a:p>
          </p:txBody>
        </p:sp>
        <p:sp>
          <p:nvSpPr>
            <p:cNvPr id="136" name="Text 134"/>
            <p:cNvSpPr txBox="1"/>
            <p:nvPr/>
          </p:nvSpPr>
          <p:spPr>
            <a:xfrm>
              <a:off x="4741164" y="6272784"/>
              <a:ext cx="1490472" cy="201168"/>
            </a:xfrm>
            <a:prstGeom prst="rect">
              <a:avLst/>
            </a:prstGeom>
            <a:noFill/>
            <a:ln/>
          </p:spPr>
          <p:txBody>
            <a:bodyPr wrap="square" lIns="0" tIns="0" rIns="0" bIns="0" rtlCol="0" anchor="ctr"/>
            <a:lstStyle/>
            <a:p>
              <a:pPr marL="0" indent="0" algn="ctr">
                <a:buNone/>
              </a:pPr>
              <a:r>
                <a:rPr lang="en-US" sz="1000" dirty="0">
                  <a:solidFill>
                    <a:srgbClr val="394152"/>
                  </a:solidFill>
                </a:rPr>
                <a:t>Lean → đạt hay trượt</a:t>
              </a:r>
              <a:endParaRPr lang="en-US" sz="1000" dirty="0"/>
            </a:p>
          </p:txBody>
        </p:sp>
      </p:grpSp>
      <p:sp>
        <p:nvSpPr>
          <p:cNvPr id="137" name="hlv"/>
          <p:cNvSpPr/>
          <p:nvPr/>
        </p:nvSpPr>
        <p:spPr>
          <a:xfrm>
            <a:off x="10483596" y="3840480"/>
            <a:ext cx="1325880" cy="914400"/>
          </a:xfrm>
          <a:prstGeom prst="roundRect">
            <a:avLst>
              <a:gd name="adj" fmla="val 10000"/>
            </a:avLst>
          </a:prstGeom>
          <a:solidFill>
            <a:srgbClr val="1C2333"/>
          </a:solidFill>
          <a:ln w="12700">
            <a:solidFill>
              <a:srgbClr val="1C2333"/>
            </a:solidFill>
            <a:prstDash val="solid"/>
          </a:ln>
        </p:spPr>
        <p:txBody>
          <a:bodyPr/>
          <a:lstStyle/>
          <a:p>
            <a:endParaRPr lang="en-US" dirty="0"/>
          </a:p>
        </p:txBody>
      </p:sp>
      <p:sp>
        <p:nvSpPr>
          <p:cNvPr id="138" name="Text 136"/>
          <p:cNvSpPr txBox="1"/>
          <p:nvPr/>
        </p:nvSpPr>
        <p:spPr>
          <a:xfrm>
            <a:off x="10447020" y="3922776"/>
            <a:ext cx="1325880" cy="914400"/>
          </a:xfrm>
          <a:prstGeom prst="rect">
            <a:avLst/>
          </a:prstGeom>
          <a:noFill/>
          <a:ln/>
        </p:spPr>
        <p:txBody>
          <a:bodyPr wrap="square" lIns="508" tIns="508" rIns="508" bIns="508" rtlCol="0" anchor="ctr"/>
          <a:lstStyle/>
          <a:p>
            <a:pPr marL="0" indent="0" algn="ctr">
              <a:buNone/>
            </a:pPr>
            <a:r>
              <a:rPr lang="en-US" sz="1300" b="1" dirty="0">
                <a:solidFill>
                  <a:srgbClr val="FFFFFF"/>
                </a:solidFill>
              </a:rPr>
              <a:t>HLV (bạn)</a:t>
            </a:r>
            <a:endParaRPr lang="en-US" sz="1300" dirty="0"/>
          </a:p>
          <a:p>
            <a:pPr marL="0" indent="0" algn="ctr">
              <a:buNone/>
            </a:pPr>
            <a:r>
              <a:rPr lang="en-US" sz="1100" b="1" dirty="0">
                <a:solidFill>
                  <a:srgbClr val="FFFFFF"/>
                </a:solidFill>
              </a:rPr>
              <a:t>+ ChatGPT</a:t>
            </a:r>
            <a:endParaRPr lang="en-US" sz="1300" dirty="0"/>
          </a:p>
          <a:p>
            <a:pPr marL="0" indent="0" algn="ctr">
              <a:buNone/>
            </a:pPr>
            <a:r>
              <a:rPr lang="en-US" sz="1000" dirty="0">
                <a:solidFill>
                  <a:srgbClr val="E6E8EC"/>
                </a:solidFill>
              </a:rPr>
              <a:t>giao đề, </a:t>
            </a:r>
            <a:r>
              <a:rPr lang="en-US" sz="1000" dirty="0" err="1">
                <a:solidFill>
                  <a:srgbClr val="E6E8EC"/>
                </a:solidFill>
              </a:rPr>
              <a:t>chọn</a:t>
            </a:r>
            <a:r>
              <a:rPr lang="en-US" sz="1000" dirty="0">
                <a:solidFill>
                  <a:srgbClr val="E6E8EC"/>
                </a:solidFill>
              </a:rPr>
              <a:t> </a:t>
            </a:r>
            <a:r>
              <a:rPr lang="en-US" sz="1000" dirty="0" err="1">
                <a:solidFill>
                  <a:srgbClr val="E6E8EC"/>
                </a:solidFill>
              </a:rPr>
              <a:t>bài</a:t>
            </a:r>
            <a:r>
              <a:rPr lang="en-US" sz="1000" dirty="0">
                <a:solidFill>
                  <a:srgbClr val="E6E8EC"/>
                </a:solidFill>
              </a:rPr>
              <a:t>+ 10 </a:t>
            </a:r>
            <a:r>
              <a:rPr lang="en-US" sz="1000" dirty="0" err="1">
                <a:solidFill>
                  <a:srgbClr val="E6E8EC"/>
                </a:solidFill>
              </a:rPr>
              <a:t>hướng</a:t>
            </a:r>
            <a:r>
              <a:rPr lang="en-US" sz="1000" dirty="0">
                <a:solidFill>
                  <a:srgbClr val="E6E8EC"/>
                </a:solidFill>
              </a:rPr>
              <a:t> </a:t>
            </a:r>
            <a:r>
              <a:rPr lang="en-US" sz="1000" dirty="0" err="1">
                <a:solidFill>
                  <a:srgbClr val="E6E8EC"/>
                </a:solidFill>
              </a:rPr>
              <a:t>tấn</a:t>
            </a:r>
            <a:r>
              <a:rPr lang="en-US" sz="1000" dirty="0">
                <a:solidFill>
                  <a:srgbClr val="E6E8EC"/>
                </a:solidFill>
              </a:rPr>
              <a:t> </a:t>
            </a:r>
            <a:r>
              <a:rPr lang="en-US" sz="1000" dirty="0" err="1">
                <a:solidFill>
                  <a:srgbClr val="E6E8EC"/>
                </a:solidFill>
              </a:rPr>
              <a:t>công</a:t>
            </a:r>
            <a:endParaRPr lang="en-US" sz="1300" dirty="0"/>
          </a:p>
        </p:txBody>
      </p:sp>
      <p:sp>
        <p:nvSpPr>
          <p:cNvPr id="139"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
        <p:nvSpPr>
          <p:cNvPr id="140" name="Rectangle: Rounded Corners 139">
            <a:extLst>
              <a:ext uri="{FF2B5EF4-FFF2-40B4-BE49-F238E27FC236}">
                <a16:creationId xmlns:a16="http://schemas.microsoft.com/office/drawing/2014/main" id="{CBB3B8A0-FBF0-6C29-7BD3-0CA5C9C8A9DE}"/>
              </a:ext>
            </a:extLst>
          </p:cNvPr>
          <p:cNvSpPr/>
          <p:nvPr/>
        </p:nvSpPr>
        <p:spPr>
          <a:xfrm>
            <a:off x="78097" y="993897"/>
            <a:ext cx="10322693" cy="5772886"/>
          </a:xfrm>
          <a:prstGeom prst="roundRect">
            <a:avLst>
              <a:gd name="adj" fmla="val 2459"/>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1" name="14-9-0"/>
          <p:cNvSpPr/>
          <p:nvPr/>
        </p:nvSpPr>
        <p:spPr>
          <a:xfrm>
            <a:off x="2907792" y="1609344"/>
            <a:ext cx="1783080" cy="0"/>
          </a:xfrm>
          <a:prstGeom prst="line">
            <a:avLst/>
          </a:prstGeom>
          <a:noFill/>
          <a:ln w="12700">
            <a:solidFill>
              <a:srgbClr val="2B59D9"/>
            </a:solidFill>
            <a:prstDash val="dash"/>
            <a:tailEnd type="triangle"/>
          </a:ln>
        </p:spPr>
        <p:txBody>
          <a:bodyPr/>
          <a:lstStyle/>
          <a:p>
            <a:endParaRPr lang="en-US"/>
          </a:p>
        </p:txBody>
      </p:sp>
      <p:sp>
        <p:nvSpPr>
          <p:cNvPr id="142" name="lbl-ví dụ mẫu"/>
          <p:cNvSpPr txBox="1"/>
          <p:nvPr/>
        </p:nvSpPr>
        <p:spPr>
          <a:xfrm>
            <a:off x="3154680" y="1261872"/>
            <a:ext cx="1280160" cy="201168"/>
          </a:xfrm>
          <a:prstGeom prst="rect">
            <a:avLst/>
          </a:prstGeom>
          <a:noFill/>
          <a:ln/>
        </p:spPr>
        <p:txBody>
          <a:bodyPr wrap="square" lIns="0" tIns="0" rIns="0" bIns="0" rtlCol="0" anchor="ctr"/>
          <a:lstStyle/>
          <a:p>
            <a:pPr marL="0" indent="0" algn="l">
              <a:buNone/>
            </a:pPr>
            <a:r>
              <a:rPr lang="en-US" sz="1000" b="1" dirty="0">
                <a:solidFill>
                  <a:srgbClr val="1C2333"/>
                </a:solidFill>
              </a:rPr>
              <a:t>ví dụ mẫu</a:t>
            </a:r>
            <a:endParaRPr lang="en-US" sz="1000" dirty="0"/>
          </a:p>
        </p:txBody>
      </p:sp>
      <p:sp>
        <p:nvSpPr>
          <p:cNvPr id="143" name="9-4-0"/>
          <p:cNvSpPr/>
          <p:nvPr/>
        </p:nvSpPr>
        <p:spPr>
          <a:xfrm>
            <a:off x="6291072" y="1609344"/>
            <a:ext cx="1783080" cy="0"/>
          </a:xfrm>
          <a:prstGeom prst="line">
            <a:avLst/>
          </a:prstGeom>
          <a:noFill/>
          <a:ln w="19050">
            <a:solidFill>
              <a:srgbClr val="C93A2A"/>
            </a:solidFill>
            <a:prstDash val="dash"/>
            <a:headEnd type="triangle"/>
            <a:tailEnd type="triangle"/>
          </a:ln>
        </p:spPr>
        <p:txBody>
          <a:bodyPr/>
          <a:lstStyle/>
          <a:p>
            <a:endParaRPr lang="en-US"/>
          </a:p>
        </p:txBody>
      </p:sp>
      <p:sp>
        <p:nvSpPr>
          <p:cNvPr id="144" name="so-6"/>
          <p:cNvSpPr/>
          <p:nvPr/>
        </p:nvSpPr>
        <p:spPr>
          <a:xfrm>
            <a:off x="7059168" y="1490472"/>
            <a:ext cx="237744" cy="237744"/>
          </a:xfrm>
          <a:prstGeom prst="ellipse">
            <a:avLst/>
          </a:prstGeom>
          <a:solidFill>
            <a:srgbClr val="1C2333"/>
          </a:solidFill>
          <a:ln w="12700">
            <a:solidFill>
              <a:srgbClr val="1C2333"/>
            </a:solidFill>
            <a:prstDash val="solid"/>
          </a:ln>
        </p:spPr>
        <p:txBody>
          <a:bodyPr/>
          <a:lstStyle/>
          <a:p>
            <a:endParaRPr lang="en-US"/>
          </a:p>
        </p:txBody>
      </p:sp>
      <p:sp>
        <p:nvSpPr>
          <p:cNvPr id="145" name="so-6-t"/>
          <p:cNvSpPr txBox="1"/>
          <p:nvPr/>
        </p:nvSpPr>
        <p:spPr>
          <a:xfrm>
            <a:off x="7059168" y="149047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146" name="lbl-thử phá bổ đ"/>
          <p:cNvSpPr txBox="1"/>
          <p:nvPr/>
        </p:nvSpPr>
        <p:spPr>
          <a:xfrm>
            <a:off x="6492240" y="1682496"/>
            <a:ext cx="1371600" cy="201168"/>
          </a:xfrm>
          <a:prstGeom prst="rect">
            <a:avLst/>
          </a:prstGeom>
          <a:noFill/>
          <a:ln/>
        </p:spPr>
        <p:txBody>
          <a:bodyPr wrap="square" lIns="0" tIns="0" rIns="0" bIns="0" rtlCol="0" anchor="ctr"/>
          <a:lstStyle/>
          <a:p>
            <a:pPr marL="0" indent="0" algn="l">
              <a:buNone/>
            </a:pPr>
            <a:r>
              <a:rPr lang="en-US" sz="1000" b="1" dirty="0">
                <a:solidFill>
                  <a:srgbClr val="C93A2A"/>
                </a:solidFill>
              </a:rPr>
              <a:t>thử phá bổ đề</a:t>
            </a:r>
            <a:endParaRPr lang="en-US" sz="1000" dirty="0"/>
          </a:p>
        </p:txBody>
      </p:sp>
      <p:sp>
        <p:nvSpPr>
          <p:cNvPr id="147" name="4-14-0"/>
          <p:cNvSpPr/>
          <p:nvPr/>
        </p:nvSpPr>
        <p:spPr>
          <a:xfrm flipV="1">
            <a:off x="8869680" y="1207008"/>
            <a:ext cx="0" cy="118872"/>
          </a:xfrm>
          <a:prstGeom prst="line">
            <a:avLst/>
          </a:prstGeom>
          <a:noFill/>
          <a:ln w="19050">
            <a:solidFill>
              <a:srgbClr val="C93A2A"/>
            </a:solidFill>
            <a:prstDash val="dash"/>
            <a:headEnd type="triangle"/>
          </a:ln>
        </p:spPr>
        <p:txBody>
          <a:bodyPr/>
          <a:lstStyle/>
          <a:p>
            <a:endParaRPr lang="en-US"/>
          </a:p>
        </p:txBody>
      </p:sp>
      <p:sp>
        <p:nvSpPr>
          <p:cNvPr id="148" name="4-14-1"/>
          <p:cNvSpPr/>
          <p:nvPr/>
        </p:nvSpPr>
        <p:spPr>
          <a:xfrm flipH="1">
            <a:off x="2377440" y="1207008"/>
            <a:ext cx="6492240" cy="0"/>
          </a:xfrm>
          <a:prstGeom prst="line">
            <a:avLst/>
          </a:prstGeom>
          <a:noFill/>
          <a:ln w="19050">
            <a:solidFill>
              <a:srgbClr val="C93A2A"/>
            </a:solidFill>
            <a:prstDash val="dash"/>
          </a:ln>
        </p:spPr>
        <p:txBody>
          <a:bodyPr/>
          <a:lstStyle/>
          <a:p>
            <a:endParaRPr lang="en-US"/>
          </a:p>
        </p:txBody>
      </p:sp>
      <p:sp>
        <p:nvSpPr>
          <p:cNvPr id="149" name="4-14-2"/>
          <p:cNvSpPr/>
          <p:nvPr/>
        </p:nvSpPr>
        <p:spPr>
          <a:xfrm>
            <a:off x="2377440" y="1207008"/>
            <a:ext cx="0" cy="118872"/>
          </a:xfrm>
          <a:prstGeom prst="line">
            <a:avLst/>
          </a:prstGeom>
          <a:noFill/>
          <a:ln w="19050">
            <a:solidFill>
              <a:srgbClr val="C93A2A"/>
            </a:solidFill>
            <a:prstDash val="dash"/>
            <a:tailEnd type="triangle"/>
          </a:ln>
        </p:spPr>
        <p:txBody>
          <a:bodyPr/>
          <a:lstStyle/>
          <a:p>
            <a:endParaRPr lang="en-US"/>
          </a:p>
        </p:txBody>
      </p:sp>
      <p:sp>
        <p:nvSpPr>
          <p:cNvPr id="150" name="lbl-ca mới ⇄ dữ "/>
          <p:cNvSpPr txBox="1"/>
          <p:nvPr/>
        </p:nvSpPr>
        <p:spPr>
          <a:xfrm>
            <a:off x="6492240" y="1243584"/>
            <a:ext cx="1463040" cy="201168"/>
          </a:xfrm>
          <a:prstGeom prst="rect">
            <a:avLst/>
          </a:prstGeom>
          <a:noFill/>
          <a:ln/>
        </p:spPr>
        <p:txBody>
          <a:bodyPr wrap="square" lIns="0" tIns="0" rIns="0" bIns="0" rtlCol="0" anchor="ctr"/>
          <a:lstStyle/>
          <a:p>
            <a:pPr marL="0" indent="0" algn="l">
              <a:buNone/>
            </a:pPr>
            <a:r>
              <a:rPr lang="en-US" sz="1000" b="1" dirty="0">
                <a:solidFill>
                  <a:srgbClr val="C93A2A"/>
                </a:solidFill>
              </a:rPr>
              <a:t>ca mới ⇄ dữ liệu số</a:t>
            </a:r>
            <a:endParaRPr lang="en-US" sz="1000" dirty="0"/>
          </a:p>
        </p:txBody>
      </p:sp>
      <p:sp>
        <p:nvSpPr>
          <p:cNvPr id="151" name="hlv-6-0"/>
          <p:cNvSpPr/>
          <p:nvPr/>
        </p:nvSpPr>
        <p:spPr>
          <a:xfrm flipH="1">
            <a:off x="6291072" y="4507992"/>
            <a:ext cx="4178808" cy="0"/>
          </a:xfrm>
          <a:prstGeom prst="line">
            <a:avLst/>
          </a:prstGeom>
          <a:noFill/>
          <a:ln w="31750">
            <a:solidFill>
              <a:srgbClr val="1C2333"/>
            </a:solidFill>
            <a:prstDash val="solid"/>
            <a:headEnd type="triangle"/>
            <a:tailEnd type="triangle"/>
          </a:ln>
        </p:spPr>
        <p:txBody>
          <a:bodyPr/>
          <a:lstStyle/>
          <a:p>
            <a:endParaRPr lang="en-US"/>
          </a:p>
        </p:txBody>
      </p:sp>
      <p:sp>
        <p:nvSpPr>
          <p:cNvPr id="152" name="so-1"/>
          <p:cNvSpPr/>
          <p:nvPr/>
        </p:nvSpPr>
        <p:spPr>
          <a:xfrm>
            <a:off x="8750808" y="4389120"/>
            <a:ext cx="237744" cy="237744"/>
          </a:xfrm>
          <a:prstGeom prst="ellipse">
            <a:avLst/>
          </a:prstGeom>
          <a:solidFill>
            <a:srgbClr val="1C2333"/>
          </a:solidFill>
          <a:ln w="12700">
            <a:solidFill>
              <a:srgbClr val="1C2333"/>
            </a:solidFill>
            <a:prstDash val="solid"/>
          </a:ln>
        </p:spPr>
        <p:txBody>
          <a:bodyPr/>
          <a:lstStyle/>
          <a:p>
            <a:endParaRPr lang="en-US"/>
          </a:p>
        </p:txBody>
      </p:sp>
      <p:sp>
        <p:nvSpPr>
          <p:cNvPr id="153" name="so-1-t"/>
          <p:cNvSpPr txBox="1"/>
          <p:nvPr/>
        </p:nvSpPr>
        <p:spPr>
          <a:xfrm>
            <a:off x="8750808" y="43891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54" name="lbl-giao đề · bá"/>
          <p:cNvSpPr txBox="1"/>
          <p:nvPr/>
        </p:nvSpPr>
        <p:spPr>
          <a:xfrm>
            <a:off x="8275320" y="4261104"/>
            <a:ext cx="1737360" cy="201168"/>
          </a:xfrm>
          <a:prstGeom prst="rect">
            <a:avLst/>
          </a:prstGeom>
          <a:noFill/>
          <a:ln/>
        </p:spPr>
        <p:txBody>
          <a:bodyPr wrap="square" lIns="0" tIns="0" rIns="0" bIns="0" rtlCol="0" anchor="ctr"/>
          <a:lstStyle/>
          <a:p>
            <a:pPr marL="0" indent="0" algn="ctr">
              <a:buNone/>
            </a:pPr>
            <a:r>
              <a:rPr lang="en-US" sz="1000" b="1" dirty="0">
                <a:solidFill>
                  <a:srgbClr val="5F6878"/>
                </a:solidFill>
              </a:rPr>
              <a:t>giao đề · báo kết quả</a:t>
            </a:r>
            <a:endParaRPr lang="en-US" sz="1000" dirty="0"/>
          </a:p>
        </p:txBody>
      </p:sp>
      <p:sp>
        <p:nvSpPr>
          <p:cNvPr id="155" name="6-14-0"/>
          <p:cNvSpPr/>
          <p:nvPr/>
        </p:nvSpPr>
        <p:spPr>
          <a:xfrm flipH="1">
            <a:off x="777240" y="4507992"/>
            <a:ext cx="3913632" cy="0"/>
          </a:xfrm>
          <a:prstGeom prst="line">
            <a:avLst/>
          </a:prstGeom>
          <a:noFill/>
          <a:ln w="31750">
            <a:solidFill>
              <a:srgbClr val="1C2333"/>
            </a:solidFill>
            <a:prstDash val="solid"/>
          </a:ln>
        </p:spPr>
        <p:txBody>
          <a:bodyPr/>
          <a:lstStyle/>
          <a:p>
            <a:endParaRPr lang="en-US"/>
          </a:p>
        </p:txBody>
      </p:sp>
      <p:sp>
        <p:nvSpPr>
          <p:cNvPr id="156" name="6-14-1"/>
          <p:cNvSpPr/>
          <p:nvPr/>
        </p:nvSpPr>
        <p:spPr>
          <a:xfrm flipV="1">
            <a:off x="777240" y="1481328"/>
            <a:ext cx="0" cy="3026664"/>
          </a:xfrm>
          <a:prstGeom prst="line">
            <a:avLst/>
          </a:prstGeom>
          <a:noFill/>
          <a:ln w="31750">
            <a:solidFill>
              <a:srgbClr val="1C2333"/>
            </a:solidFill>
            <a:prstDash val="solid"/>
          </a:ln>
        </p:spPr>
        <p:txBody>
          <a:bodyPr/>
          <a:lstStyle/>
          <a:p>
            <a:endParaRPr lang="en-US"/>
          </a:p>
        </p:txBody>
      </p:sp>
      <p:sp>
        <p:nvSpPr>
          <p:cNvPr id="157" name="6-14-2"/>
          <p:cNvSpPr/>
          <p:nvPr/>
        </p:nvSpPr>
        <p:spPr>
          <a:xfrm>
            <a:off x="777240" y="1481328"/>
            <a:ext cx="530352" cy="0"/>
          </a:xfrm>
          <a:prstGeom prst="line">
            <a:avLst/>
          </a:prstGeom>
          <a:noFill/>
          <a:ln w="31750">
            <a:solidFill>
              <a:srgbClr val="1C2333"/>
            </a:solidFill>
            <a:prstDash val="solid"/>
            <a:tailEnd type="triangle"/>
          </a:ln>
        </p:spPr>
        <p:txBody>
          <a:bodyPr/>
          <a:lstStyle/>
          <a:p>
            <a:endParaRPr lang="en-US"/>
          </a:p>
        </p:txBody>
      </p:sp>
      <p:sp>
        <p:nvSpPr>
          <p:cNvPr id="158" name="so-2"/>
          <p:cNvSpPr/>
          <p:nvPr/>
        </p:nvSpPr>
        <p:spPr>
          <a:xfrm>
            <a:off x="658368" y="2532888"/>
            <a:ext cx="237744" cy="237744"/>
          </a:xfrm>
          <a:prstGeom prst="ellipse">
            <a:avLst/>
          </a:prstGeom>
          <a:solidFill>
            <a:srgbClr val="1C2333"/>
          </a:solidFill>
          <a:ln w="12700">
            <a:solidFill>
              <a:srgbClr val="1C2333"/>
            </a:solidFill>
            <a:prstDash val="solid"/>
          </a:ln>
        </p:spPr>
        <p:txBody>
          <a:bodyPr/>
          <a:lstStyle/>
          <a:p>
            <a:endParaRPr lang="en-US"/>
          </a:p>
        </p:txBody>
      </p:sp>
      <p:sp>
        <p:nvSpPr>
          <p:cNvPr id="159" name="so-2-t"/>
          <p:cNvSpPr txBox="1"/>
          <p:nvPr/>
        </p:nvSpPr>
        <p:spPr>
          <a:xfrm>
            <a:off x="658368" y="253288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60" name="lbl-giao bài"/>
          <p:cNvSpPr txBox="1"/>
          <p:nvPr/>
        </p:nvSpPr>
        <p:spPr>
          <a:xfrm>
            <a:off x="896112" y="4261104"/>
            <a:ext cx="822960" cy="201168"/>
          </a:xfrm>
          <a:prstGeom prst="rect">
            <a:avLst/>
          </a:prstGeom>
          <a:noFill/>
          <a:ln/>
        </p:spPr>
        <p:txBody>
          <a:bodyPr wrap="square" lIns="0" tIns="0" rIns="0" bIns="0" rtlCol="0" anchor="ctr"/>
          <a:lstStyle/>
          <a:p>
            <a:pPr marL="0" indent="0" algn="l">
              <a:buNone/>
            </a:pPr>
            <a:r>
              <a:rPr lang="en-US" sz="1000" b="1" dirty="0">
                <a:solidFill>
                  <a:srgbClr val="1C2333"/>
                </a:solidFill>
              </a:rPr>
              <a:t>giao bài</a:t>
            </a:r>
            <a:endParaRPr lang="en-US" sz="1000" dirty="0"/>
          </a:p>
        </p:txBody>
      </p:sp>
      <p:sp>
        <p:nvSpPr>
          <p:cNvPr id="161" name="14-10-0"/>
          <p:cNvSpPr/>
          <p:nvPr/>
        </p:nvSpPr>
        <p:spPr>
          <a:xfrm>
            <a:off x="2743200" y="1892808"/>
            <a:ext cx="1947672" cy="1581912"/>
          </a:xfrm>
          <a:prstGeom prst="line">
            <a:avLst/>
          </a:prstGeom>
          <a:noFill/>
          <a:ln w="31750">
            <a:solidFill>
              <a:srgbClr val="1C2333"/>
            </a:solidFill>
            <a:prstDash val="solid"/>
            <a:tailEnd type="triangle"/>
          </a:ln>
        </p:spPr>
        <p:txBody>
          <a:bodyPr/>
          <a:lstStyle/>
          <a:p>
            <a:endParaRPr lang="en-US"/>
          </a:p>
        </p:txBody>
      </p:sp>
      <p:sp>
        <p:nvSpPr>
          <p:cNvPr id="162" name="so-3"/>
          <p:cNvSpPr/>
          <p:nvPr/>
        </p:nvSpPr>
        <p:spPr>
          <a:xfrm>
            <a:off x="3538728" y="2569464"/>
            <a:ext cx="237744" cy="237744"/>
          </a:xfrm>
          <a:prstGeom prst="ellipse">
            <a:avLst/>
          </a:prstGeom>
          <a:solidFill>
            <a:srgbClr val="1C2333"/>
          </a:solidFill>
          <a:ln w="12700">
            <a:solidFill>
              <a:srgbClr val="1C2333"/>
            </a:solidFill>
            <a:prstDash val="solid"/>
          </a:ln>
        </p:spPr>
        <p:txBody>
          <a:bodyPr/>
          <a:lstStyle/>
          <a:p>
            <a:endParaRPr lang="en-US"/>
          </a:p>
        </p:txBody>
      </p:sp>
      <p:sp>
        <p:nvSpPr>
          <p:cNvPr id="163" name="so-3-t"/>
          <p:cNvSpPr txBox="1"/>
          <p:nvPr/>
        </p:nvSpPr>
        <p:spPr>
          <a:xfrm>
            <a:off x="3538728" y="256946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64" name="lbl-thư viện ví "/>
          <p:cNvSpPr txBox="1"/>
          <p:nvPr/>
        </p:nvSpPr>
        <p:spPr>
          <a:xfrm>
            <a:off x="2852928" y="2834640"/>
            <a:ext cx="960120" cy="201168"/>
          </a:xfrm>
          <a:prstGeom prst="rect">
            <a:avLst/>
          </a:prstGeom>
          <a:noFill/>
          <a:ln/>
        </p:spPr>
        <p:txBody>
          <a:bodyPr wrap="square" lIns="0" tIns="0" rIns="0" bIns="0" rtlCol="0" anchor="ctr"/>
          <a:lstStyle/>
          <a:p>
            <a:pPr marL="0" indent="0" algn="l">
              <a:buNone/>
            </a:pPr>
            <a:r>
              <a:rPr lang="en-US" sz="1000" b="1" dirty="0">
                <a:solidFill>
                  <a:srgbClr val="1C2333"/>
                </a:solidFill>
              </a:rPr>
              <a:t>thư viện ví dụ</a:t>
            </a:r>
            <a:endParaRPr lang="en-US" sz="1000" dirty="0"/>
          </a:p>
        </p:txBody>
      </p:sp>
      <p:sp>
        <p:nvSpPr>
          <p:cNvPr id="165" name="8-14-0"/>
          <p:cNvSpPr/>
          <p:nvPr/>
        </p:nvSpPr>
        <p:spPr>
          <a:xfrm flipH="1" flipV="1">
            <a:off x="2907792" y="1828800"/>
            <a:ext cx="1783080" cy="685800"/>
          </a:xfrm>
          <a:prstGeom prst="line">
            <a:avLst/>
          </a:prstGeom>
          <a:noFill/>
          <a:ln w="12700">
            <a:solidFill>
              <a:srgbClr val="2B59D9"/>
            </a:solidFill>
            <a:prstDash val="dash"/>
            <a:tailEnd type="triangle"/>
          </a:ln>
        </p:spPr>
        <p:txBody>
          <a:bodyPr/>
          <a:lstStyle/>
          <a:p>
            <a:endParaRPr lang="en-US"/>
          </a:p>
        </p:txBody>
      </p:sp>
      <p:sp>
        <p:nvSpPr>
          <p:cNvPr id="166" name="lbl-ví dụ cho bổ"/>
          <p:cNvSpPr txBox="1"/>
          <p:nvPr/>
        </p:nvSpPr>
        <p:spPr>
          <a:xfrm>
            <a:off x="3584448" y="1828800"/>
            <a:ext cx="1005840" cy="201168"/>
          </a:xfrm>
          <a:prstGeom prst="rect">
            <a:avLst/>
          </a:prstGeom>
          <a:noFill/>
          <a:ln/>
        </p:spPr>
        <p:txBody>
          <a:bodyPr wrap="square" lIns="0" tIns="0" rIns="0" bIns="0" rtlCol="0" anchor="ctr"/>
          <a:lstStyle/>
          <a:p>
            <a:pPr marL="0" indent="0" algn="l">
              <a:buNone/>
            </a:pPr>
            <a:r>
              <a:rPr lang="en-US" sz="1000" b="1" dirty="0">
                <a:solidFill>
                  <a:srgbClr val="1C2333"/>
                </a:solidFill>
              </a:rPr>
              <a:t>ví dụ cho bổ đề</a:t>
            </a:r>
            <a:endParaRPr lang="en-US" sz="1000" dirty="0"/>
          </a:p>
        </p:txBody>
      </p:sp>
      <p:sp>
        <p:nvSpPr>
          <p:cNvPr id="167" name="11-14-0"/>
          <p:cNvSpPr/>
          <p:nvPr/>
        </p:nvSpPr>
        <p:spPr>
          <a:xfrm flipV="1">
            <a:off x="2103120" y="1892808"/>
            <a:ext cx="0" cy="1417320"/>
          </a:xfrm>
          <a:prstGeom prst="line">
            <a:avLst/>
          </a:prstGeom>
          <a:noFill/>
          <a:ln w="12700">
            <a:solidFill>
              <a:srgbClr val="2B59D9"/>
            </a:solidFill>
            <a:prstDash val="dash"/>
            <a:tailEnd type="triangle"/>
          </a:ln>
        </p:spPr>
        <p:txBody>
          <a:bodyPr/>
          <a:lstStyle/>
          <a:p>
            <a:endParaRPr lang="en-US"/>
          </a:p>
        </p:txBody>
      </p:sp>
      <p:sp>
        <p:nvSpPr>
          <p:cNvPr id="168" name="lbl-ý gần: thử ở"/>
          <p:cNvSpPr txBox="1"/>
          <p:nvPr/>
        </p:nvSpPr>
        <p:spPr>
          <a:xfrm>
            <a:off x="2194560" y="2331720"/>
            <a:ext cx="960120" cy="201168"/>
          </a:xfrm>
          <a:prstGeom prst="rect">
            <a:avLst/>
          </a:prstGeom>
          <a:noFill/>
          <a:ln/>
        </p:spPr>
        <p:txBody>
          <a:bodyPr wrap="square" lIns="0" tIns="0" rIns="0" bIns="0" rtlCol="0" anchor="ctr"/>
          <a:lstStyle/>
          <a:p>
            <a:pPr marL="0" indent="0" algn="l">
              <a:buNone/>
            </a:pPr>
            <a:r>
              <a:rPr lang="en-US" sz="1000" b="1" dirty="0">
                <a:solidFill>
                  <a:srgbClr val="1C2333"/>
                </a:solidFill>
              </a:rPr>
              <a:t>ý gần: thử ở 14</a:t>
            </a:r>
            <a:endParaRPr lang="en-US" sz="1000" dirty="0"/>
          </a:p>
        </p:txBody>
      </p:sp>
      <p:sp>
        <p:nvSpPr>
          <p:cNvPr id="169" name="7-14-0"/>
          <p:cNvSpPr/>
          <p:nvPr/>
        </p:nvSpPr>
        <p:spPr>
          <a:xfrm>
            <a:off x="9674352" y="3593592"/>
            <a:ext cx="338328" cy="0"/>
          </a:xfrm>
          <a:prstGeom prst="line">
            <a:avLst/>
          </a:prstGeom>
          <a:noFill/>
          <a:ln w="12700">
            <a:solidFill>
              <a:srgbClr val="2B59D9"/>
            </a:solidFill>
            <a:prstDash val="dash"/>
          </a:ln>
        </p:spPr>
        <p:txBody>
          <a:bodyPr/>
          <a:lstStyle/>
          <a:p>
            <a:endParaRPr lang="en-US"/>
          </a:p>
        </p:txBody>
      </p:sp>
      <p:sp>
        <p:nvSpPr>
          <p:cNvPr id="170" name="7-14-1"/>
          <p:cNvSpPr/>
          <p:nvPr/>
        </p:nvSpPr>
        <p:spPr>
          <a:xfrm flipV="1">
            <a:off x="10012680" y="1078992"/>
            <a:ext cx="0" cy="2514600"/>
          </a:xfrm>
          <a:prstGeom prst="line">
            <a:avLst/>
          </a:prstGeom>
          <a:noFill/>
          <a:ln w="12700">
            <a:solidFill>
              <a:srgbClr val="2B59D9"/>
            </a:solidFill>
            <a:prstDash val="dash"/>
          </a:ln>
        </p:spPr>
        <p:txBody>
          <a:bodyPr/>
          <a:lstStyle/>
          <a:p>
            <a:endParaRPr lang="en-US"/>
          </a:p>
        </p:txBody>
      </p:sp>
      <p:sp>
        <p:nvSpPr>
          <p:cNvPr id="171" name="7-14-2"/>
          <p:cNvSpPr/>
          <p:nvPr/>
        </p:nvSpPr>
        <p:spPr>
          <a:xfrm flipH="1">
            <a:off x="1828800" y="1078992"/>
            <a:ext cx="8183880" cy="0"/>
          </a:xfrm>
          <a:prstGeom prst="line">
            <a:avLst/>
          </a:prstGeom>
          <a:noFill/>
          <a:ln w="12700">
            <a:solidFill>
              <a:srgbClr val="2B59D9"/>
            </a:solidFill>
            <a:prstDash val="dash"/>
          </a:ln>
        </p:spPr>
        <p:txBody>
          <a:bodyPr/>
          <a:lstStyle/>
          <a:p>
            <a:endParaRPr lang="en-US"/>
          </a:p>
        </p:txBody>
      </p:sp>
      <p:sp>
        <p:nvSpPr>
          <p:cNvPr id="172" name="7-14-3"/>
          <p:cNvSpPr/>
          <p:nvPr/>
        </p:nvSpPr>
        <p:spPr>
          <a:xfrm>
            <a:off x="1828800" y="1078992"/>
            <a:ext cx="0" cy="246888"/>
          </a:xfrm>
          <a:prstGeom prst="line">
            <a:avLst/>
          </a:prstGeom>
          <a:noFill/>
          <a:ln w="12700">
            <a:solidFill>
              <a:srgbClr val="2B59D9"/>
            </a:solidFill>
            <a:prstDash val="dash"/>
            <a:tailEnd type="triangle"/>
          </a:ln>
        </p:spPr>
        <p:txBody>
          <a:bodyPr/>
          <a:lstStyle/>
          <a:p>
            <a:endParaRPr lang="en-US"/>
          </a:p>
        </p:txBody>
      </p:sp>
      <p:sp>
        <p:nvSpPr>
          <p:cNvPr id="173" name="lbl-ý xa: thử ở "/>
          <p:cNvSpPr txBox="1"/>
          <p:nvPr/>
        </p:nvSpPr>
        <p:spPr>
          <a:xfrm>
            <a:off x="8869680" y="2514600"/>
            <a:ext cx="1051560" cy="201168"/>
          </a:xfrm>
          <a:prstGeom prst="rect">
            <a:avLst/>
          </a:prstGeom>
          <a:noFill/>
          <a:ln/>
        </p:spPr>
        <p:txBody>
          <a:bodyPr wrap="square" lIns="0" tIns="0" rIns="0" bIns="0" rtlCol="0" anchor="ctr"/>
          <a:lstStyle/>
          <a:p>
            <a:pPr marL="0" indent="0" algn="l">
              <a:buNone/>
            </a:pPr>
            <a:r>
              <a:rPr lang="en-US" sz="1000" b="1" dirty="0">
                <a:solidFill>
                  <a:srgbClr val="1C2333"/>
                </a:solidFill>
              </a:rPr>
              <a:t>ý xa: thử ở 14</a:t>
            </a:r>
            <a:endParaRPr lang="en-US" sz="1000" dirty="0"/>
          </a:p>
        </p:txBody>
      </p:sp>
      <p:sp>
        <p:nvSpPr>
          <p:cNvPr id="174" name="10-8-0"/>
          <p:cNvSpPr/>
          <p:nvPr/>
        </p:nvSpPr>
        <p:spPr>
          <a:xfrm flipV="1">
            <a:off x="5486400" y="2962656"/>
            <a:ext cx="0" cy="347472"/>
          </a:xfrm>
          <a:prstGeom prst="line">
            <a:avLst/>
          </a:prstGeom>
          <a:noFill/>
          <a:ln w="31750">
            <a:solidFill>
              <a:srgbClr val="1C2333"/>
            </a:solidFill>
            <a:prstDash val="solid"/>
            <a:tailEnd type="triangle"/>
          </a:ln>
        </p:spPr>
        <p:txBody>
          <a:bodyPr/>
          <a:lstStyle/>
          <a:p>
            <a:endParaRPr lang="en-US"/>
          </a:p>
        </p:txBody>
      </p:sp>
      <p:sp>
        <p:nvSpPr>
          <p:cNvPr id="175" name="so-4"/>
          <p:cNvSpPr/>
          <p:nvPr/>
        </p:nvSpPr>
        <p:spPr>
          <a:xfrm>
            <a:off x="5367528" y="3017520"/>
            <a:ext cx="237744" cy="237744"/>
          </a:xfrm>
          <a:prstGeom prst="ellipse">
            <a:avLst/>
          </a:prstGeom>
          <a:solidFill>
            <a:srgbClr val="1C2333"/>
          </a:solidFill>
          <a:ln w="12700">
            <a:solidFill>
              <a:srgbClr val="1C2333"/>
            </a:solidFill>
            <a:prstDash val="solid"/>
          </a:ln>
        </p:spPr>
        <p:txBody>
          <a:bodyPr/>
          <a:lstStyle/>
          <a:p>
            <a:endParaRPr lang="en-US"/>
          </a:p>
        </p:txBody>
      </p:sp>
      <p:sp>
        <p:nvSpPr>
          <p:cNvPr id="176" name="so-4-t"/>
          <p:cNvSpPr txBox="1"/>
          <p:nvPr/>
        </p:nvSpPr>
        <p:spPr>
          <a:xfrm>
            <a:off x="5367528" y="3017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77" name="lbl-phỏng đoán"/>
          <p:cNvSpPr txBox="1"/>
          <p:nvPr/>
        </p:nvSpPr>
        <p:spPr>
          <a:xfrm>
            <a:off x="5669280" y="3035808"/>
            <a:ext cx="822960" cy="201168"/>
          </a:xfrm>
          <a:prstGeom prst="rect">
            <a:avLst/>
          </a:prstGeom>
          <a:noFill/>
          <a:ln/>
        </p:spPr>
        <p:txBody>
          <a:bodyPr wrap="square" lIns="0" tIns="0" rIns="0" bIns="0" rtlCol="0" anchor="ctr"/>
          <a:lstStyle/>
          <a:p>
            <a:pPr marL="0" indent="0" algn="l">
              <a:buNone/>
            </a:pPr>
            <a:r>
              <a:rPr lang="en-US" sz="1000" b="1" dirty="0">
                <a:solidFill>
                  <a:srgbClr val="1C2333"/>
                </a:solidFill>
              </a:rPr>
              <a:t>phỏng đoán</a:t>
            </a:r>
            <a:endParaRPr lang="en-US" sz="1000" dirty="0"/>
          </a:p>
        </p:txBody>
      </p:sp>
      <p:sp>
        <p:nvSpPr>
          <p:cNvPr id="178" name="8-9-0"/>
          <p:cNvSpPr/>
          <p:nvPr/>
        </p:nvSpPr>
        <p:spPr>
          <a:xfrm flipV="1">
            <a:off x="5486400" y="1892808"/>
            <a:ext cx="0" cy="502920"/>
          </a:xfrm>
          <a:prstGeom prst="line">
            <a:avLst/>
          </a:prstGeom>
          <a:noFill/>
          <a:ln w="31750">
            <a:solidFill>
              <a:srgbClr val="1C2333"/>
            </a:solidFill>
            <a:prstDash val="solid"/>
            <a:tailEnd type="triangle"/>
          </a:ln>
        </p:spPr>
        <p:txBody>
          <a:bodyPr/>
          <a:lstStyle/>
          <a:p>
            <a:endParaRPr lang="en-US"/>
          </a:p>
        </p:txBody>
      </p:sp>
      <p:sp>
        <p:nvSpPr>
          <p:cNvPr id="179" name="so-5"/>
          <p:cNvSpPr/>
          <p:nvPr/>
        </p:nvSpPr>
        <p:spPr>
          <a:xfrm>
            <a:off x="5367528" y="2139696"/>
            <a:ext cx="237744" cy="237744"/>
          </a:xfrm>
          <a:prstGeom prst="ellipse">
            <a:avLst/>
          </a:prstGeom>
          <a:solidFill>
            <a:srgbClr val="1C2333"/>
          </a:solidFill>
          <a:ln w="12700">
            <a:solidFill>
              <a:srgbClr val="1C2333"/>
            </a:solidFill>
            <a:prstDash val="solid"/>
          </a:ln>
        </p:spPr>
        <p:txBody>
          <a:bodyPr/>
          <a:lstStyle/>
          <a:p>
            <a:endParaRPr lang="en-US"/>
          </a:p>
        </p:txBody>
      </p:sp>
      <p:sp>
        <p:nvSpPr>
          <p:cNvPr id="180" name="so-5-t"/>
          <p:cNvSpPr txBox="1"/>
          <p:nvPr/>
        </p:nvSpPr>
        <p:spPr>
          <a:xfrm>
            <a:off x="5367528" y="2139696"/>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181" name="lbl-bổ đề kế tiế"/>
          <p:cNvSpPr txBox="1"/>
          <p:nvPr/>
        </p:nvSpPr>
        <p:spPr>
          <a:xfrm>
            <a:off x="5669280" y="2167128"/>
            <a:ext cx="1005840" cy="201168"/>
          </a:xfrm>
          <a:prstGeom prst="rect">
            <a:avLst/>
          </a:prstGeom>
          <a:noFill/>
          <a:ln/>
        </p:spPr>
        <p:txBody>
          <a:bodyPr wrap="square" lIns="0" tIns="0" rIns="0" bIns="0" rtlCol="0" anchor="ctr"/>
          <a:lstStyle/>
          <a:p>
            <a:pPr marL="0" indent="0" algn="l">
              <a:buNone/>
            </a:pPr>
            <a:r>
              <a:rPr lang="en-US" sz="1000" b="1" dirty="0">
                <a:solidFill>
                  <a:srgbClr val="1C2333"/>
                </a:solidFill>
              </a:rPr>
              <a:t>bổ đề kế tiếp</a:t>
            </a:r>
            <a:endParaRPr lang="en-US" sz="1000" dirty="0"/>
          </a:p>
        </p:txBody>
      </p:sp>
      <p:sp>
        <p:nvSpPr>
          <p:cNvPr id="182" name="nop-3-0"/>
          <p:cNvSpPr/>
          <p:nvPr/>
        </p:nvSpPr>
        <p:spPr>
          <a:xfrm>
            <a:off x="6172200" y="1892808"/>
            <a:ext cx="0" cy="109728"/>
          </a:xfrm>
          <a:prstGeom prst="line">
            <a:avLst/>
          </a:prstGeom>
          <a:noFill/>
          <a:ln w="31750">
            <a:solidFill>
              <a:srgbClr val="1C2333"/>
            </a:solidFill>
            <a:prstDash val="solid"/>
          </a:ln>
        </p:spPr>
        <p:txBody>
          <a:bodyPr/>
          <a:lstStyle/>
          <a:p>
            <a:endParaRPr lang="en-US"/>
          </a:p>
        </p:txBody>
      </p:sp>
      <p:sp>
        <p:nvSpPr>
          <p:cNvPr id="183" name="nop-3-1"/>
          <p:cNvSpPr/>
          <p:nvPr/>
        </p:nvSpPr>
        <p:spPr>
          <a:xfrm>
            <a:off x="6172200" y="2002536"/>
            <a:ext cx="1234440" cy="0"/>
          </a:xfrm>
          <a:prstGeom prst="line">
            <a:avLst/>
          </a:prstGeom>
          <a:noFill/>
          <a:ln w="31750">
            <a:solidFill>
              <a:srgbClr val="1C2333"/>
            </a:solidFill>
            <a:prstDash val="solid"/>
          </a:ln>
        </p:spPr>
        <p:txBody>
          <a:bodyPr/>
          <a:lstStyle/>
          <a:p>
            <a:endParaRPr lang="en-US"/>
          </a:p>
        </p:txBody>
      </p:sp>
      <p:sp>
        <p:nvSpPr>
          <p:cNvPr id="184" name="nop-3-2"/>
          <p:cNvSpPr/>
          <p:nvPr/>
        </p:nvSpPr>
        <p:spPr>
          <a:xfrm>
            <a:off x="7406640" y="2002536"/>
            <a:ext cx="0" cy="2916936"/>
          </a:xfrm>
          <a:prstGeom prst="line">
            <a:avLst/>
          </a:prstGeom>
          <a:noFill/>
          <a:ln w="31750">
            <a:solidFill>
              <a:srgbClr val="1C2333"/>
            </a:solidFill>
            <a:prstDash val="solid"/>
          </a:ln>
        </p:spPr>
        <p:txBody>
          <a:bodyPr/>
          <a:lstStyle/>
          <a:p>
            <a:endParaRPr lang="en-US"/>
          </a:p>
        </p:txBody>
      </p:sp>
      <p:sp>
        <p:nvSpPr>
          <p:cNvPr id="185" name="nop-3-3"/>
          <p:cNvSpPr/>
          <p:nvPr/>
        </p:nvSpPr>
        <p:spPr>
          <a:xfrm flipH="1">
            <a:off x="2103120" y="4919472"/>
            <a:ext cx="5303520" cy="0"/>
          </a:xfrm>
          <a:prstGeom prst="line">
            <a:avLst/>
          </a:prstGeom>
          <a:noFill/>
          <a:ln w="31750">
            <a:solidFill>
              <a:srgbClr val="1C2333"/>
            </a:solidFill>
            <a:prstDash val="solid"/>
          </a:ln>
        </p:spPr>
        <p:txBody>
          <a:bodyPr/>
          <a:lstStyle/>
          <a:p>
            <a:endParaRPr lang="en-US"/>
          </a:p>
        </p:txBody>
      </p:sp>
      <p:sp>
        <p:nvSpPr>
          <p:cNvPr id="186" name="nop-3-4"/>
          <p:cNvSpPr/>
          <p:nvPr/>
        </p:nvSpPr>
        <p:spPr>
          <a:xfrm>
            <a:off x="2103120" y="4919472"/>
            <a:ext cx="0" cy="109728"/>
          </a:xfrm>
          <a:prstGeom prst="line">
            <a:avLst/>
          </a:prstGeom>
          <a:noFill/>
          <a:ln w="31750">
            <a:solidFill>
              <a:srgbClr val="1C2333"/>
            </a:solidFill>
            <a:prstDash val="solid"/>
            <a:tailEnd type="triangle"/>
          </a:ln>
        </p:spPr>
        <p:txBody>
          <a:bodyPr/>
          <a:lstStyle/>
          <a:p>
            <a:endParaRPr lang="en-US"/>
          </a:p>
        </p:txBody>
      </p:sp>
      <p:sp>
        <p:nvSpPr>
          <p:cNvPr id="187" name="nop-2-0"/>
          <p:cNvSpPr/>
          <p:nvPr/>
        </p:nvSpPr>
        <p:spPr>
          <a:xfrm>
            <a:off x="7406640" y="4919472"/>
            <a:ext cx="1463040" cy="0"/>
          </a:xfrm>
          <a:prstGeom prst="line">
            <a:avLst/>
          </a:prstGeom>
          <a:noFill/>
          <a:ln w="31750">
            <a:solidFill>
              <a:srgbClr val="1C2333"/>
            </a:solidFill>
            <a:prstDash val="solid"/>
          </a:ln>
        </p:spPr>
        <p:txBody>
          <a:bodyPr/>
          <a:lstStyle/>
          <a:p>
            <a:endParaRPr lang="en-US"/>
          </a:p>
        </p:txBody>
      </p:sp>
      <p:sp>
        <p:nvSpPr>
          <p:cNvPr id="188" name="nop-2-1"/>
          <p:cNvSpPr/>
          <p:nvPr/>
        </p:nvSpPr>
        <p:spPr>
          <a:xfrm>
            <a:off x="8869680" y="4919472"/>
            <a:ext cx="0" cy="109728"/>
          </a:xfrm>
          <a:prstGeom prst="line">
            <a:avLst/>
          </a:prstGeom>
          <a:noFill/>
          <a:ln w="31750">
            <a:solidFill>
              <a:srgbClr val="1C2333"/>
            </a:solidFill>
            <a:prstDash val="solid"/>
            <a:tailEnd type="triangle"/>
          </a:ln>
        </p:spPr>
        <p:txBody>
          <a:bodyPr/>
          <a:lstStyle/>
          <a:p>
            <a:endParaRPr lang="en-US"/>
          </a:p>
        </p:txBody>
      </p:sp>
      <p:sp>
        <p:nvSpPr>
          <p:cNvPr id="189" name="so-7"/>
          <p:cNvSpPr/>
          <p:nvPr/>
        </p:nvSpPr>
        <p:spPr>
          <a:xfrm>
            <a:off x="7287768" y="3813048"/>
            <a:ext cx="237744" cy="237744"/>
          </a:xfrm>
          <a:prstGeom prst="ellipse">
            <a:avLst/>
          </a:prstGeom>
          <a:solidFill>
            <a:srgbClr val="1C2333"/>
          </a:solidFill>
          <a:ln w="12700">
            <a:solidFill>
              <a:srgbClr val="1C2333"/>
            </a:solidFill>
            <a:prstDash val="solid"/>
          </a:ln>
        </p:spPr>
        <p:txBody>
          <a:bodyPr/>
          <a:lstStyle/>
          <a:p>
            <a:endParaRPr lang="en-US"/>
          </a:p>
        </p:txBody>
      </p:sp>
      <p:sp>
        <p:nvSpPr>
          <p:cNvPr id="190" name="so-7-t"/>
          <p:cNvSpPr txBox="1"/>
          <p:nvPr/>
        </p:nvSpPr>
        <p:spPr>
          <a:xfrm>
            <a:off x="7287768" y="38130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7</a:t>
            </a:r>
            <a:endParaRPr lang="en-US" sz="1000" dirty="0"/>
          </a:p>
        </p:txBody>
      </p:sp>
      <p:sp>
        <p:nvSpPr>
          <p:cNvPr id="191" name="lbl-nộp; trượt t"/>
          <p:cNvSpPr txBox="1"/>
          <p:nvPr/>
        </p:nvSpPr>
        <p:spPr>
          <a:xfrm>
            <a:off x="7516368" y="2788920"/>
            <a:ext cx="1600200" cy="201168"/>
          </a:xfrm>
          <a:prstGeom prst="rect">
            <a:avLst/>
          </a:prstGeom>
          <a:noFill/>
          <a:ln/>
        </p:spPr>
        <p:txBody>
          <a:bodyPr wrap="square" lIns="0" tIns="0" rIns="0" bIns="0" rtlCol="0" anchor="ctr"/>
          <a:lstStyle/>
          <a:p>
            <a:pPr marL="0" indent="0" algn="l">
              <a:buNone/>
            </a:pPr>
            <a:r>
              <a:rPr lang="en-US" sz="1000" b="1" dirty="0">
                <a:solidFill>
                  <a:srgbClr val="1C2333"/>
                </a:solidFill>
              </a:rPr>
              <a:t>nộp; trượt thì trả về Số 9</a:t>
            </a:r>
            <a:endParaRPr lang="en-US" sz="1000" dirty="0"/>
          </a:p>
        </p:txBody>
      </p:sp>
      <p:sp>
        <p:nvSpPr>
          <p:cNvPr id="192" name="2-1-0"/>
          <p:cNvSpPr/>
          <p:nvPr/>
        </p:nvSpPr>
        <p:spPr>
          <a:xfrm>
            <a:off x="8869680" y="5596128"/>
            <a:ext cx="0" cy="530352"/>
          </a:xfrm>
          <a:prstGeom prst="line">
            <a:avLst/>
          </a:prstGeom>
          <a:noFill/>
          <a:ln w="31750">
            <a:solidFill>
              <a:srgbClr val="1C2333"/>
            </a:solidFill>
            <a:prstDash val="solid"/>
          </a:ln>
        </p:spPr>
        <p:txBody>
          <a:bodyPr/>
          <a:lstStyle/>
          <a:p>
            <a:endParaRPr lang="en-US"/>
          </a:p>
        </p:txBody>
      </p:sp>
      <p:sp>
        <p:nvSpPr>
          <p:cNvPr id="193" name="2-1-1"/>
          <p:cNvSpPr/>
          <p:nvPr/>
        </p:nvSpPr>
        <p:spPr>
          <a:xfrm flipH="1">
            <a:off x="6291072" y="6126480"/>
            <a:ext cx="2578608" cy="0"/>
          </a:xfrm>
          <a:prstGeom prst="line">
            <a:avLst/>
          </a:prstGeom>
          <a:noFill/>
          <a:ln w="31750">
            <a:solidFill>
              <a:srgbClr val="1C2333"/>
            </a:solidFill>
            <a:prstDash val="solid"/>
            <a:tailEnd type="triangle"/>
          </a:ln>
        </p:spPr>
        <p:txBody>
          <a:bodyPr/>
          <a:lstStyle/>
          <a:p>
            <a:endParaRPr lang="en-US"/>
          </a:p>
        </p:txBody>
      </p:sp>
      <p:sp>
        <p:nvSpPr>
          <p:cNvPr id="194" name="3-1-0"/>
          <p:cNvSpPr/>
          <p:nvPr/>
        </p:nvSpPr>
        <p:spPr>
          <a:xfrm>
            <a:off x="2103120" y="5596128"/>
            <a:ext cx="0" cy="530352"/>
          </a:xfrm>
          <a:prstGeom prst="line">
            <a:avLst/>
          </a:prstGeom>
          <a:noFill/>
          <a:ln w="31750">
            <a:solidFill>
              <a:srgbClr val="1C2333"/>
            </a:solidFill>
            <a:prstDash val="solid"/>
          </a:ln>
        </p:spPr>
        <p:txBody>
          <a:bodyPr/>
          <a:lstStyle/>
          <a:p>
            <a:endParaRPr lang="en-US"/>
          </a:p>
        </p:txBody>
      </p:sp>
      <p:sp>
        <p:nvSpPr>
          <p:cNvPr id="195" name="3-1-1"/>
          <p:cNvSpPr/>
          <p:nvPr/>
        </p:nvSpPr>
        <p:spPr>
          <a:xfrm>
            <a:off x="2103120" y="6126480"/>
            <a:ext cx="2587752" cy="0"/>
          </a:xfrm>
          <a:prstGeom prst="line">
            <a:avLst/>
          </a:prstGeom>
          <a:noFill/>
          <a:ln w="31750">
            <a:solidFill>
              <a:srgbClr val="1C2333"/>
            </a:solidFill>
            <a:prstDash val="solid"/>
            <a:tailEnd type="triangle"/>
          </a:ln>
        </p:spPr>
        <p:txBody>
          <a:bodyPr/>
          <a:lstStyle/>
          <a:p>
            <a:endParaRPr lang="en-US"/>
          </a:p>
        </p:txBody>
      </p:sp>
      <p:sp>
        <p:nvSpPr>
          <p:cNvPr id="196" name="so-8"/>
          <p:cNvSpPr/>
          <p:nvPr/>
        </p:nvSpPr>
        <p:spPr>
          <a:xfrm>
            <a:off x="7516368" y="6007608"/>
            <a:ext cx="237744" cy="237744"/>
          </a:xfrm>
          <a:prstGeom prst="ellipse">
            <a:avLst/>
          </a:prstGeom>
          <a:solidFill>
            <a:srgbClr val="1C2333"/>
          </a:solidFill>
          <a:ln w="12700">
            <a:solidFill>
              <a:srgbClr val="1C2333"/>
            </a:solidFill>
            <a:prstDash val="solid"/>
          </a:ln>
        </p:spPr>
        <p:txBody>
          <a:bodyPr/>
          <a:lstStyle/>
          <a:p>
            <a:endParaRPr lang="en-US"/>
          </a:p>
        </p:txBody>
      </p:sp>
      <p:sp>
        <p:nvSpPr>
          <p:cNvPr id="197" name="so-8-t"/>
          <p:cNvSpPr txBox="1"/>
          <p:nvPr/>
        </p:nvSpPr>
        <p:spPr>
          <a:xfrm>
            <a:off x="7516368" y="600760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8</a:t>
            </a:r>
            <a:endParaRPr lang="en-US" sz="1000" dirty="0"/>
          </a:p>
        </p:txBody>
      </p:sp>
      <p:sp>
        <p:nvSpPr>
          <p:cNvPr id="198" name="lbl-cả hai không"/>
          <p:cNvSpPr txBox="1"/>
          <p:nvPr/>
        </p:nvSpPr>
        <p:spPr>
          <a:xfrm>
            <a:off x="6583680" y="5815584"/>
            <a:ext cx="1371600" cy="201168"/>
          </a:xfrm>
          <a:prstGeom prst="rect">
            <a:avLst/>
          </a:prstGeom>
          <a:noFill/>
          <a:ln/>
        </p:spPr>
        <p:txBody>
          <a:bodyPr wrap="square" lIns="0" tIns="0" rIns="0" bIns="0" rtlCol="0" anchor="ctr"/>
          <a:lstStyle/>
          <a:p>
            <a:pPr marL="0" indent="0" algn="l">
              <a:buNone/>
            </a:pPr>
            <a:r>
              <a:rPr lang="en-US" sz="1000" b="1" dirty="0">
                <a:solidFill>
                  <a:srgbClr val="1C2333"/>
                </a:solidFill>
              </a:rPr>
              <a:t>cả hai không phá được</a:t>
            </a:r>
            <a:endParaRPr lang="en-US" sz="1000" dirty="0"/>
          </a:p>
        </p:txBody>
      </p:sp>
      <p:sp>
        <p:nvSpPr>
          <p:cNvPr id="199" name="1-kho-0"/>
          <p:cNvSpPr/>
          <p:nvPr/>
        </p:nvSpPr>
        <p:spPr>
          <a:xfrm>
            <a:off x="6291072" y="6291072"/>
            <a:ext cx="4233672" cy="0"/>
          </a:xfrm>
          <a:prstGeom prst="line">
            <a:avLst/>
          </a:prstGeom>
          <a:noFill/>
          <a:ln w="28575">
            <a:solidFill>
              <a:srgbClr val="157A55"/>
            </a:solidFill>
            <a:prstDash val="solid"/>
            <a:tailEnd type="triangle"/>
          </a:ln>
        </p:spPr>
        <p:txBody>
          <a:bodyPr/>
          <a:lstStyle/>
          <a:p>
            <a:endParaRPr lang="en-US"/>
          </a:p>
        </p:txBody>
      </p:sp>
      <p:sp>
        <p:nvSpPr>
          <p:cNvPr id="200" name="so-9"/>
          <p:cNvSpPr/>
          <p:nvPr/>
        </p:nvSpPr>
        <p:spPr>
          <a:xfrm>
            <a:off x="9070848" y="6172200"/>
            <a:ext cx="237744" cy="237744"/>
          </a:xfrm>
          <a:prstGeom prst="ellipse">
            <a:avLst/>
          </a:prstGeom>
          <a:solidFill>
            <a:srgbClr val="1C2333"/>
          </a:solidFill>
          <a:ln w="12700">
            <a:solidFill>
              <a:srgbClr val="1C2333"/>
            </a:solidFill>
            <a:prstDash val="solid"/>
          </a:ln>
        </p:spPr>
        <p:txBody>
          <a:bodyPr/>
          <a:lstStyle/>
          <a:p>
            <a:endParaRPr lang="en-US"/>
          </a:p>
        </p:txBody>
      </p:sp>
      <p:sp>
        <p:nvSpPr>
          <p:cNvPr id="201" name="so-9-t"/>
          <p:cNvSpPr txBox="1"/>
          <p:nvPr/>
        </p:nvSpPr>
        <p:spPr>
          <a:xfrm>
            <a:off x="9070848" y="617220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9</a:t>
            </a:r>
            <a:endParaRPr lang="en-US" sz="1000" dirty="0"/>
          </a:p>
        </p:txBody>
      </p:sp>
      <p:sp>
        <p:nvSpPr>
          <p:cNvPr id="202" name="lbl-đạt: lưu"/>
          <p:cNvSpPr txBox="1"/>
          <p:nvPr/>
        </p:nvSpPr>
        <p:spPr>
          <a:xfrm>
            <a:off x="9418320" y="6455664"/>
            <a:ext cx="822960" cy="201168"/>
          </a:xfrm>
          <a:prstGeom prst="rect">
            <a:avLst/>
          </a:prstGeom>
          <a:noFill/>
          <a:ln/>
        </p:spPr>
        <p:txBody>
          <a:bodyPr wrap="square" lIns="0" tIns="0" rIns="0" bIns="0" rtlCol="0" anchor="ctr"/>
          <a:lstStyle/>
          <a:p>
            <a:pPr marL="0" indent="0" algn="r">
              <a:buNone/>
            </a:pPr>
            <a:r>
              <a:rPr lang="en-US" sz="1000" b="1" dirty="0">
                <a:solidFill>
                  <a:srgbClr val="157A55"/>
                </a:solidFill>
              </a:rPr>
              <a:t>đạt: lưu</a:t>
            </a:r>
            <a:endParaRPr lang="en-US" sz="1000" dirty="0"/>
          </a:p>
        </p:txBody>
      </p:sp>
      <p:sp>
        <p:nvSpPr>
          <p:cNvPr id="203" name="1-6-0"/>
          <p:cNvSpPr/>
          <p:nvPr/>
        </p:nvSpPr>
        <p:spPr>
          <a:xfrm flipH="1">
            <a:off x="685800" y="6291072"/>
            <a:ext cx="4005072" cy="0"/>
          </a:xfrm>
          <a:prstGeom prst="line">
            <a:avLst/>
          </a:prstGeom>
          <a:noFill/>
          <a:ln w="28575">
            <a:solidFill>
              <a:srgbClr val="157A55"/>
            </a:solidFill>
            <a:prstDash val="solid"/>
          </a:ln>
        </p:spPr>
        <p:txBody>
          <a:bodyPr/>
          <a:lstStyle/>
          <a:p>
            <a:endParaRPr lang="en-US"/>
          </a:p>
        </p:txBody>
      </p:sp>
      <p:sp>
        <p:nvSpPr>
          <p:cNvPr id="204" name="1-6-1"/>
          <p:cNvSpPr/>
          <p:nvPr/>
        </p:nvSpPr>
        <p:spPr>
          <a:xfrm flipV="1">
            <a:off x="685800" y="4663440"/>
            <a:ext cx="0" cy="1627632"/>
          </a:xfrm>
          <a:prstGeom prst="line">
            <a:avLst/>
          </a:prstGeom>
          <a:noFill/>
          <a:ln w="28575">
            <a:solidFill>
              <a:srgbClr val="157A55"/>
            </a:solidFill>
            <a:prstDash val="solid"/>
          </a:ln>
        </p:spPr>
        <p:txBody>
          <a:bodyPr/>
          <a:lstStyle/>
          <a:p>
            <a:endParaRPr lang="en-US"/>
          </a:p>
        </p:txBody>
      </p:sp>
      <p:sp>
        <p:nvSpPr>
          <p:cNvPr id="205" name="1-6-2"/>
          <p:cNvSpPr/>
          <p:nvPr/>
        </p:nvSpPr>
        <p:spPr>
          <a:xfrm>
            <a:off x="685800" y="4663440"/>
            <a:ext cx="4005072" cy="0"/>
          </a:xfrm>
          <a:prstGeom prst="line">
            <a:avLst/>
          </a:prstGeom>
          <a:noFill/>
          <a:ln w="28575">
            <a:solidFill>
              <a:srgbClr val="157A55"/>
            </a:solidFill>
            <a:prstDash val="solid"/>
            <a:tailEnd type="triangle"/>
          </a:ln>
        </p:spPr>
        <p:txBody>
          <a:bodyPr/>
          <a:lstStyle/>
          <a:p>
            <a:endParaRPr lang="en-US"/>
          </a:p>
        </p:txBody>
      </p:sp>
      <p:sp>
        <p:nvSpPr>
          <p:cNvPr id="206" name="so-10"/>
          <p:cNvSpPr/>
          <p:nvPr/>
        </p:nvSpPr>
        <p:spPr>
          <a:xfrm>
            <a:off x="566928" y="5367528"/>
            <a:ext cx="237744" cy="237744"/>
          </a:xfrm>
          <a:prstGeom prst="ellipse">
            <a:avLst/>
          </a:prstGeom>
          <a:solidFill>
            <a:srgbClr val="1C2333"/>
          </a:solidFill>
          <a:ln w="12700">
            <a:solidFill>
              <a:srgbClr val="1C2333"/>
            </a:solidFill>
            <a:prstDash val="solid"/>
          </a:ln>
        </p:spPr>
        <p:txBody>
          <a:bodyPr/>
          <a:lstStyle/>
          <a:p>
            <a:endParaRPr lang="en-US"/>
          </a:p>
        </p:txBody>
      </p:sp>
      <p:sp>
        <p:nvSpPr>
          <p:cNvPr id="207" name="so-10-t"/>
          <p:cNvSpPr txBox="1"/>
          <p:nvPr/>
        </p:nvSpPr>
        <p:spPr>
          <a:xfrm>
            <a:off x="566928" y="536752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rPr>
              <a:t>10</a:t>
            </a:r>
            <a:endParaRPr lang="en-US" sz="1000" dirty="0"/>
          </a:p>
        </p:txBody>
      </p:sp>
      <p:sp>
        <p:nvSpPr>
          <p:cNvPr id="208" name="lbl-đạt: ghi kết"/>
          <p:cNvSpPr txBox="1"/>
          <p:nvPr/>
        </p:nvSpPr>
        <p:spPr>
          <a:xfrm>
            <a:off x="804672" y="5632704"/>
            <a:ext cx="1097280" cy="201168"/>
          </a:xfrm>
          <a:prstGeom prst="rect">
            <a:avLst/>
          </a:prstGeom>
          <a:noFill/>
          <a:ln/>
        </p:spPr>
        <p:txBody>
          <a:bodyPr wrap="square" lIns="0" tIns="0" rIns="0" bIns="0" rtlCol="0" anchor="ctr"/>
          <a:lstStyle/>
          <a:p>
            <a:pPr marL="0" indent="0" algn="r">
              <a:buNone/>
            </a:pPr>
            <a:r>
              <a:rPr lang="en-US" sz="1000" b="1" dirty="0">
                <a:solidFill>
                  <a:srgbClr val="157A55"/>
                </a:solidFill>
              </a:rPr>
              <a:t>đạt: ghi kết quả</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Pha 0: xây từ sân nhà</a:t>
            </a:r>
          </a:p>
        </p:txBody>
      </p:sp>
      <p:sp>
        <p:nvSpPr>
          <p:cNvPr id="3" name="Rectangle 2"/>
          <p:cNvSpPr/>
          <p:nvPr/>
        </p:nvSpPr>
        <p:spPr>
          <a:xfrm>
            <a:off x="457200" y="1188720"/>
            <a:ext cx="7223760" cy="149504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09728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457200" y="2683764"/>
            <a:ext cx="7223760" cy="19933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2729484"/>
            <a:ext cx="109728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457200" y="4677156"/>
            <a:ext cx="7223760" cy="1495043"/>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722876"/>
            <a:ext cx="109728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sp>
        <p:nvSpPr>
          <p:cNvPr id="9" name="TextBox 8"/>
          <p:cNvSpPr txBox="1"/>
          <p:nvPr/>
        </p:nvSpPr>
        <p:spPr>
          <a:xfrm>
            <a:off x="457200" y="6400800"/>
            <a:ext cx="7223760" cy="274320"/>
          </a:xfrm>
          <a:prstGeom prst="rect">
            <a:avLst/>
          </a:prstGeom>
          <a:noFill/>
        </p:spPr>
        <p:txBody>
          <a:bodyPr wrap="square" lIns="0" rIns="0" tIns="0" bIns="0" anchor="t">
            <a:spAutoFit/>
          </a:bodyPr>
          <a:lstStyle/>
          <a:p>
            <a:pPr algn="l"/>
            <a:r>
              <a:rPr sz="1200" b="0" i="1">
                <a:solidFill>
                  <a:srgbClr val="394152"/>
                </a:solidFill>
                <a:latin typeface="Calibri"/>
              </a:rPr>
              <a:t>Thủ môn chơi chân: khoá đề và chốt định nghĩa trước khi ai viết chứng minh.</a:t>
            </a:r>
          </a:p>
        </p:txBody>
      </p:sp>
      <p:grpSp>
        <p:nvGrpSpPr>
          <p:cNvPr id="63" name="Số 11"/>
          <p:cNvGrpSpPr/>
          <p:nvPr/>
        </p:nvGrpSpPr>
        <p:grpSpPr>
          <a:xfrm>
            <a:off x="731520" y="3337560"/>
            <a:ext cx="1645920" cy="740664"/>
            <a:chOff x="731520" y="3337560"/>
            <a:chExt cx="1645920" cy="740664"/>
          </a:xfrm>
        </p:grpSpPr>
        <p:sp>
          <p:nvSpPr>
            <p:cNvPr id="19" name="Oval 18"/>
            <p:cNvSpPr/>
            <p:nvPr/>
          </p:nvSpPr>
          <p:spPr>
            <a:xfrm>
              <a:off x="1325880" y="33375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11</a:t>
              </a:r>
            </a:p>
          </p:txBody>
        </p:sp>
        <p:sp>
          <p:nvSpPr>
            <p:cNvPr id="20" name="TextBox 19"/>
            <p:cNvSpPr txBox="1"/>
            <p:nvPr/>
          </p:nvSpPr>
          <p:spPr>
            <a:xfrm>
              <a:off x="731520" y="382219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kề</a:t>
              </a:r>
            </a:p>
          </p:txBody>
        </p:sp>
      </p:grpSp>
      <p:grpSp>
        <p:nvGrpSpPr>
          <p:cNvPr id="64" name="Số 9"/>
          <p:cNvGrpSpPr/>
          <p:nvPr/>
        </p:nvGrpSpPr>
        <p:grpSpPr>
          <a:xfrm>
            <a:off x="3246120" y="1417320"/>
            <a:ext cx="1645920" cy="740664"/>
            <a:chOff x="3246120" y="1417320"/>
            <a:chExt cx="1645920" cy="740664"/>
          </a:xfrm>
        </p:grpSpPr>
        <p:sp>
          <p:nvSpPr>
            <p:cNvPr id="21" name="Oval 20"/>
            <p:cNvSpPr/>
            <p:nvPr/>
          </p:nvSpPr>
          <p:spPr>
            <a:xfrm>
              <a:off x="3840480" y="141732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9</a:t>
              </a:r>
            </a:p>
          </p:txBody>
        </p:sp>
        <p:sp>
          <p:nvSpPr>
            <p:cNvPr id="22" name="TextBox 21"/>
            <p:cNvSpPr txBox="1"/>
            <p:nvPr/>
          </p:nvSpPr>
          <p:spPr>
            <a:xfrm>
              <a:off x="3246120" y="1901952"/>
              <a:ext cx="1645920" cy="256032"/>
            </a:xfrm>
            <a:prstGeom prst="rect">
              <a:avLst/>
            </a:prstGeom>
            <a:noFill/>
          </p:spPr>
          <p:txBody>
            <a:bodyPr wrap="square" lIns="0" rIns="0" tIns="0" bIns="0" anchor="t">
              <a:spAutoFit/>
            </a:bodyPr>
            <a:lstStyle/>
            <a:p>
              <a:pPr algn="ctr"/>
              <a:r>
                <a:rPr sz="1150" b="1" i="0">
                  <a:solidFill>
                    <a:srgbClr val="B8BEC9"/>
                  </a:solidFill>
                  <a:latin typeface="Calibri"/>
                </a:rPr>
                <a:t>Chứng minh</a:t>
              </a:r>
            </a:p>
          </p:txBody>
        </p:sp>
      </p:grpSp>
      <p:grpSp>
        <p:nvGrpSpPr>
          <p:cNvPr id="65" name="Số 7"/>
          <p:cNvGrpSpPr/>
          <p:nvPr/>
        </p:nvGrpSpPr>
        <p:grpSpPr>
          <a:xfrm>
            <a:off x="5852160" y="2971800"/>
            <a:ext cx="1645920" cy="740664"/>
            <a:chOff x="5852160" y="2971800"/>
            <a:chExt cx="1645920" cy="740664"/>
          </a:xfrm>
        </p:grpSpPr>
        <p:sp>
          <p:nvSpPr>
            <p:cNvPr id="23" name="Oval 22"/>
            <p:cNvSpPr/>
            <p:nvPr/>
          </p:nvSpPr>
          <p:spPr>
            <a:xfrm>
              <a:off x="6446520" y="297180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7</a:t>
              </a:r>
            </a:p>
          </p:txBody>
        </p:sp>
        <p:sp>
          <p:nvSpPr>
            <p:cNvPr id="24" name="TextBox 23"/>
            <p:cNvSpPr txBox="1"/>
            <p:nvPr/>
          </p:nvSpPr>
          <p:spPr>
            <a:xfrm>
              <a:off x="5852160" y="345643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xa</a:t>
              </a:r>
            </a:p>
          </p:txBody>
        </p:sp>
      </p:grpSp>
      <p:grpSp>
        <p:nvGrpSpPr>
          <p:cNvPr id="66" name="Số 10"/>
          <p:cNvGrpSpPr/>
          <p:nvPr/>
        </p:nvGrpSpPr>
        <p:grpSpPr>
          <a:xfrm>
            <a:off x="3246120" y="3337560"/>
            <a:ext cx="1645920" cy="740664"/>
            <a:chOff x="3246120" y="3337560"/>
            <a:chExt cx="1645920" cy="740664"/>
          </a:xfrm>
        </p:grpSpPr>
        <p:sp>
          <p:nvSpPr>
            <p:cNvPr id="25" name="Oval 24"/>
            <p:cNvSpPr/>
            <p:nvPr/>
          </p:nvSpPr>
          <p:spPr>
            <a:xfrm>
              <a:off x="3840480" y="333756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10</a:t>
              </a:r>
            </a:p>
          </p:txBody>
        </p:sp>
        <p:sp>
          <p:nvSpPr>
            <p:cNvPr id="26" name="TextBox 25"/>
            <p:cNvSpPr txBox="1"/>
            <p:nvPr/>
          </p:nvSpPr>
          <p:spPr>
            <a:xfrm>
              <a:off x="3246120" y="3822192"/>
              <a:ext cx="1645920" cy="256032"/>
            </a:xfrm>
            <a:prstGeom prst="rect">
              <a:avLst/>
            </a:prstGeom>
            <a:noFill/>
          </p:spPr>
          <p:txBody>
            <a:bodyPr wrap="square" lIns="0" rIns="0" tIns="0" bIns="0" anchor="t">
              <a:spAutoFit/>
            </a:bodyPr>
            <a:lstStyle/>
            <a:p>
              <a:pPr algn="ctr"/>
              <a:r>
                <a:rPr sz="1150" b="1" i="0">
                  <a:solidFill>
                    <a:srgbClr val="1C2333"/>
                  </a:solidFill>
                  <a:latin typeface="Calibri"/>
                </a:rPr>
                <a:t>Trong ngành</a:t>
              </a:r>
            </a:p>
          </p:txBody>
        </p:sp>
      </p:grpSp>
      <p:grpSp>
        <p:nvGrpSpPr>
          <p:cNvPr id="67" name="Số 8"/>
          <p:cNvGrpSpPr/>
          <p:nvPr/>
        </p:nvGrpSpPr>
        <p:grpSpPr>
          <a:xfrm>
            <a:off x="4297680" y="2514600"/>
            <a:ext cx="1645920" cy="740664"/>
            <a:chOff x="4297680" y="2514600"/>
            <a:chExt cx="1645920" cy="740664"/>
          </a:xfrm>
        </p:grpSpPr>
        <p:sp>
          <p:nvSpPr>
            <p:cNvPr id="27" name="Oval 26"/>
            <p:cNvSpPr/>
            <p:nvPr/>
          </p:nvSpPr>
          <p:spPr>
            <a:xfrm>
              <a:off x="4892040" y="251460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8</a:t>
              </a:r>
            </a:p>
          </p:txBody>
        </p:sp>
        <p:sp>
          <p:nvSpPr>
            <p:cNvPr id="28" name="TextBox 27"/>
            <p:cNvSpPr txBox="1"/>
            <p:nvPr/>
          </p:nvSpPr>
          <p:spPr>
            <a:xfrm>
              <a:off x="4297680" y="2999232"/>
              <a:ext cx="1645920" cy="256032"/>
            </a:xfrm>
            <a:prstGeom prst="rect">
              <a:avLst/>
            </a:prstGeom>
            <a:noFill/>
          </p:spPr>
          <p:txBody>
            <a:bodyPr wrap="square" lIns="0" rIns="0" tIns="0" bIns="0" anchor="t">
              <a:spAutoFit/>
            </a:bodyPr>
            <a:lstStyle/>
            <a:p>
              <a:pPr algn="ctr"/>
              <a:r>
                <a:rPr sz="1150" b="1" i="0">
                  <a:solidFill>
                    <a:srgbClr val="1C2333"/>
                  </a:solidFill>
                  <a:latin typeface="Calibri"/>
                </a:rPr>
                <a:t>Blueprint</a:t>
              </a:r>
            </a:p>
          </p:txBody>
        </p:sp>
      </p:grpSp>
      <p:grpSp>
        <p:nvGrpSpPr>
          <p:cNvPr id="68" name="Số 14"/>
          <p:cNvGrpSpPr/>
          <p:nvPr/>
        </p:nvGrpSpPr>
        <p:grpSpPr>
          <a:xfrm>
            <a:off x="5760720" y="4087368"/>
            <a:ext cx="1645920" cy="740664"/>
            <a:chOff x="5760720" y="4087368"/>
            <a:chExt cx="1645920" cy="740664"/>
          </a:xfrm>
        </p:grpSpPr>
        <p:sp>
          <p:nvSpPr>
            <p:cNvPr id="29" name="Oval 28"/>
            <p:cNvSpPr/>
            <p:nvPr/>
          </p:nvSpPr>
          <p:spPr>
            <a:xfrm>
              <a:off x="6355080" y="4087368"/>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14</a:t>
              </a:r>
            </a:p>
          </p:txBody>
        </p:sp>
        <p:sp>
          <p:nvSpPr>
            <p:cNvPr id="30" name="TextBox 29"/>
            <p:cNvSpPr txBox="1"/>
            <p:nvPr/>
          </p:nvSpPr>
          <p:spPr>
            <a:xfrm>
              <a:off x="5760720" y="4572000"/>
              <a:ext cx="1645920" cy="256032"/>
            </a:xfrm>
            <a:prstGeom prst="rect">
              <a:avLst/>
            </a:prstGeom>
            <a:noFill/>
          </p:spPr>
          <p:txBody>
            <a:bodyPr wrap="square" lIns="0" rIns="0" tIns="0" bIns="0" anchor="t">
              <a:spAutoFit/>
            </a:bodyPr>
            <a:lstStyle/>
            <a:p>
              <a:pPr algn="ctr"/>
              <a:r>
                <a:rPr sz="1150" b="1" i="0">
                  <a:solidFill>
                    <a:srgbClr val="1C2333"/>
                  </a:solidFill>
                  <a:latin typeface="Calibri"/>
                </a:rPr>
                <a:t>Ví dụ</a:t>
              </a:r>
            </a:p>
          </p:txBody>
        </p:sp>
      </p:grpSp>
      <p:grpSp>
        <p:nvGrpSpPr>
          <p:cNvPr id="69" name="Số 6"/>
          <p:cNvGrpSpPr/>
          <p:nvPr/>
        </p:nvGrpSpPr>
        <p:grpSpPr>
          <a:xfrm>
            <a:off x="3246120" y="4160520"/>
            <a:ext cx="1645920" cy="740664"/>
            <a:chOff x="3246120" y="4160520"/>
            <a:chExt cx="1645920" cy="740664"/>
          </a:xfrm>
        </p:grpSpPr>
        <p:sp>
          <p:nvSpPr>
            <p:cNvPr id="31" name="Oval 30"/>
            <p:cNvSpPr/>
            <p:nvPr/>
          </p:nvSpPr>
          <p:spPr>
            <a:xfrm>
              <a:off x="3840480" y="4160520"/>
              <a:ext cx="457200" cy="457200"/>
            </a:xfrm>
            <a:prstGeom prst="ellipse">
              <a:avLst/>
            </a:prstGeom>
            <a:solidFill>
              <a:srgbClr val="1C2333"/>
            </a:solidFill>
            <a:ln w="1905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2" name="TextBox 31"/>
            <p:cNvSpPr txBox="1"/>
            <p:nvPr/>
          </p:nvSpPr>
          <p:spPr>
            <a:xfrm>
              <a:off x="3246120" y="4645152"/>
              <a:ext cx="1645920" cy="256032"/>
            </a:xfrm>
            <a:prstGeom prst="rect">
              <a:avLst/>
            </a:prstGeom>
            <a:noFill/>
          </p:spPr>
          <p:txBody>
            <a:bodyPr wrap="square" lIns="0" rIns="0" tIns="0" bIns="0" anchor="t">
              <a:spAutoFit/>
            </a:bodyPr>
            <a:lstStyle/>
            <a:p>
              <a:pPr algn="ctr"/>
              <a:r>
                <a:rPr sz="1150" b="1" i="0">
                  <a:solidFill>
                    <a:srgbClr val="1C2333"/>
                  </a:solidFill>
                  <a:latin typeface="Calibri"/>
                </a:rPr>
                <a:t>Điều phối</a:t>
              </a:r>
            </a:p>
          </p:txBody>
        </p:sp>
      </p:grpSp>
      <p:grpSp>
        <p:nvGrpSpPr>
          <p:cNvPr id="70" name="Số 3"/>
          <p:cNvGrpSpPr/>
          <p:nvPr/>
        </p:nvGrpSpPr>
        <p:grpSpPr>
          <a:xfrm>
            <a:off x="731520" y="4937760"/>
            <a:ext cx="1645920" cy="740664"/>
            <a:chOff x="731520" y="4937760"/>
            <a:chExt cx="1645920" cy="740664"/>
          </a:xfrm>
        </p:grpSpPr>
        <p:sp>
          <p:nvSpPr>
            <p:cNvPr id="33" name="Oval 32"/>
            <p:cNvSpPr/>
            <p:nvPr/>
          </p:nvSpPr>
          <p:spPr>
            <a:xfrm>
              <a:off x="1325880" y="493776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4" name="TextBox 33"/>
            <p:cNvSpPr txBox="1"/>
            <p:nvPr/>
          </p:nvSpPr>
          <p:spPr>
            <a:xfrm>
              <a:off x="731520" y="5422392"/>
              <a:ext cx="1645920" cy="256032"/>
            </a:xfrm>
            <a:prstGeom prst="rect">
              <a:avLst/>
            </a:prstGeom>
            <a:noFill/>
          </p:spPr>
          <p:txBody>
            <a:bodyPr wrap="square" lIns="0" rIns="0" tIns="0" bIns="0" anchor="t">
              <a:spAutoFit/>
            </a:bodyPr>
            <a:lstStyle/>
            <a:p>
              <a:pPr algn="ctr"/>
              <a:r>
                <a:rPr sz="1150" b="1" i="0">
                  <a:solidFill>
                    <a:srgbClr val="1C2333"/>
                  </a:solidFill>
                  <a:latin typeface="Calibri"/>
                </a:rPr>
                <a:t>Tính mới</a:t>
              </a:r>
            </a:p>
          </p:txBody>
        </p:sp>
      </p:grpSp>
      <p:grpSp>
        <p:nvGrpSpPr>
          <p:cNvPr id="71" name="Số 4"/>
          <p:cNvGrpSpPr/>
          <p:nvPr/>
        </p:nvGrpSpPr>
        <p:grpSpPr>
          <a:xfrm>
            <a:off x="5760720" y="1554480"/>
            <a:ext cx="1645920" cy="740664"/>
            <a:chOff x="5760720" y="1554480"/>
            <a:chExt cx="1645920" cy="740664"/>
          </a:xfrm>
        </p:grpSpPr>
        <p:sp>
          <p:nvSpPr>
            <p:cNvPr id="35" name="Oval 34"/>
            <p:cNvSpPr/>
            <p:nvPr/>
          </p:nvSpPr>
          <p:spPr>
            <a:xfrm>
              <a:off x="6355080" y="155448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4</a:t>
              </a:r>
            </a:p>
          </p:txBody>
        </p:sp>
        <p:sp>
          <p:nvSpPr>
            <p:cNvPr id="36" name="TextBox 35"/>
            <p:cNvSpPr txBox="1"/>
            <p:nvPr/>
          </p:nvSpPr>
          <p:spPr>
            <a:xfrm>
              <a:off x="5760720" y="2039112"/>
              <a:ext cx="1645920" cy="256032"/>
            </a:xfrm>
            <a:prstGeom prst="rect">
              <a:avLst/>
            </a:prstGeom>
            <a:noFill/>
          </p:spPr>
          <p:txBody>
            <a:bodyPr wrap="square" lIns="0" rIns="0" tIns="0" bIns="0" anchor="t">
              <a:spAutoFit/>
            </a:bodyPr>
            <a:lstStyle/>
            <a:p>
              <a:pPr algn="ctr"/>
              <a:r>
                <a:rPr sz="1150" b="1" i="0">
                  <a:solidFill>
                    <a:srgbClr val="B8BEC9"/>
                  </a:solidFill>
                  <a:latin typeface="Calibri"/>
                </a:rPr>
                <a:t>Phá</a:t>
              </a:r>
            </a:p>
          </p:txBody>
        </p:sp>
      </p:grpSp>
      <p:grpSp>
        <p:nvGrpSpPr>
          <p:cNvPr id="72" name="Số 2"/>
          <p:cNvGrpSpPr/>
          <p:nvPr/>
        </p:nvGrpSpPr>
        <p:grpSpPr>
          <a:xfrm>
            <a:off x="5760720" y="4937760"/>
            <a:ext cx="1645920" cy="740664"/>
            <a:chOff x="5760720" y="4937760"/>
            <a:chExt cx="1645920" cy="740664"/>
          </a:xfrm>
        </p:grpSpPr>
        <p:sp>
          <p:nvSpPr>
            <p:cNvPr id="37" name="Oval 36"/>
            <p:cNvSpPr/>
            <p:nvPr/>
          </p:nvSpPr>
          <p:spPr>
            <a:xfrm>
              <a:off x="6355080" y="493776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38" name="TextBox 37"/>
            <p:cNvSpPr txBox="1"/>
            <p:nvPr/>
          </p:nvSpPr>
          <p:spPr>
            <a:xfrm>
              <a:off x="5760720" y="5422392"/>
              <a:ext cx="1645920" cy="256032"/>
            </a:xfrm>
            <a:prstGeom prst="rect">
              <a:avLst/>
            </a:prstGeom>
            <a:noFill/>
          </p:spPr>
          <p:txBody>
            <a:bodyPr wrap="square" lIns="0" rIns="0" tIns="0" bIns="0" anchor="t">
              <a:spAutoFit/>
            </a:bodyPr>
            <a:lstStyle/>
            <a:p>
              <a:pPr algn="ctr"/>
              <a:r>
                <a:rPr sz="1150" b="1" i="0">
                  <a:solidFill>
                    <a:srgbClr val="1C2333"/>
                  </a:solidFill>
                  <a:latin typeface="Calibri"/>
                </a:rPr>
                <a:t>Soát chứng minh</a:t>
              </a:r>
            </a:p>
          </p:txBody>
        </p:sp>
      </p:grpSp>
      <p:grpSp>
        <p:nvGrpSpPr>
          <p:cNvPr id="73" name="Số 1"/>
          <p:cNvGrpSpPr/>
          <p:nvPr/>
        </p:nvGrpSpPr>
        <p:grpSpPr>
          <a:xfrm>
            <a:off x="3246120" y="5596128"/>
            <a:ext cx="1645920" cy="740664"/>
            <a:chOff x="3246120" y="5596128"/>
            <a:chExt cx="1645920" cy="740664"/>
          </a:xfrm>
        </p:grpSpPr>
        <p:sp>
          <p:nvSpPr>
            <p:cNvPr id="39" name="Oval 38"/>
            <p:cNvSpPr/>
            <p:nvPr/>
          </p:nvSpPr>
          <p:spPr>
            <a:xfrm>
              <a:off x="3840480" y="5596128"/>
              <a:ext cx="457200" cy="457200"/>
            </a:xfrm>
            <a:prstGeom prst="ellipse">
              <a:avLst/>
            </a:prstGeom>
            <a:solidFill>
              <a:srgbClr val="A86C0E"/>
            </a:solidFill>
            <a:ln w="1905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40" name="TextBox 39"/>
            <p:cNvSpPr txBox="1"/>
            <p:nvPr/>
          </p:nvSpPr>
          <p:spPr>
            <a:xfrm>
              <a:off x="3246120" y="6080760"/>
              <a:ext cx="1645920" cy="256032"/>
            </a:xfrm>
            <a:prstGeom prst="rect">
              <a:avLst/>
            </a:prstGeom>
            <a:noFill/>
          </p:spPr>
          <p:txBody>
            <a:bodyPr wrap="square" lIns="0" rIns="0" tIns="0" bIns="0" anchor="t">
              <a:spAutoFit/>
            </a:bodyPr>
            <a:lstStyle/>
            <a:p>
              <a:pPr algn="ctr"/>
              <a:r>
                <a:rPr sz="1150" b="1" i="0">
                  <a:solidFill>
                    <a:srgbClr val="1C2333"/>
                  </a:solidFill>
                  <a:latin typeface="Calibri"/>
                </a:rPr>
                <a:t>Kiểm chứng cuối</a:t>
              </a:r>
            </a:p>
          </p:txBody>
        </p:sp>
      </p:grpSp>
      <p:sp>
        <p:nvSpPr>
          <p:cNvPr id="41" name="Oval 40"/>
          <p:cNvSpPr/>
          <p:nvPr/>
        </p:nvSpPr>
        <p:spPr>
          <a:xfrm>
            <a:off x="8001000" y="1234440"/>
            <a:ext cx="109728" cy="109728"/>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83879" y="1161288"/>
            <a:ext cx="3611880" cy="1371600"/>
          </a:xfrm>
          <a:prstGeom prst="rect">
            <a:avLst/>
          </a:prstGeom>
          <a:noFill/>
        </p:spPr>
        <p:txBody>
          <a:bodyPr wrap="square" lIns="0" rIns="0" tIns="0" bIns="0" anchor="t">
            <a:spAutoFit/>
          </a:bodyPr>
          <a:lstStyle/>
          <a:p>
            <a:pPr algn="l"/>
            <a:r>
              <a:rPr sz="1500" b="1" i="0">
                <a:solidFill>
                  <a:srgbClr val="1C2333"/>
                </a:solidFill>
                <a:latin typeface="Calibri"/>
              </a:rPr>
              <a:t>Khi nào</a:t>
            </a:r>
          </a:p>
          <a:p>
            <a:pPr algn="l"/>
            <a:r>
              <a:rPr sz="1300" b="0" i="0">
                <a:solidFill>
                  <a:srgbClr val="394152"/>
                </a:solidFill>
                <a:latin typeface="Calibri"/>
              </a:rPr>
              <a:t>Sau Pha −1: đã có một phỏng đoán đoán đúng một ca mới.</a:t>
            </a:r>
          </a:p>
        </p:txBody>
      </p:sp>
      <p:sp>
        <p:nvSpPr>
          <p:cNvPr id="43" name="Oval 42"/>
          <p:cNvSpPr/>
          <p:nvPr/>
        </p:nvSpPr>
        <p:spPr>
          <a:xfrm>
            <a:off x="8001000" y="2560320"/>
            <a:ext cx="109728" cy="109728"/>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83879" y="2487168"/>
            <a:ext cx="3611880" cy="1371600"/>
          </a:xfrm>
          <a:prstGeom prst="rect">
            <a:avLst/>
          </a:prstGeom>
          <a:noFill/>
        </p:spPr>
        <p:txBody>
          <a:bodyPr wrap="square" lIns="0" rIns="0" tIns="0" bIns="0" anchor="t">
            <a:spAutoFit/>
          </a:bodyPr>
          <a:lstStyle/>
          <a:p>
            <a:pPr algn="l"/>
            <a:r>
              <a:rPr sz="1500" b="1" i="0">
                <a:solidFill>
                  <a:srgbClr val="1C2333"/>
                </a:solidFill>
                <a:latin typeface="Calibri"/>
              </a:rPr>
              <a:t>Ai chạy</a:t>
            </a:r>
          </a:p>
          <a:p>
            <a:pPr algn="l"/>
            <a:r>
              <a:rPr sz="1300" b="0" i="0">
                <a:solidFill>
                  <a:srgbClr val="394152"/>
                </a:solidFill>
                <a:latin typeface="Calibri"/>
              </a:rPr>
              <a:t>Thủ môn và Số 2 hình thức hoá đề độc lập rồi so. Số 14 lùi về, kiểm đề trên cả thư viện ví dụ. Số 3 quét văn liệu sơ bộ. Số 10 và Số 8 dựng đồ thị bổ đề ban đầu.</a:t>
            </a:r>
          </a:p>
        </p:txBody>
      </p:sp>
      <p:sp>
        <p:nvSpPr>
          <p:cNvPr id="45" name="Oval 44"/>
          <p:cNvSpPr/>
          <p:nvPr/>
        </p:nvSpPr>
        <p:spPr>
          <a:xfrm>
            <a:off x="8001000" y="3886200"/>
            <a:ext cx="109728" cy="109728"/>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183879" y="3813048"/>
            <a:ext cx="3611880" cy="1371600"/>
          </a:xfrm>
          <a:prstGeom prst="rect">
            <a:avLst/>
          </a:prstGeom>
          <a:noFill/>
        </p:spPr>
        <p:txBody>
          <a:bodyPr wrap="square" lIns="0" rIns="0" tIns="0" bIns="0" anchor="t">
            <a:spAutoFit/>
          </a:bodyPr>
          <a:lstStyle/>
          <a:p>
            <a:pPr algn="l"/>
            <a:r>
              <a:rPr sz="1500" b="1" i="0">
                <a:solidFill>
                  <a:srgbClr val="1C2333"/>
                </a:solidFill>
                <a:latin typeface="Calibri"/>
              </a:rPr>
              <a:t>Kết thúc khi</a:t>
            </a:r>
          </a:p>
          <a:p>
            <a:pPr algn="l"/>
            <a:r>
              <a:rPr sz="1300" b="0" i="0">
                <a:solidFill>
                  <a:srgbClr val="394152"/>
                </a:solidFill>
                <a:latin typeface="Calibri"/>
              </a:rPr>
              <a:t>Đề đã khoá, đúng trên mọi ví dụ và bác được mọi phản ví dụ; định nghĩa chung đã chốt trong Lean.</a:t>
            </a:r>
          </a:p>
        </p:txBody>
      </p:sp>
      <p:sp>
        <p:nvSpPr>
          <p:cNvPr id="47" name="Oval 46"/>
          <p:cNvSpPr/>
          <p:nvPr/>
        </p:nvSpPr>
        <p:spPr>
          <a:xfrm>
            <a:off x="8001000" y="5212080"/>
            <a:ext cx="109728" cy="109728"/>
          </a:xfrm>
          <a:prstGeom prst="ellipse">
            <a:avLst/>
          </a:prstGeom>
          <a:solidFill>
            <a:srgbClr val="B8B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183879" y="5138928"/>
            <a:ext cx="3611880" cy="1371600"/>
          </a:xfrm>
          <a:prstGeom prst="rect">
            <a:avLst/>
          </a:prstGeom>
          <a:noFill/>
        </p:spPr>
        <p:txBody>
          <a:bodyPr wrap="square" lIns="0" rIns="0" tIns="0" bIns="0" anchor="t">
            <a:spAutoFit/>
          </a:bodyPr>
          <a:lstStyle/>
          <a:p>
            <a:pPr algn="l"/>
            <a:r>
              <a:rPr sz="1500" b="1" i="0">
                <a:solidFill>
                  <a:srgbClr val="1C2333"/>
                </a:solidFill>
                <a:latin typeface="Calibri"/>
              </a:rPr>
              <a:t>Tắt</a:t>
            </a:r>
          </a:p>
          <a:p>
            <a:pPr algn="l"/>
            <a:r>
              <a:rPr sz="1300" b="0" i="0">
                <a:solidFill>
                  <a:srgbClr val="394152"/>
                </a:solidFill>
                <a:latin typeface="Calibri"/>
              </a:rPr>
              <a:t>Số 9 và Số 4 đứng trên nhưng chưa chạy: chưa có gì để chứng minh hay để phá. Hai cánh nghỉ.</a:t>
            </a:r>
          </a:p>
        </p:txBody>
      </p:sp>
      <p:cxnSp>
        <p:nvCxnSpPr>
          <p:cNvPr id="49" name="1-2-0"/>
          <p:cNvCxnSpPr/>
          <p:nvPr/>
        </p:nvCxnSpPr>
        <p:spPr>
          <a:xfrm>
            <a:off x="4325112" y="5897880"/>
            <a:ext cx="2898648" cy="0"/>
          </a:xfrm>
          <a:prstGeom prst="line">
            <a:avLst/>
          </a:prstGeom>
          <a:ln w="22225">
            <a:solidFill>
              <a:srgbClr val="A86C0E"/>
            </a:solidFill>
            <a:headEnd type="triangle" w="med" len="med"/>
          </a:ln>
        </p:spPr>
        <p:style>
          <a:lnRef idx="2">
            <a:schemeClr val="accent1"/>
          </a:lnRef>
          <a:fillRef idx="0">
            <a:schemeClr val="accent1"/>
          </a:fillRef>
          <a:effectRef idx="1">
            <a:schemeClr val="accent1"/>
          </a:effectRef>
          <a:fontRef idx="minor">
            <a:schemeClr val="tx1"/>
          </a:fontRef>
        </p:style>
      </p:cxnSp>
      <p:cxnSp>
        <p:nvCxnSpPr>
          <p:cNvPr id="50" name="1-2-1"/>
          <p:cNvCxnSpPr/>
          <p:nvPr/>
        </p:nvCxnSpPr>
        <p:spPr>
          <a:xfrm flipV="1">
            <a:off x="7223760" y="5166360"/>
            <a:ext cx="0" cy="731520"/>
          </a:xfrm>
          <a:prstGeom prst="line">
            <a:avLst/>
          </a:prstGeom>
          <a:ln w="22225">
            <a:solidFill>
              <a:srgbClr val="A86C0E"/>
            </a:solidFill>
          </a:ln>
        </p:spPr>
        <p:style>
          <a:lnRef idx="2">
            <a:schemeClr val="accent1"/>
          </a:lnRef>
          <a:fillRef idx="0">
            <a:schemeClr val="accent1"/>
          </a:fillRef>
          <a:effectRef idx="1">
            <a:schemeClr val="accent1"/>
          </a:effectRef>
          <a:fontRef idx="minor">
            <a:schemeClr val="tx1"/>
          </a:fontRef>
        </p:style>
      </p:cxnSp>
      <p:cxnSp>
        <p:nvCxnSpPr>
          <p:cNvPr id="51" name="1-2-2"/>
          <p:cNvCxnSpPr/>
          <p:nvPr/>
        </p:nvCxnSpPr>
        <p:spPr>
          <a:xfrm flipH="1">
            <a:off x="6839712" y="5166360"/>
            <a:ext cx="384048" cy="0"/>
          </a:xfrm>
          <a:prstGeom prst="line">
            <a:avLst/>
          </a:prstGeom>
          <a:ln w="22225">
            <a:solidFill>
              <a:srgbClr val="A86C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lbl-khoá đề"/>
          <p:cNvSpPr txBox="1"/>
          <p:nvPr/>
        </p:nvSpPr>
        <p:spPr>
          <a:xfrm>
            <a:off x="5120640" y="5916168"/>
            <a:ext cx="822960" cy="256032"/>
          </a:xfrm>
          <a:prstGeom prst="rect">
            <a:avLst/>
          </a:prstGeom>
          <a:noFill/>
        </p:spPr>
        <p:txBody>
          <a:bodyPr wrap="square" lIns="0" rIns="0" tIns="0" bIns="0" anchor="t">
            <a:spAutoFit/>
          </a:bodyPr>
          <a:lstStyle/>
          <a:p>
            <a:pPr algn="l"/>
            <a:r>
              <a:rPr sz="1100" b="1" i="0">
                <a:solidFill>
                  <a:srgbClr val="A86C0E"/>
                </a:solidFill>
                <a:latin typeface="Calibri"/>
              </a:rPr>
              <a:t>khoá đề</a:t>
            </a:r>
          </a:p>
        </p:txBody>
      </p:sp>
      <p:cxnSp>
        <p:nvCxnSpPr>
          <p:cNvPr id="53" name="8-1-0"/>
          <p:cNvCxnSpPr/>
          <p:nvPr/>
        </p:nvCxnSpPr>
        <p:spPr>
          <a:xfrm>
            <a:off x="5376672" y="2743200"/>
            <a:ext cx="384048" cy="0"/>
          </a:xfrm>
          <a:prstGeom prst="line">
            <a:avLst/>
          </a:prstGeom>
          <a:ln w="22225">
            <a:solidFill>
              <a:srgbClr val="A86C0E"/>
            </a:solidFill>
            <a:prstDash val="dash"/>
            <a:headEnd type="triangle" w="med" len="med"/>
          </a:ln>
        </p:spPr>
        <p:style>
          <a:lnRef idx="2">
            <a:schemeClr val="accent1"/>
          </a:lnRef>
          <a:fillRef idx="0">
            <a:schemeClr val="accent1"/>
          </a:fillRef>
          <a:effectRef idx="1">
            <a:schemeClr val="accent1"/>
          </a:effectRef>
          <a:fontRef idx="minor">
            <a:schemeClr val="tx1"/>
          </a:fontRef>
        </p:style>
      </p:cxnSp>
      <p:cxnSp>
        <p:nvCxnSpPr>
          <p:cNvPr id="54" name="8-1-1"/>
          <p:cNvCxnSpPr/>
          <p:nvPr/>
        </p:nvCxnSpPr>
        <p:spPr>
          <a:xfrm>
            <a:off x="5760720" y="2743200"/>
            <a:ext cx="0" cy="3017520"/>
          </a:xfrm>
          <a:prstGeom prst="line">
            <a:avLst/>
          </a:prstGeom>
          <a:ln w="22225">
            <a:solidFill>
              <a:srgbClr val="A86C0E"/>
            </a:solidFill>
            <a:prstDash val="dash"/>
          </a:ln>
        </p:spPr>
        <p:style>
          <a:lnRef idx="2">
            <a:schemeClr val="accent1"/>
          </a:lnRef>
          <a:fillRef idx="0">
            <a:schemeClr val="accent1"/>
          </a:fillRef>
          <a:effectRef idx="1">
            <a:schemeClr val="accent1"/>
          </a:effectRef>
          <a:fontRef idx="minor">
            <a:schemeClr val="tx1"/>
          </a:fontRef>
        </p:style>
      </p:cxnSp>
      <p:cxnSp>
        <p:nvCxnSpPr>
          <p:cNvPr id="55" name="8-1-2"/>
          <p:cNvCxnSpPr/>
          <p:nvPr/>
        </p:nvCxnSpPr>
        <p:spPr>
          <a:xfrm flipH="1">
            <a:off x="4325112" y="5760720"/>
            <a:ext cx="1435608" cy="0"/>
          </a:xfrm>
          <a:prstGeom prst="line">
            <a:avLst/>
          </a:prstGeom>
          <a:ln w="22225">
            <a:solidFill>
              <a:srgbClr val="A86C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lbl-định nghĩa Lea"/>
          <p:cNvSpPr txBox="1"/>
          <p:nvPr/>
        </p:nvSpPr>
        <p:spPr>
          <a:xfrm>
            <a:off x="4709160" y="4983480"/>
            <a:ext cx="1051560" cy="256032"/>
          </a:xfrm>
          <a:prstGeom prst="rect">
            <a:avLst/>
          </a:prstGeom>
          <a:noFill/>
        </p:spPr>
        <p:txBody>
          <a:bodyPr wrap="square" lIns="0" rIns="0" tIns="0" bIns="0" anchor="t">
            <a:spAutoFit/>
          </a:bodyPr>
          <a:lstStyle/>
          <a:p>
            <a:pPr algn="l"/>
            <a:r>
              <a:rPr sz="1100" b="1" i="0">
                <a:solidFill>
                  <a:srgbClr val="A86C0E"/>
                </a:solidFill>
                <a:latin typeface="Calibri"/>
              </a:rPr>
              <a:t>định nghĩa Lean</a:t>
            </a:r>
          </a:p>
        </p:txBody>
      </p:sp>
      <p:cxnSp>
        <p:nvCxnSpPr>
          <p:cNvPr id="57" name="3-10-0"/>
          <p:cNvCxnSpPr/>
          <p:nvPr/>
        </p:nvCxnSpPr>
        <p:spPr>
          <a:xfrm flipV="1">
            <a:off x="1770484" y="3713436"/>
            <a:ext cx="2067162" cy="1315467"/>
          </a:xfrm>
          <a:prstGeom prst="line">
            <a:avLst/>
          </a:prstGeom>
          <a:ln w="22225">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lbl-bài kề"/>
          <p:cNvSpPr txBox="1"/>
          <p:nvPr/>
        </p:nvSpPr>
        <p:spPr>
          <a:xfrm>
            <a:off x="2240280" y="4069080"/>
            <a:ext cx="640080" cy="256032"/>
          </a:xfrm>
          <a:prstGeom prst="rect">
            <a:avLst/>
          </a:prstGeom>
          <a:noFill/>
        </p:spPr>
        <p:txBody>
          <a:bodyPr wrap="square" lIns="0" rIns="0" tIns="0" bIns="0" anchor="t">
            <a:spAutoFit/>
          </a:bodyPr>
          <a:lstStyle/>
          <a:p>
            <a:pPr algn="l"/>
            <a:r>
              <a:rPr sz="1100" b="1" i="0">
                <a:solidFill>
                  <a:srgbClr val="C93A2A"/>
                </a:solidFill>
                <a:latin typeface="Calibri"/>
              </a:rPr>
              <a:t>bài kề</a:t>
            </a:r>
          </a:p>
        </p:txBody>
      </p:sp>
      <p:cxnSp>
        <p:nvCxnSpPr>
          <p:cNvPr id="59" name="10-8-0"/>
          <p:cNvCxnSpPr/>
          <p:nvPr/>
        </p:nvCxnSpPr>
        <p:spPr>
          <a:xfrm flipV="1">
            <a:off x="4270706" y="2912266"/>
            <a:ext cx="633905" cy="496100"/>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lbl-bổ đề ứng viên"/>
          <p:cNvSpPr txBox="1"/>
          <p:nvPr/>
        </p:nvSpPr>
        <p:spPr>
          <a:xfrm>
            <a:off x="4663440" y="3310128"/>
            <a:ext cx="1097280" cy="256032"/>
          </a:xfrm>
          <a:prstGeom prst="rect">
            <a:avLst/>
          </a:prstGeom>
          <a:noFill/>
        </p:spPr>
        <p:txBody>
          <a:bodyPr wrap="square" lIns="0" rIns="0" tIns="0" bIns="0" anchor="t">
            <a:spAutoFit/>
          </a:bodyPr>
          <a:lstStyle/>
          <a:p>
            <a:pPr algn="l"/>
            <a:r>
              <a:rPr sz="1100" b="1" i="0">
                <a:solidFill>
                  <a:srgbClr val="2B59D9"/>
                </a:solidFill>
                <a:latin typeface="Calibri"/>
              </a:rPr>
              <a:t>bổ đề ứng viên</a:t>
            </a:r>
          </a:p>
        </p:txBody>
      </p:sp>
      <p:cxnSp>
        <p:nvCxnSpPr>
          <p:cNvPr id="61" name="14-2-0"/>
          <p:cNvCxnSpPr/>
          <p:nvPr/>
        </p:nvCxnSpPr>
        <p:spPr>
          <a:xfrm>
            <a:off x="6793992" y="4425696"/>
            <a:ext cx="0" cy="530352"/>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lbl-kiểm đề"/>
          <p:cNvSpPr txBox="1"/>
          <p:nvPr/>
        </p:nvSpPr>
        <p:spPr>
          <a:xfrm>
            <a:off x="6876288" y="4572000"/>
            <a:ext cx="731520" cy="256032"/>
          </a:xfrm>
          <a:prstGeom prst="rect">
            <a:avLst/>
          </a:prstGeom>
          <a:noFill/>
        </p:spPr>
        <p:txBody>
          <a:bodyPr wrap="square" lIns="0" rIns="0" tIns="0" bIns="0" anchor="t">
            <a:spAutoFit/>
          </a:bodyPr>
          <a:lstStyle/>
          <a:p>
            <a:pPr algn="l"/>
            <a:r>
              <a:rPr sz="1100" b="1" i="0">
                <a:solidFill>
                  <a:srgbClr val="2B59D9"/>
                </a:solidFill>
                <a:latin typeface="Calibri"/>
              </a:rPr>
              <a:t>kiểm đề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Pha 1: khám phá, dâng cao 2-3-5</a:t>
            </a:r>
          </a:p>
        </p:txBody>
      </p:sp>
      <p:sp>
        <p:nvSpPr>
          <p:cNvPr id="3" name="Rectangle 2"/>
          <p:cNvSpPr/>
          <p:nvPr/>
        </p:nvSpPr>
        <p:spPr>
          <a:xfrm>
            <a:off x="457200" y="1188720"/>
            <a:ext cx="7223760" cy="149504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09728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457200" y="2683764"/>
            <a:ext cx="7223760" cy="19933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2729484"/>
            <a:ext cx="109728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457200" y="4677156"/>
            <a:ext cx="7223760" cy="1495043"/>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722876"/>
            <a:ext cx="109728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sp>
        <p:nvSpPr>
          <p:cNvPr id="9" name="TextBox 8"/>
          <p:cNvSpPr txBox="1"/>
          <p:nvPr/>
        </p:nvSpPr>
        <p:spPr>
          <a:xfrm>
            <a:off x="457200" y="6400800"/>
            <a:ext cx="7223760" cy="274320"/>
          </a:xfrm>
          <a:prstGeom prst="rect">
            <a:avLst/>
          </a:prstGeom>
          <a:noFill/>
        </p:spPr>
        <p:txBody>
          <a:bodyPr wrap="square" lIns="0" rIns="0" tIns="0" bIns="0" anchor="t">
            <a:spAutoFit/>
          </a:bodyPr>
          <a:lstStyle/>
          <a:p>
            <a:pPr algn="l"/>
            <a:r>
              <a:rPr sz="1200" b="0" i="1">
                <a:solidFill>
                  <a:srgbClr val="394152"/>
                </a:solidFill>
                <a:latin typeface="Calibri"/>
              </a:rPr>
              <a:t>Năm người trên hàng công, Số 3 bó vào giữa, Số 2 ở lại bọc lót.</a:t>
            </a:r>
          </a:p>
        </p:txBody>
      </p:sp>
      <p:sp>
        <p:nvSpPr>
          <p:cNvPr id="21" name="Rounded Rectangle 20"/>
          <p:cNvSpPr/>
          <p:nvPr/>
        </p:nvSpPr>
        <p:spPr>
          <a:xfrm>
            <a:off x="2011680" y="4800600"/>
            <a:ext cx="4114800" cy="868680"/>
          </a:xfrm>
          <a:prstGeom prst="roundRect">
            <a:avLst/>
          </a:prstGeom>
          <a:noFill/>
          <a:ln w="15875">
            <a:solidFill>
              <a:srgbClr val="C93A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99632" y="4846320"/>
            <a:ext cx="1463040" cy="274320"/>
          </a:xfrm>
          <a:prstGeom prst="rect">
            <a:avLst/>
          </a:prstGeom>
          <a:noFill/>
        </p:spPr>
        <p:txBody>
          <a:bodyPr wrap="square" lIns="0" rIns="0" tIns="0" bIns="0" anchor="t">
            <a:spAutoFit/>
          </a:bodyPr>
          <a:lstStyle/>
          <a:p>
            <a:pPr algn="l"/>
            <a:r>
              <a:rPr sz="1100" b="1" i="0">
                <a:solidFill>
                  <a:srgbClr val="C93A2A"/>
                </a:solidFill>
                <a:latin typeface="Calibri"/>
              </a:rPr>
              <a:t>bọc lót</a:t>
            </a:r>
          </a:p>
        </p:txBody>
      </p:sp>
      <p:grpSp>
        <p:nvGrpSpPr>
          <p:cNvPr id="78" name="Số 11"/>
          <p:cNvGrpSpPr/>
          <p:nvPr/>
        </p:nvGrpSpPr>
        <p:grpSpPr>
          <a:xfrm>
            <a:off x="320040" y="1920240"/>
            <a:ext cx="1645920" cy="740664"/>
            <a:chOff x="320040" y="1920240"/>
            <a:chExt cx="1645920" cy="740664"/>
          </a:xfrm>
        </p:grpSpPr>
        <p:sp>
          <p:nvSpPr>
            <p:cNvPr id="25" name="Oval 24"/>
            <p:cNvSpPr/>
            <p:nvPr/>
          </p:nvSpPr>
          <p:spPr>
            <a:xfrm>
              <a:off x="914400" y="192024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11</a:t>
              </a:r>
            </a:p>
          </p:txBody>
        </p:sp>
        <p:sp>
          <p:nvSpPr>
            <p:cNvPr id="26" name="TextBox 25"/>
            <p:cNvSpPr txBox="1"/>
            <p:nvPr/>
          </p:nvSpPr>
          <p:spPr>
            <a:xfrm>
              <a:off x="320040" y="2404872"/>
              <a:ext cx="1645920" cy="256032"/>
            </a:xfrm>
            <a:prstGeom prst="rect">
              <a:avLst/>
            </a:prstGeom>
            <a:noFill/>
          </p:spPr>
          <p:txBody>
            <a:bodyPr wrap="square" lIns="0" rIns="0" tIns="0" bIns="0" anchor="t">
              <a:spAutoFit/>
            </a:bodyPr>
            <a:lstStyle/>
            <a:p>
              <a:pPr algn="ctr"/>
              <a:r>
                <a:rPr sz="1150" b="1" i="0">
                  <a:solidFill>
                    <a:srgbClr val="1C2333"/>
                  </a:solidFill>
                  <a:latin typeface="Calibri"/>
                </a:rPr>
                <a:t>Xuyên ngành kề</a:t>
              </a:r>
            </a:p>
          </p:txBody>
        </p:sp>
        <p:sp>
          <p:nvSpPr>
            <p:cNvPr id="23" name="Oval 22"/>
            <p:cNvSpPr/>
            <p:nvPr/>
          </p:nvSpPr>
          <p:spPr>
            <a:xfrm>
              <a:off x="731520" y="195681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389888" y="195681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grpSp>
        <p:nvGrpSpPr>
          <p:cNvPr id="79" name="Số 10"/>
          <p:cNvGrpSpPr/>
          <p:nvPr/>
        </p:nvGrpSpPr>
        <p:grpSpPr>
          <a:xfrm>
            <a:off x="3246120" y="3566160"/>
            <a:ext cx="1645920" cy="740664"/>
            <a:chOff x="3246120" y="3566160"/>
            <a:chExt cx="1645920" cy="740664"/>
          </a:xfrm>
        </p:grpSpPr>
        <p:sp>
          <p:nvSpPr>
            <p:cNvPr id="29" name="Oval 28"/>
            <p:cNvSpPr/>
            <p:nvPr/>
          </p:nvSpPr>
          <p:spPr>
            <a:xfrm>
              <a:off x="3840480" y="356616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10</a:t>
              </a:r>
            </a:p>
          </p:txBody>
        </p:sp>
        <p:sp>
          <p:nvSpPr>
            <p:cNvPr id="30" name="TextBox 29"/>
            <p:cNvSpPr txBox="1"/>
            <p:nvPr/>
          </p:nvSpPr>
          <p:spPr>
            <a:xfrm>
              <a:off x="3246120" y="4050792"/>
              <a:ext cx="1645920" cy="256032"/>
            </a:xfrm>
            <a:prstGeom prst="rect">
              <a:avLst/>
            </a:prstGeom>
            <a:noFill/>
          </p:spPr>
          <p:txBody>
            <a:bodyPr wrap="square" lIns="0" rIns="0" tIns="0" bIns="0" anchor="t">
              <a:spAutoFit/>
            </a:bodyPr>
            <a:lstStyle/>
            <a:p>
              <a:pPr algn="ctr"/>
              <a:r>
                <a:rPr sz="1150" b="1" i="0">
                  <a:solidFill>
                    <a:srgbClr val="1C2333"/>
                  </a:solidFill>
                  <a:latin typeface="Calibri"/>
                </a:rPr>
                <a:t>Trong ngành</a:t>
              </a:r>
            </a:p>
          </p:txBody>
        </p:sp>
        <p:sp>
          <p:nvSpPr>
            <p:cNvPr id="27" name="Oval 26"/>
            <p:cNvSpPr/>
            <p:nvPr/>
          </p:nvSpPr>
          <p:spPr>
            <a:xfrm>
              <a:off x="3657600" y="360273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315968" y="360273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grpSp>
        <p:nvGrpSpPr>
          <p:cNvPr id="80" name="Số 9"/>
          <p:cNvGrpSpPr/>
          <p:nvPr/>
        </p:nvGrpSpPr>
        <p:grpSpPr>
          <a:xfrm>
            <a:off x="3246120" y="1344168"/>
            <a:ext cx="1645920" cy="740664"/>
            <a:chOff x="3246120" y="1344168"/>
            <a:chExt cx="1645920" cy="740664"/>
          </a:xfrm>
        </p:grpSpPr>
        <p:sp>
          <p:nvSpPr>
            <p:cNvPr id="31" name="Oval 30"/>
            <p:cNvSpPr/>
            <p:nvPr/>
          </p:nvSpPr>
          <p:spPr>
            <a:xfrm>
              <a:off x="3840480" y="1344168"/>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9</a:t>
              </a:r>
            </a:p>
          </p:txBody>
        </p:sp>
        <p:sp>
          <p:nvSpPr>
            <p:cNvPr id="32" name="TextBox 31"/>
            <p:cNvSpPr txBox="1"/>
            <p:nvPr/>
          </p:nvSpPr>
          <p:spPr>
            <a:xfrm>
              <a:off x="3246120" y="1828800"/>
              <a:ext cx="1645920" cy="256032"/>
            </a:xfrm>
            <a:prstGeom prst="rect">
              <a:avLst/>
            </a:prstGeom>
            <a:noFill/>
          </p:spPr>
          <p:txBody>
            <a:bodyPr wrap="square" lIns="0" rIns="0" tIns="0" bIns="0" anchor="t">
              <a:spAutoFit/>
            </a:bodyPr>
            <a:lstStyle/>
            <a:p>
              <a:pPr algn="ctr"/>
              <a:r>
                <a:rPr sz="1150" b="1" i="0">
                  <a:solidFill>
                    <a:srgbClr val="1C2333"/>
                  </a:solidFill>
                  <a:latin typeface="Calibri"/>
                </a:rPr>
                <a:t>Chứng minh</a:t>
              </a:r>
            </a:p>
          </p:txBody>
        </p:sp>
      </p:grpSp>
      <p:grpSp>
        <p:nvGrpSpPr>
          <p:cNvPr id="81" name="Số 14"/>
          <p:cNvGrpSpPr/>
          <p:nvPr/>
        </p:nvGrpSpPr>
        <p:grpSpPr>
          <a:xfrm>
            <a:off x="1783080" y="1554480"/>
            <a:ext cx="1645920" cy="740664"/>
            <a:chOff x="1783080" y="1554480"/>
            <a:chExt cx="1645920" cy="740664"/>
          </a:xfrm>
        </p:grpSpPr>
        <p:sp>
          <p:nvSpPr>
            <p:cNvPr id="35" name="Oval 34"/>
            <p:cNvSpPr/>
            <p:nvPr/>
          </p:nvSpPr>
          <p:spPr>
            <a:xfrm>
              <a:off x="2377440" y="15544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14</a:t>
              </a:r>
            </a:p>
          </p:txBody>
        </p:sp>
        <p:sp>
          <p:nvSpPr>
            <p:cNvPr id="36" name="TextBox 35"/>
            <p:cNvSpPr txBox="1"/>
            <p:nvPr/>
          </p:nvSpPr>
          <p:spPr>
            <a:xfrm>
              <a:off x="1783080" y="2039112"/>
              <a:ext cx="1645920" cy="256032"/>
            </a:xfrm>
            <a:prstGeom prst="rect">
              <a:avLst/>
            </a:prstGeom>
            <a:noFill/>
          </p:spPr>
          <p:txBody>
            <a:bodyPr wrap="square" lIns="0" rIns="0" tIns="0" bIns="0" anchor="t">
              <a:spAutoFit/>
            </a:bodyPr>
            <a:lstStyle/>
            <a:p>
              <a:pPr algn="ctr"/>
              <a:r>
                <a:rPr sz="1150" b="1" i="0">
                  <a:solidFill>
                    <a:srgbClr val="1C2333"/>
                  </a:solidFill>
                  <a:latin typeface="Calibri"/>
                </a:rPr>
                <a:t>Ví dụ</a:t>
              </a:r>
            </a:p>
          </p:txBody>
        </p:sp>
        <p:sp>
          <p:nvSpPr>
            <p:cNvPr id="33" name="Oval 32"/>
            <p:cNvSpPr/>
            <p:nvPr/>
          </p:nvSpPr>
          <p:spPr>
            <a:xfrm>
              <a:off x="2194560" y="159105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2852928" y="159105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grpSp>
        <p:nvGrpSpPr>
          <p:cNvPr id="82" name="Số 7"/>
          <p:cNvGrpSpPr/>
          <p:nvPr/>
        </p:nvGrpSpPr>
        <p:grpSpPr>
          <a:xfrm>
            <a:off x="6172200" y="1920240"/>
            <a:ext cx="1645920" cy="740664"/>
            <a:chOff x="6172200" y="1920240"/>
            <a:chExt cx="1645920" cy="740664"/>
          </a:xfrm>
        </p:grpSpPr>
        <p:sp>
          <p:nvSpPr>
            <p:cNvPr id="39" name="Oval 38"/>
            <p:cNvSpPr/>
            <p:nvPr/>
          </p:nvSpPr>
          <p:spPr>
            <a:xfrm>
              <a:off x="6766560" y="192024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7</a:t>
              </a:r>
            </a:p>
          </p:txBody>
        </p:sp>
        <p:sp>
          <p:nvSpPr>
            <p:cNvPr id="40" name="TextBox 39"/>
            <p:cNvSpPr txBox="1"/>
            <p:nvPr/>
          </p:nvSpPr>
          <p:spPr>
            <a:xfrm>
              <a:off x="6172200" y="2404872"/>
              <a:ext cx="1645920" cy="256032"/>
            </a:xfrm>
            <a:prstGeom prst="rect">
              <a:avLst/>
            </a:prstGeom>
            <a:noFill/>
          </p:spPr>
          <p:txBody>
            <a:bodyPr wrap="square" lIns="0" rIns="0" tIns="0" bIns="0" anchor="t">
              <a:spAutoFit/>
            </a:bodyPr>
            <a:lstStyle/>
            <a:p>
              <a:pPr algn="ctr"/>
              <a:r>
                <a:rPr sz="1150" b="1" i="0">
                  <a:solidFill>
                    <a:srgbClr val="1C2333"/>
                  </a:solidFill>
                  <a:latin typeface="Calibri"/>
                </a:rPr>
                <a:t>Xuyên ngành xa</a:t>
              </a:r>
            </a:p>
          </p:txBody>
        </p:sp>
        <p:sp>
          <p:nvSpPr>
            <p:cNvPr id="37" name="Oval 36"/>
            <p:cNvSpPr/>
            <p:nvPr/>
          </p:nvSpPr>
          <p:spPr>
            <a:xfrm>
              <a:off x="6583680" y="195681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7242048" y="1956816"/>
              <a:ext cx="164592" cy="164592"/>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grpSp>
        <p:nvGrpSpPr>
          <p:cNvPr id="83" name="Số 8"/>
          <p:cNvGrpSpPr/>
          <p:nvPr/>
        </p:nvGrpSpPr>
        <p:grpSpPr>
          <a:xfrm>
            <a:off x="3246120" y="2514600"/>
            <a:ext cx="1645920" cy="740664"/>
            <a:chOff x="3246120" y="2514600"/>
            <a:chExt cx="1645920" cy="740664"/>
          </a:xfrm>
        </p:grpSpPr>
        <p:sp>
          <p:nvSpPr>
            <p:cNvPr id="41" name="Oval 40"/>
            <p:cNvSpPr/>
            <p:nvPr/>
          </p:nvSpPr>
          <p:spPr>
            <a:xfrm>
              <a:off x="3840480" y="251460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8</a:t>
              </a:r>
            </a:p>
          </p:txBody>
        </p:sp>
        <p:sp>
          <p:nvSpPr>
            <p:cNvPr id="42" name="TextBox 41"/>
            <p:cNvSpPr txBox="1"/>
            <p:nvPr/>
          </p:nvSpPr>
          <p:spPr>
            <a:xfrm>
              <a:off x="3246120" y="2999232"/>
              <a:ext cx="1645920" cy="256032"/>
            </a:xfrm>
            <a:prstGeom prst="rect">
              <a:avLst/>
            </a:prstGeom>
            <a:noFill/>
          </p:spPr>
          <p:txBody>
            <a:bodyPr wrap="square" lIns="0" rIns="0" tIns="0" bIns="0" anchor="t">
              <a:spAutoFit/>
            </a:bodyPr>
            <a:lstStyle/>
            <a:p>
              <a:pPr algn="ctr"/>
              <a:r>
                <a:rPr sz="1150" b="1" i="0">
                  <a:solidFill>
                    <a:srgbClr val="1C2333"/>
                  </a:solidFill>
                  <a:latin typeface="Calibri"/>
                </a:rPr>
                <a:t>Blueprint</a:t>
              </a:r>
            </a:p>
          </p:txBody>
        </p:sp>
      </p:grpSp>
      <p:grpSp>
        <p:nvGrpSpPr>
          <p:cNvPr id="84" name="Số 6"/>
          <p:cNvGrpSpPr/>
          <p:nvPr/>
        </p:nvGrpSpPr>
        <p:grpSpPr>
          <a:xfrm>
            <a:off x="5029200" y="3840480"/>
            <a:ext cx="1645920" cy="740664"/>
            <a:chOff x="5029200" y="3840480"/>
            <a:chExt cx="1645920" cy="740664"/>
          </a:xfrm>
        </p:grpSpPr>
        <p:sp>
          <p:nvSpPr>
            <p:cNvPr id="43" name="Oval 42"/>
            <p:cNvSpPr/>
            <p:nvPr/>
          </p:nvSpPr>
          <p:spPr>
            <a:xfrm>
              <a:off x="5623560" y="3840480"/>
              <a:ext cx="457200" cy="457200"/>
            </a:xfrm>
            <a:prstGeom prst="ellipse">
              <a:avLst/>
            </a:prstGeom>
            <a:solidFill>
              <a:srgbClr val="1C2333"/>
            </a:solidFill>
            <a:ln w="1905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44" name="TextBox 43"/>
            <p:cNvSpPr txBox="1"/>
            <p:nvPr/>
          </p:nvSpPr>
          <p:spPr>
            <a:xfrm>
              <a:off x="5029200" y="4325112"/>
              <a:ext cx="1645920" cy="256032"/>
            </a:xfrm>
            <a:prstGeom prst="rect">
              <a:avLst/>
            </a:prstGeom>
            <a:noFill/>
          </p:spPr>
          <p:txBody>
            <a:bodyPr wrap="square" lIns="0" rIns="0" tIns="0" bIns="0" anchor="t">
              <a:spAutoFit/>
            </a:bodyPr>
            <a:lstStyle/>
            <a:p>
              <a:pPr algn="ctr"/>
              <a:r>
                <a:rPr sz="1150" b="1" i="0">
                  <a:solidFill>
                    <a:srgbClr val="1C2333"/>
                  </a:solidFill>
                  <a:latin typeface="Calibri"/>
                </a:rPr>
                <a:t>Điều phối</a:t>
              </a:r>
            </a:p>
          </p:txBody>
        </p:sp>
      </p:grpSp>
      <p:grpSp>
        <p:nvGrpSpPr>
          <p:cNvPr id="85" name="Số 3"/>
          <p:cNvGrpSpPr/>
          <p:nvPr/>
        </p:nvGrpSpPr>
        <p:grpSpPr>
          <a:xfrm>
            <a:off x="1920240" y="4892040"/>
            <a:ext cx="1645920" cy="740664"/>
            <a:chOff x="1920240" y="4892040"/>
            <a:chExt cx="1645920" cy="740664"/>
          </a:xfrm>
        </p:grpSpPr>
        <p:sp>
          <p:nvSpPr>
            <p:cNvPr id="45" name="Oval 44"/>
            <p:cNvSpPr/>
            <p:nvPr/>
          </p:nvSpPr>
          <p:spPr>
            <a:xfrm>
              <a:off x="2514600" y="489204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46" name="TextBox 45"/>
            <p:cNvSpPr txBox="1"/>
            <p:nvPr/>
          </p:nvSpPr>
          <p:spPr>
            <a:xfrm>
              <a:off x="1920240" y="5376672"/>
              <a:ext cx="1645920" cy="256032"/>
            </a:xfrm>
            <a:prstGeom prst="rect">
              <a:avLst/>
            </a:prstGeom>
            <a:noFill/>
          </p:spPr>
          <p:txBody>
            <a:bodyPr wrap="square" lIns="0" rIns="0" tIns="0" bIns="0" anchor="t">
              <a:spAutoFit/>
            </a:bodyPr>
            <a:lstStyle/>
            <a:p>
              <a:pPr algn="ctr"/>
              <a:r>
                <a:rPr sz="1150" b="1" i="0">
                  <a:solidFill>
                    <a:srgbClr val="1C2333"/>
                  </a:solidFill>
                  <a:latin typeface="Calibri"/>
                </a:rPr>
                <a:t>Tính mới</a:t>
              </a:r>
            </a:p>
          </p:txBody>
        </p:sp>
      </p:grpSp>
      <p:grpSp>
        <p:nvGrpSpPr>
          <p:cNvPr id="86" name="Số 4"/>
          <p:cNvGrpSpPr/>
          <p:nvPr/>
        </p:nvGrpSpPr>
        <p:grpSpPr>
          <a:xfrm>
            <a:off x="4709160" y="1554480"/>
            <a:ext cx="1645920" cy="740664"/>
            <a:chOff x="4709160" y="1554480"/>
            <a:chExt cx="1645920" cy="740664"/>
          </a:xfrm>
        </p:grpSpPr>
        <p:sp>
          <p:nvSpPr>
            <p:cNvPr id="47" name="Oval 46"/>
            <p:cNvSpPr/>
            <p:nvPr/>
          </p:nvSpPr>
          <p:spPr>
            <a:xfrm>
              <a:off x="5303520" y="155448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48" name="TextBox 47"/>
            <p:cNvSpPr txBox="1"/>
            <p:nvPr/>
          </p:nvSpPr>
          <p:spPr>
            <a:xfrm>
              <a:off x="4709160" y="2039112"/>
              <a:ext cx="1645920" cy="256032"/>
            </a:xfrm>
            <a:prstGeom prst="rect">
              <a:avLst/>
            </a:prstGeom>
            <a:noFill/>
          </p:spPr>
          <p:txBody>
            <a:bodyPr wrap="square" lIns="0" rIns="0" tIns="0" bIns="0" anchor="t">
              <a:spAutoFit/>
            </a:bodyPr>
            <a:lstStyle/>
            <a:p>
              <a:pPr algn="ctr"/>
              <a:r>
                <a:rPr sz="1150" b="1" i="0">
                  <a:solidFill>
                    <a:srgbClr val="1C2333"/>
                  </a:solidFill>
                  <a:latin typeface="Calibri"/>
                </a:rPr>
                <a:t>Phá</a:t>
              </a:r>
            </a:p>
          </p:txBody>
        </p:sp>
      </p:grpSp>
      <p:grpSp>
        <p:nvGrpSpPr>
          <p:cNvPr id="87" name="Số 2"/>
          <p:cNvGrpSpPr/>
          <p:nvPr/>
        </p:nvGrpSpPr>
        <p:grpSpPr>
          <a:xfrm>
            <a:off x="4572000" y="4892040"/>
            <a:ext cx="1645920" cy="740664"/>
            <a:chOff x="4572000" y="4892040"/>
            <a:chExt cx="1645920" cy="740664"/>
          </a:xfrm>
        </p:grpSpPr>
        <p:sp>
          <p:nvSpPr>
            <p:cNvPr id="49" name="Oval 48"/>
            <p:cNvSpPr/>
            <p:nvPr/>
          </p:nvSpPr>
          <p:spPr>
            <a:xfrm>
              <a:off x="5166360" y="489204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50" name="TextBox 49"/>
            <p:cNvSpPr txBox="1"/>
            <p:nvPr/>
          </p:nvSpPr>
          <p:spPr>
            <a:xfrm>
              <a:off x="4572000" y="5376672"/>
              <a:ext cx="1645920" cy="256032"/>
            </a:xfrm>
            <a:prstGeom prst="rect">
              <a:avLst/>
            </a:prstGeom>
            <a:noFill/>
          </p:spPr>
          <p:txBody>
            <a:bodyPr wrap="square" lIns="0" rIns="0" tIns="0" bIns="0" anchor="t">
              <a:spAutoFit/>
            </a:bodyPr>
            <a:lstStyle/>
            <a:p>
              <a:pPr algn="ctr"/>
              <a:r>
                <a:rPr sz="1150" b="1" i="0">
                  <a:solidFill>
                    <a:srgbClr val="1C2333"/>
                  </a:solidFill>
                  <a:latin typeface="Calibri"/>
                </a:rPr>
                <a:t>Soát chứng minh</a:t>
              </a:r>
            </a:p>
          </p:txBody>
        </p:sp>
      </p:grpSp>
      <p:grpSp>
        <p:nvGrpSpPr>
          <p:cNvPr id="88" name="Số 1"/>
          <p:cNvGrpSpPr/>
          <p:nvPr/>
        </p:nvGrpSpPr>
        <p:grpSpPr>
          <a:xfrm>
            <a:off x="3246120" y="5596128"/>
            <a:ext cx="1645920" cy="740664"/>
            <a:chOff x="3246120" y="5596128"/>
            <a:chExt cx="1645920" cy="740664"/>
          </a:xfrm>
        </p:grpSpPr>
        <p:sp>
          <p:nvSpPr>
            <p:cNvPr id="51" name="Oval 50"/>
            <p:cNvSpPr/>
            <p:nvPr/>
          </p:nvSpPr>
          <p:spPr>
            <a:xfrm>
              <a:off x="3840480" y="5596128"/>
              <a:ext cx="457200" cy="457200"/>
            </a:xfrm>
            <a:prstGeom prst="ellipse">
              <a:avLst/>
            </a:prstGeom>
            <a:solidFill>
              <a:srgbClr val="A86C0E"/>
            </a:solidFill>
            <a:ln w="1905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2" name="TextBox 51"/>
            <p:cNvSpPr txBox="1"/>
            <p:nvPr/>
          </p:nvSpPr>
          <p:spPr>
            <a:xfrm>
              <a:off x="3246120" y="6080760"/>
              <a:ext cx="1645920" cy="256032"/>
            </a:xfrm>
            <a:prstGeom prst="rect">
              <a:avLst/>
            </a:prstGeom>
            <a:noFill/>
          </p:spPr>
          <p:txBody>
            <a:bodyPr wrap="square" lIns="0" rIns="0" tIns="0" bIns="0" anchor="t">
              <a:spAutoFit/>
            </a:bodyPr>
            <a:lstStyle/>
            <a:p>
              <a:pPr algn="ctr"/>
              <a:r>
                <a:rPr sz="1150" b="1" i="0">
                  <a:solidFill>
                    <a:srgbClr val="1C2333"/>
                  </a:solidFill>
                  <a:latin typeface="Calibri"/>
                </a:rPr>
                <a:t>Kiểm chứng cuối</a:t>
              </a:r>
            </a:p>
          </p:txBody>
        </p:sp>
      </p:grpSp>
      <p:sp>
        <p:nvSpPr>
          <p:cNvPr id="53" name="Oval 52"/>
          <p:cNvSpPr/>
          <p:nvPr/>
        </p:nvSpPr>
        <p:spPr>
          <a:xfrm>
            <a:off x="8001000" y="1234440"/>
            <a:ext cx="109728" cy="109728"/>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183879" y="1161288"/>
            <a:ext cx="3611880" cy="1371600"/>
          </a:xfrm>
          <a:prstGeom prst="rect">
            <a:avLst/>
          </a:prstGeom>
          <a:noFill/>
        </p:spPr>
        <p:txBody>
          <a:bodyPr wrap="square" lIns="0" rIns="0" tIns="0" bIns="0" anchor="t">
            <a:spAutoFit/>
          </a:bodyPr>
          <a:lstStyle/>
          <a:p>
            <a:pPr algn="l"/>
            <a:r>
              <a:rPr sz="1500" b="1" i="0">
                <a:solidFill>
                  <a:srgbClr val="1C2333"/>
                </a:solidFill>
                <a:latin typeface="Calibri"/>
              </a:rPr>
              <a:t>Khi nào</a:t>
            </a:r>
          </a:p>
          <a:p>
            <a:pPr algn="l"/>
            <a:r>
              <a:rPr sz="1300" b="0" i="0">
                <a:solidFill>
                  <a:srgbClr val="394152"/>
                </a:solidFill>
                <a:latin typeface="Calibri"/>
              </a:rPr>
              <a:t>Đề đã khoá, blueprint đã có bổ đề.</a:t>
            </a:r>
          </a:p>
        </p:txBody>
      </p:sp>
      <p:sp>
        <p:nvSpPr>
          <p:cNvPr id="55" name="Oval 54"/>
          <p:cNvSpPr/>
          <p:nvPr/>
        </p:nvSpPr>
        <p:spPr>
          <a:xfrm>
            <a:off x="8001000" y="2560320"/>
            <a:ext cx="109728" cy="109728"/>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183879" y="2487168"/>
            <a:ext cx="3611880" cy="1371600"/>
          </a:xfrm>
          <a:prstGeom prst="rect">
            <a:avLst/>
          </a:prstGeom>
          <a:noFill/>
        </p:spPr>
        <p:txBody>
          <a:bodyPr wrap="square" lIns="0" rIns="0" tIns="0" bIns="0" anchor="t">
            <a:spAutoFit/>
          </a:bodyPr>
          <a:lstStyle/>
          <a:p>
            <a:pPr algn="l"/>
            <a:r>
              <a:rPr sz="1500" b="1" i="0">
                <a:solidFill>
                  <a:srgbClr val="1C2333"/>
                </a:solidFill>
                <a:latin typeface="Calibri"/>
              </a:rPr>
              <a:t>Ai chạy</a:t>
            </a:r>
          </a:p>
          <a:p>
            <a:pPr algn="l"/>
            <a:r>
              <a:rPr sz="1300" b="0" i="0">
                <a:solidFill>
                  <a:srgbClr val="394152"/>
                </a:solidFill>
                <a:latin typeface="Calibri"/>
              </a:rPr>
              <a:t>Hai cánh dâng lên: hàng công 11, 14, 9, 4, 7. Ý xuyên ngành thử ở Số 14 trước khi tới Số 10. Số 10 → Số 8 → Số 9; Số 4 phá từng bổ đề trước khi Số 9 bỏ công. Số 3 bó vào giữa cấp bài kề.</a:t>
            </a:r>
          </a:p>
        </p:txBody>
      </p:sp>
      <p:sp>
        <p:nvSpPr>
          <p:cNvPr id="57" name="Oval 56"/>
          <p:cNvSpPr/>
          <p:nvPr/>
        </p:nvSpPr>
        <p:spPr>
          <a:xfrm>
            <a:off x="8001000" y="4160520"/>
            <a:ext cx="109728" cy="109728"/>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183879" y="4087368"/>
            <a:ext cx="3611880" cy="1371600"/>
          </a:xfrm>
          <a:prstGeom prst="rect">
            <a:avLst/>
          </a:prstGeom>
          <a:noFill/>
        </p:spPr>
        <p:txBody>
          <a:bodyPr wrap="square" lIns="0" rIns="0" tIns="0" bIns="0" anchor="t">
            <a:spAutoFit/>
          </a:bodyPr>
          <a:lstStyle/>
          <a:p>
            <a:pPr algn="l"/>
            <a:r>
              <a:rPr sz="1500" b="1" i="0">
                <a:solidFill>
                  <a:srgbClr val="1C2333"/>
                </a:solidFill>
                <a:latin typeface="Calibri"/>
              </a:rPr>
              <a:t>Bọc lót</a:t>
            </a:r>
          </a:p>
          <a:p>
            <a:pPr algn="l"/>
            <a:r>
              <a:rPr sz="1300" b="0" i="0">
                <a:solidFill>
                  <a:srgbClr val="394152"/>
                </a:solidFill>
                <a:latin typeface="Calibri"/>
              </a:rPr>
              <a:t>Số 2 và Số 3 luôn trực: bổ đề nhỏ nộp sớm được soát ngay, không chất đống chờ cuối pha.</a:t>
            </a:r>
          </a:p>
        </p:txBody>
      </p:sp>
      <p:sp>
        <p:nvSpPr>
          <p:cNvPr id="59" name="Oval 58"/>
          <p:cNvSpPr/>
          <p:nvPr/>
        </p:nvSpPr>
        <p:spPr>
          <a:xfrm>
            <a:off x="8001000" y="5486400"/>
            <a:ext cx="109728" cy="109728"/>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183879" y="5413248"/>
            <a:ext cx="3611880" cy="1371600"/>
          </a:xfrm>
          <a:prstGeom prst="rect">
            <a:avLst/>
          </a:prstGeom>
          <a:noFill/>
        </p:spPr>
        <p:txBody>
          <a:bodyPr wrap="square" lIns="0" rIns="0" tIns="0" bIns="0" anchor="t">
            <a:spAutoFit/>
          </a:bodyPr>
          <a:lstStyle/>
          <a:p>
            <a:pPr algn="l"/>
            <a:r>
              <a:rPr sz="1500" b="1" i="0">
                <a:solidFill>
                  <a:srgbClr val="1C2333"/>
                </a:solidFill>
                <a:latin typeface="Calibri"/>
              </a:rPr>
              <a:t>Kết thúc khi</a:t>
            </a:r>
          </a:p>
          <a:p>
            <a:pPr algn="l"/>
            <a:r>
              <a:rPr sz="1300" b="0" i="0">
                <a:solidFill>
                  <a:srgbClr val="394152"/>
                </a:solidFill>
                <a:latin typeface="Calibri"/>
              </a:rPr>
              <a:t>Có chứng minh cho một bổ đề chịu tải, hoặc hết ngân sách khám phá.</a:t>
            </a:r>
          </a:p>
        </p:txBody>
      </p:sp>
      <p:cxnSp>
        <p:nvCxnSpPr>
          <p:cNvPr id="61" name="11-14-0"/>
          <p:cNvCxnSpPr/>
          <p:nvPr/>
        </p:nvCxnSpPr>
        <p:spPr>
          <a:xfrm flipV="1">
            <a:off x="1391388" y="1849612"/>
            <a:ext cx="948523" cy="237131"/>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7-14-0"/>
          <p:cNvCxnSpPr/>
          <p:nvPr/>
        </p:nvCxnSpPr>
        <p:spPr>
          <a:xfrm flipV="1">
            <a:off x="6995160" y="1298448"/>
            <a:ext cx="0" cy="603504"/>
          </a:xfrm>
          <a:prstGeom prst="line">
            <a:avLst/>
          </a:prstGeom>
          <a:ln w="22225">
            <a:solidFill>
              <a:srgbClr val="2B59D9"/>
            </a:solidFill>
            <a:prstDash val="dash"/>
          </a:ln>
        </p:spPr>
        <p:style>
          <a:lnRef idx="2">
            <a:schemeClr val="accent1"/>
          </a:lnRef>
          <a:fillRef idx="0">
            <a:schemeClr val="accent1"/>
          </a:fillRef>
          <a:effectRef idx="1">
            <a:schemeClr val="accent1"/>
          </a:effectRef>
          <a:fontRef idx="minor">
            <a:schemeClr val="tx1"/>
          </a:fontRef>
        </p:style>
      </p:cxnSp>
      <p:cxnSp>
        <p:nvCxnSpPr>
          <p:cNvPr id="63" name="7-14-1"/>
          <p:cNvCxnSpPr/>
          <p:nvPr/>
        </p:nvCxnSpPr>
        <p:spPr>
          <a:xfrm flipH="1">
            <a:off x="2606040" y="1298448"/>
            <a:ext cx="4389120" cy="0"/>
          </a:xfrm>
          <a:prstGeom prst="line">
            <a:avLst/>
          </a:prstGeom>
          <a:ln w="22225">
            <a:solidFill>
              <a:srgbClr val="2B59D9"/>
            </a:solidFill>
            <a:prstDash val="dash"/>
          </a:ln>
        </p:spPr>
        <p:style>
          <a:lnRef idx="2">
            <a:schemeClr val="accent1"/>
          </a:lnRef>
          <a:fillRef idx="0">
            <a:schemeClr val="accent1"/>
          </a:fillRef>
          <a:effectRef idx="1">
            <a:schemeClr val="accent1"/>
          </a:effectRef>
          <a:fontRef idx="minor">
            <a:schemeClr val="tx1"/>
          </a:fontRef>
        </p:style>
      </p:cxnSp>
      <p:cxnSp>
        <p:nvCxnSpPr>
          <p:cNvPr id="64" name="7-14-2"/>
          <p:cNvCxnSpPr/>
          <p:nvPr/>
        </p:nvCxnSpPr>
        <p:spPr>
          <a:xfrm>
            <a:off x="2606040" y="1298448"/>
            <a:ext cx="0" cy="228600"/>
          </a:xfrm>
          <a:prstGeom prst="line">
            <a:avLst/>
          </a:prstGeom>
          <a:ln w="22225">
            <a:solidFill>
              <a:srgbClr val="2B59D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5" name="lbl-ý ngành xa: th"/>
          <p:cNvSpPr txBox="1"/>
          <p:nvPr/>
        </p:nvSpPr>
        <p:spPr>
          <a:xfrm>
            <a:off x="5257800" y="1316736"/>
            <a:ext cx="1554480" cy="256032"/>
          </a:xfrm>
          <a:prstGeom prst="rect">
            <a:avLst/>
          </a:prstGeom>
          <a:noFill/>
        </p:spPr>
        <p:txBody>
          <a:bodyPr wrap="square" lIns="0" rIns="0" tIns="0" bIns="0" anchor="t">
            <a:spAutoFit/>
          </a:bodyPr>
          <a:lstStyle/>
          <a:p>
            <a:pPr algn="l"/>
            <a:r>
              <a:rPr sz="1100" b="1" i="0">
                <a:solidFill>
                  <a:srgbClr val="2B59D9"/>
                </a:solidFill>
                <a:latin typeface="Calibri"/>
              </a:rPr>
              <a:t>ý ngành xa: thử ở Số 14</a:t>
            </a:r>
          </a:p>
        </p:txBody>
      </p:sp>
      <p:cxnSp>
        <p:nvCxnSpPr>
          <p:cNvPr id="66" name="14-10-0"/>
          <p:cNvCxnSpPr/>
          <p:nvPr/>
        </p:nvCxnSpPr>
        <p:spPr>
          <a:xfrm>
            <a:off x="2756631" y="1990142"/>
            <a:ext cx="1151102" cy="1582765"/>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lbl-thư viện ví dụ"/>
          <p:cNvSpPr txBox="1"/>
          <p:nvPr/>
        </p:nvSpPr>
        <p:spPr>
          <a:xfrm>
            <a:off x="2240280" y="2834640"/>
            <a:ext cx="1005840" cy="256032"/>
          </a:xfrm>
          <a:prstGeom prst="rect">
            <a:avLst/>
          </a:prstGeom>
          <a:noFill/>
        </p:spPr>
        <p:txBody>
          <a:bodyPr wrap="square" lIns="0" rIns="0" tIns="0" bIns="0" anchor="t">
            <a:spAutoFit/>
          </a:bodyPr>
          <a:lstStyle/>
          <a:p>
            <a:pPr algn="l"/>
            <a:r>
              <a:rPr sz="1100" b="1" i="0">
                <a:solidFill>
                  <a:srgbClr val="2B59D9"/>
                </a:solidFill>
                <a:latin typeface="Calibri"/>
              </a:rPr>
              <a:t>thư viện ví dụ</a:t>
            </a:r>
          </a:p>
        </p:txBody>
      </p:sp>
      <p:cxnSp>
        <p:nvCxnSpPr>
          <p:cNvPr id="68" name="10-8-0"/>
          <p:cNvCxnSpPr/>
          <p:nvPr/>
        </p:nvCxnSpPr>
        <p:spPr>
          <a:xfrm flipV="1">
            <a:off x="4069080" y="3273552"/>
            <a:ext cx="0" cy="274320"/>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lbl-phỏng đoán"/>
          <p:cNvSpPr txBox="1"/>
          <p:nvPr/>
        </p:nvSpPr>
        <p:spPr>
          <a:xfrm>
            <a:off x="4206240" y="3291840"/>
            <a:ext cx="822960" cy="256032"/>
          </a:xfrm>
          <a:prstGeom prst="rect">
            <a:avLst/>
          </a:prstGeom>
          <a:noFill/>
        </p:spPr>
        <p:txBody>
          <a:bodyPr wrap="square" lIns="0" rIns="0" tIns="0" bIns="0" anchor="t">
            <a:spAutoFit/>
          </a:bodyPr>
          <a:lstStyle/>
          <a:p>
            <a:pPr algn="l"/>
            <a:r>
              <a:rPr sz="1100" b="1" i="0">
                <a:solidFill>
                  <a:srgbClr val="2B59D9"/>
                </a:solidFill>
                <a:latin typeface="Calibri"/>
              </a:rPr>
              <a:t>phỏng đoán</a:t>
            </a:r>
          </a:p>
        </p:txBody>
      </p:sp>
      <p:cxnSp>
        <p:nvCxnSpPr>
          <p:cNvPr id="70" name="8-9-0"/>
          <p:cNvCxnSpPr/>
          <p:nvPr/>
        </p:nvCxnSpPr>
        <p:spPr>
          <a:xfrm flipV="1">
            <a:off x="4069080" y="2112264"/>
            <a:ext cx="0" cy="384048"/>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lbl-bổ đề kế tiếp"/>
          <p:cNvSpPr txBox="1"/>
          <p:nvPr/>
        </p:nvSpPr>
        <p:spPr>
          <a:xfrm>
            <a:off x="4206240" y="2194560"/>
            <a:ext cx="1005840" cy="256032"/>
          </a:xfrm>
          <a:prstGeom prst="rect">
            <a:avLst/>
          </a:prstGeom>
          <a:noFill/>
        </p:spPr>
        <p:txBody>
          <a:bodyPr wrap="square" lIns="0" rIns="0" tIns="0" bIns="0" anchor="t">
            <a:spAutoFit/>
          </a:bodyPr>
          <a:lstStyle/>
          <a:p>
            <a:pPr algn="l"/>
            <a:r>
              <a:rPr sz="1100" b="1" i="0">
                <a:solidFill>
                  <a:srgbClr val="2B59D9"/>
                </a:solidFill>
                <a:latin typeface="Calibri"/>
              </a:rPr>
              <a:t>bổ đề kế tiếp</a:t>
            </a:r>
          </a:p>
        </p:txBody>
      </p:sp>
      <p:cxnSp>
        <p:nvCxnSpPr>
          <p:cNvPr id="72" name="9-4-0"/>
          <p:cNvCxnSpPr/>
          <p:nvPr/>
        </p:nvCxnSpPr>
        <p:spPr>
          <a:xfrm>
            <a:off x="4325112" y="1627632"/>
            <a:ext cx="950976" cy="109728"/>
          </a:xfrm>
          <a:prstGeom prst="line">
            <a:avLst/>
          </a:prstGeom>
          <a:ln w="25400">
            <a:solidFill>
              <a:srgbClr val="C93A2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73" name="lbl-thử phá"/>
          <p:cNvSpPr txBox="1"/>
          <p:nvPr/>
        </p:nvSpPr>
        <p:spPr>
          <a:xfrm>
            <a:off x="4434840" y="1344168"/>
            <a:ext cx="640080" cy="256032"/>
          </a:xfrm>
          <a:prstGeom prst="rect">
            <a:avLst/>
          </a:prstGeom>
          <a:noFill/>
        </p:spPr>
        <p:txBody>
          <a:bodyPr wrap="square" lIns="0" rIns="0" tIns="0" bIns="0" anchor="t">
            <a:spAutoFit/>
          </a:bodyPr>
          <a:lstStyle/>
          <a:p>
            <a:pPr algn="l"/>
            <a:r>
              <a:rPr sz="1100" b="1" i="0">
                <a:solidFill>
                  <a:srgbClr val="C93A2A"/>
                </a:solidFill>
                <a:latin typeface="Calibri"/>
              </a:rPr>
              <a:t>thử phá</a:t>
            </a:r>
          </a:p>
        </p:txBody>
      </p:sp>
      <p:cxnSp>
        <p:nvCxnSpPr>
          <p:cNvPr id="74" name="6-10-0"/>
          <p:cNvCxnSpPr/>
          <p:nvPr/>
        </p:nvCxnSpPr>
        <p:spPr>
          <a:xfrm flipH="1" flipV="1">
            <a:off x="4325112" y="3822192"/>
            <a:ext cx="1280160" cy="219456"/>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lbl-giao bóng"/>
          <p:cNvSpPr txBox="1"/>
          <p:nvPr/>
        </p:nvSpPr>
        <p:spPr>
          <a:xfrm>
            <a:off x="4892040" y="4114800"/>
            <a:ext cx="822960" cy="256032"/>
          </a:xfrm>
          <a:prstGeom prst="rect">
            <a:avLst/>
          </a:prstGeom>
          <a:noFill/>
        </p:spPr>
        <p:txBody>
          <a:bodyPr wrap="square" lIns="0" rIns="0" tIns="0" bIns="0" anchor="t">
            <a:spAutoFit/>
          </a:bodyPr>
          <a:lstStyle/>
          <a:p>
            <a:pPr algn="l"/>
            <a:r>
              <a:rPr sz="1100" b="1" i="0">
                <a:solidFill>
                  <a:srgbClr val="1C2333"/>
                </a:solidFill>
                <a:latin typeface="Calibri"/>
              </a:rPr>
              <a:t>giao bóng</a:t>
            </a:r>
          </a:p>
        </p:txBody>
      </p:sp>
      <p:cxnSp>
        <p:nvCxnSpPr>
          <p:cNvPr id="76" name="3-10-0"/>
          <p:cNvCxnSpPr/>
          <p:nvPr/>
        </p:nvCxnSpPr>
        <p:spPr>
          <a:xfrm flipV="1">
            <a:off x="2852928" y="3950208"/>
            <a:ext cx="1005840" cy="950976"/>
          </a:xfrm>
          <a:prstGeom prst="line">
            <a:avLst/>
          </a:prstGeom>
          <a:ln w="22225">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7" name="lbl-bài kề"/>
          <p:cNvSpPr txBox="1"/>
          <p:nvPr/>
        </p:nvSpPr>
        <p:spPr>
          <a:xfrm>
            <a:off x="2743200" y="4206240"/>
            <a:ext cx="548640" cy="256032"/>
          </a:xfrm>
          <a:prstGeom prst="rect">
            <a:avLst/>
          </a:prstGeom>
          <a:noFill/>
        </p:spPr>
        <p:txBody>
          <a:bodyPr wrap="square" lIns="0" rIns="0" tIns="0" bIns="0" anchor="t">
            <a:spAutoFit/>
          </a:bodyPr>
          <a:lstStyle/>
          <a:p>
            <a:pPr algn="l"/>
            <a:r>
              <a:rPr sz="1100" b="1" i="0">
                <a:solidFill>
                  <a:srgbClr val="C93A2A"/>
                </a:solidFill>
                <a:latin typeface="Calibri"/>
              </a:rPr>
              <a:t>bài kề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Pha 2: phản pressing</a:t>
            </a:r>
          </a:p>
        </p:txBody>
      </p:sp>
      <p:sp>
        <p:nvSpPr>
          <p:cNvPr id="3" name="Rectangle 2"/>
          <p:cNvSpPr/>
          <p:nvPr/>
        </p:nvSpPr>
        <p:spPr>
          <a:xfrm>
            <a:off x="457200" y="1188720"/>
            <a:ext cx="7223760" cy="149504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09728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457200" y="2683764"/>
            <a:ext cx="7223760" cy="19933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2729484"/>
            <a:ext cx="109728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457200" y="4677156"/>
            <a:ext cx="7223760" cy="1495043"/>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722876"/>
            <a:ext cx="109728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sp>
        <p:nvSpPr>
          <p:cNvPr id="9" name="TextBox 8"/>
          <p:cNvSpPr txBox="1"/>
          <p:nvPr/>
        </p:nvSpPr>
        <p:spPr>
          <a:xfrm>
            <a:off x="457200" y="6400800"/>
            <a:ext cx="7223760" cy="274320"/>
          </a:xfrm>
          <a:prstGeom prst="rect">
            <a:avLst/>
          </a:prstGeom>
          <a:noFill/>
        </p:spPr>
        <p:txBody>
          <a:bodyPr wrap="square" lIns="0" rIns="0" tIns="0" bIns="0" anchor="t">
            <a:spAutoFit/>
          </a:bodyPr>
          <a:lstStyle/>
          <a:p>
            <a:pPr algn="l"/>
            <a:r>
              <a:rPr sz="1200" b="0" i="1">
                <a:solidFill>
                  <a:srgbClr val="394152"/>
                </a:solidFill>
                <a:latin typeface="Calibri"/>
              </a:rPr>
              <a:t>Mất bóng thì cả khu vực lao vào đoạt lại ngay, trong một cửa sổ ngắn.</a:t>
            </a:r>
          </a:p>
        </p:txBody>
      </p:sp>
      <p:sp>
        <p:nvSpPr>
          <p:cNvPr id="10" name="Diamond 9"/>
          <p:cNvSpPr/>
          <p:nvPr/>
        </p:nvSpPr>
        <p:spPr>
          <a:xfrm>
            <a:off x="3685032" y="2542032"/>
            <a:ext cx="768096" cy="548640"/>
          </a:xfrm>
          <a:prstGeom prst="diamond">
            <a:avLst/>
          </a:prstGeom>
          <a:solidFill>
            <a:srgbClr val="FBE9E6"/>
          </a:solidFill>
          <a:ln w="2540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46120" y="3108960"/>
            <a:ext cx="1645920" cy="274320"/>
          </a:xfrm>
          <a:prstGeom prst="rect">
            <a:avLst/>
          </a:prstGeom>
          <a:noFill/>
        </p:spPr>
        <p:txBody>
          <a:bodyPr wrap="square" lIns="0" rIns="0" tIns="0" bIns="0" anchor="t">
            <a:spAutoFit/>
          </a:bodyPr>
          <a:lstStyle/>
          <a:p>
            <a:pPr algn="ctr"/>
            <a:r>
              <a:rPr sz="1150" b="1" i="0">
                <a:solidFill>
                  <a:srgbClr val="C93A2A"/>
                </a:solidFill>
                <a:latin typeface="Calibri"/>
              </a:rPr>
              <a:t>vật cản ở bước k</a:t>
            </a:r>
          </a:p>
        </p:txBody>
      </p:sp>
      <p:grpSp>
        <p:nvGrpSpPr>
          <p:cNvPr id="57" name="Số 11"/>
          <p:cNvGrpSpPr/>
          <p:nvPr/>
        </p:nvGrpSpPr>
        <p:grpSpPr>
          <a:xfrm>
            <a:off x="228600" y="3383280"/>
            <a:ext cx="1645920" cy="740664"/>
            <a:chOff x="228600" y="3383280"/>
            <a:chExt cx="1645920" cy="740664"/>
          </a:xfrm>
        </p:grpSpPr>
        <p:sp>
          <p:nvSpPr>
            <p:cNvPr id="19" name="Oval 18"/>
            <p:cNvSpPr/>
            <p:nvPr/>
          </p:nvSpPr>
          <p:spPr>
            <a:xfrm>
              <a:off x="822960" y="338328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11</a:t>
              </a:r>
            </a:p>
          </p:txBody>
        </p:sp>
        <p:sp>
          <p:nvSpPr>
            <p:cNvPr id="20" name="TextBox 19"/>
            <p:cNvSpPr txBox="1"/>
            <p:nvPr/>
          </p:nvSpPr>
          <p:spPr>
            <a:xfrm>
              <a:off x="228600" y="386791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kề</a:t>
              </a:r>
            </a:p>
          </p:txBody>
        </p:sp>
      </p:grpSp>
      <p:grpSp>
        <p:nvGrpSpPr>
          <p:cNvPr id="58" name="Số 9"/>
          <p:cNvGrpSpPr/>
          <p:nvPr/>
        </p:nvGrpSpPr>
        <p:grpSpPr>
          <a:xfrm>
            <a:off x="3246120" y="1371600"/>
            <a:ext cx="1645920" cy="740664"/>
            <a:chOff x="3246120" y="1371600"/>
            <a:chExt cx="1645920" cy="740664"/>
          </a:xfrm>
        </p:grpSpPr>
        <p:sp>
          <p:nvSpPr>
            <p:cNvPr id="21" name="Oval 20"/>
            <p:cNvSpPr/>
            <p:nvPr/>
          </p:nvSpPr>
          <p:spPr>
            <a:xfrm>
              <a:off x="3840480" y="137160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9</a:t>
              </a:r>
            </a:p>
          </p:txBody>
        </p:sp>
        <p:sp>
          <p:nvSpPr>
            <p:cNvPr id="22" name="TextBox 21"/>
            <p:cNvSpPr txBox="1"/>
            <p:nvPr/>
          </p:nvSpPr>
          <p:spPr>
            <a:xfrm>
              <a:off x="3246120" y="1856232"/>
              <a:ext cx="1645920" cy="256032"/>
            </a:xfrm>
            <a:prstGeom prst="rect">
              <a:avLst/>
            </a:prstGeom>
            <a:noFill/>
          </p:spPr>
          <p:txBody>
            <a:bodyPr wrap="square" lIns="0" rIns="0" tIns="0" bIns="0" anchor="t">
              <a:spAutoFit/>
            </a:bodyPr>
            <a:lstStyle/>
            <a:p>
              <a:pPr algn="ctr"/>
              <a:r>
                <a:rPr sz="1150" b="1" i="0">
                  <a:solidFill>
                    <a:srgbClr val="1C2333"/>
                  </a:solidFill>
                  <a:latin typeface="Calibri"/>
                </a:rPr>
                <a:t>Chứng minh</a:t>
              </a:r>
            </a:p>
          </p:txBody>
        </p:sp>
      </p:grpSp>
      <p:grpSp>
        <p:nvGrpSpPr>
          <p:cNvPr id="59" name="Số 7"/>
          <p:cNvGrpSpPr/>
          <p:nvPr/>
        </p:nvGrpSpPr>
        <p:grpSpPr>
          <a:xfrm>
            <a:off x="6263640" y="3383280"/>
            <a:ext cx="1645920" cy="740664"/>
            <a:chOff x="6263640" y="3383280"/>
            <a:chExt cx="1645920" cy="740664"/>
          </a:xfrm>
        </p:grpSpPr>
        <p:sp>
          <p:nvSpPr>
            <p:cNvPr id="23" name="Oval 22"/>
            <p:cNvSpPr/>
            <p:nvPr/>
          </p:nvSpPr>
          <p:spPr>
            <a:xfrm>
              <a:off x="6858000" y="338328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7</a:t>
              </a:r>
            </a:p>
          </p:txBody>
        </p:sp>
        <p:sp>
          <p:nvSpPr>
            <p:cNvPr id="24" name="TextBox 23"/>
            <p:cNvSpPr txBox="1"/>
            <p:nvPr/>
          </p:nvSpPr>
          <p:spPr>
            <a:xfrm>
              <a:off x="6263640" y="386791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xa</a:t>
              </a:r>
            </a:p>
          </p:txBody>
        </p:sp>
      </p:grpSp>
      <p:grpSp>
        <p:nvGrpSpPr>
          <p:cNvPr id="60" name="Số 10"/>
          <p:cNvGrpSpPr/>
          <p:nvPr/>
        </p:nvGrpSpPr>
        <p:grpSpPr>
          <a:xfrm>
            <a:off x="1874520" y="3383280"/>
            <a:ext cx="1645920" cy="740664"/>
            <a:chOff x="1874520" y="3383280"/>
            <a:chExt cx="1645920" cy="740664"/>
          </a:xfrm>
        </p:grpSpPr>
        <p:sp>
          <p:nvSpPr>
            <p:cNvPr id="25" name="Oval 24"/>
            <p:cNvSpPr/>
            <p:nvPr/>
          </p:nvSpPr>
          <p:spPr>
            <a:xfrm>
              <a:off x="2468880" y="33832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10</a:t>
              </a:r>
            </a:p>
          </p:txBody>
        </p:sp>
        <p:sp>
          <p:nvSpPr>
            <p:cNvPr id="26" name="TextBox 25"/>
            <p:cNvSpPr txBox="1"/>
            <p:nvPr/>
          </p:nvSpPr>
          <p:spPr>
            <a:xfrm>
              <a:off x="1874520" y="3867912"/>
              <a:ext cx="1645920" cy="256032"/>
            </a:xfrm>
            <a:prstGeom prst="rect">
              <a:avLst/>
            </a:prstGeom>
            <a:noFill/>
          </p:spPr>
          <p:txBody>
            <a:bodyPr wrap="square" lIns="0" rIns="0" tIns="0" bIns="0" anchor="t">
              <a:spAutoFit/>
            </a:bodyPr>
            <a:lstStyle/>
            <a:p>
              <a:pPr algn="ctr"/>
              <a:r>
                <a:rPr sz="1150" b="1" i="0">
                  <a:solidFill>
                    <a:srgbClr val="1C2333"/>
                  </a:solidFill>
                  <a:latin typeface="Calibri"/>
                </a:rPr>
                <a:t>Trong ngành</a:t>
              </a:r>
            </a:p>
          </p:txBody>
        </p:sp>
      </p:grpSp>
      <p:grpSp>
        <p:nvGrpSpPr>
          <p:cNvPr id="61" name="Số 14"/>
          <p:cNvGrpSpPr/>
          <p:nvPr/>
        </p:nvGrpSpPr>
        <p:grpSpPr>
          <a:xfrm>
            <a:off x="1554480" y="1783080"/>
            <a:ext cx="1645920" cy="740664"/>
            <a:chOff x="1554480" y="1783080"/>
            <a:chExt cx="1645920" cy="740664"/>
          </a:xfrm>
        </p:grpSpPr>
        <p:sp>
          <p:nvSpPr>
            <p:cNvPr id="27" name="Oval 26"/>
            <p:cNvSpPr/>
            <p:nvPr/>
          </p:nvSpPr>
          <p:spPr>
            <a:xfrm>
              <a:off x="2148840" y="17830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14</a:t>
              </a:r>
            </a:p>
          </p:txBody>
        </p:sp>
        <p:sp>
          <p:nvSpPr>
            <p:cNvPr id="28" name="TextBox 27"/>
            <p:cNvSpPr txBox="1"/>
            <p:nvPr/>
          </p:nvSpPr>
          <p:spPr>
            <a:xfrm>
              <a:off x="1554480" y="2267712"/>
              <a:ext cx="1645920" cy="256032"/>
            </a:xfrm>
            <a:prstGeom prst="rect">
              <a:avLst/>
            </a:prstGeom>
            <a:noFill/>
          </p:spPr>
          <p:txBody>
            <a:bodyPr wrap="square" lIns="0" rIns="0" tIns="0" bIns="0" anchor="t">
              <a:spAutoFit/>
            </a:bodyPr>
            <a:lstStyle/>
            <a:p>
              <a:pPr algn="ctr"/>
              <a:r>
                <a:rPr sz="1150" b="1" i="0">
                  <a:solidFill>
                    <a:srgbClr val="1C2333"/>
                  </a:solidFill>
                  <a:latin typeface="Calibri"/>
                </a:rPr>
                <a:t>Ví dụ</a:t>
              </a:r>
            </a:p>
          </p:txBody>
        </p:sp>
      </p:grpSp>
      <p:grpSp>
        <p:nvGrpSpPr>
          <p:cNvPr id="62" name="Số 8"/>
          <p:cNvGrpSpPr/>
          <p:nvPr/>
        </p:nvGrpSpPr>
        <p:grpSpPr>
          <a:xfrm>
            <a:off x="4617720" y="3383280"/>
            <a:ext cx="1645920" cy="740664"/>
            <a:chOff x="4617720" y="3383280"/>
            <a:chExt cx="1645920" cy="740664"/>
          </a:xfrm>
        </p:grpSpPr>
        <p:sp>
          <p:nvSpPr>
            <p:cNvPr id="29" name="Oval 28"/>
            <p:cNvSpPr/>
            <p:nvPr/>
          </p:nvSpPr>
          <p:spPr>
            <a:xfrm>
              <a:off x="5212080" y="33832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8</a:t>
              </a:r>
            </a:p>
          </p:txBody>
        </p:sp>
        <p:sp>
          <p:nvSpPr>
            <p:cNvPr id="30" name="TextBox 29"/>
            <p:cNvSpPr txBox="1"/>
            <p:nvPr/>
          </p:nvSpPr>
          <p:spPr>
            <a:xfrm>
              <a:off x="4617720" y="3867912"/>
              <a:ext cx="1645920" cy="256032"/>
            </a:xfrm>
            <a:prstGeom prst="rect">
              <a:avLst/>
            </a:prstGeom>
            <a:noFill/>
          </p:spPr>
          <p:txBody>
            <a:bodyPr wrap="square" lIns="0" rIns="0" tIns="0" bIns="0" anchor="t">
              <a:spAutoFit/>
            </a:bodyPr>
            <a:lstStyle/>
            <a:p>
              <a:pPr algn="ctr"/>
              <a:r>
                <a:rPr sz="1150" b="1" i="0">
                  <a:solidFill>
                    <a:srgbClr val="1C2333"/>
                  </a:solidFill>
                  <a:latin typeface="Calibri"/>
                </a:rPr>
                <a:t>Blueprint</a:t>
              </a:r>
            </a:p>
          </p:txBody>
        </p:sp>
      </p:grpSp>
      <p:grpSp>
        <p:nvGrpSpPr>
          <p:cNvPr id="63" name="Số 6"/>
          <p:cNvGrpSpPr/>
          <p:nvPr/>
        </p:nvGrpSpPr>
        <p:grpSpPr>
          <a:xfrm>
            <a:off x="3246120" y="3995928"/>
            <a:ext cx="1645920" cy="740664"/>
            <a:chOff x="3246120" y="3995928"/>
            <a:chExt cx="1645920" cy="740664"/>
          </a:xfrm>
        </p:grpSpPr>
        <p:sp>
          <p:nvSpPr>
            <p:cNvPr id="31" name="Oval 30"/>
            <p:cNvSpPr/>
            <p:nvPr/>
          </p:nvSpPr>
          <p:spPr>
            <a:xfrm>
              <a:off x="3840480" y="3995928"/>
              <a:ext cx="457200" cy="457200"/>
            </a:xfrm>
            <a:prstGeom prst="ellipse">
              <a:avLst/>
            </a:prstGeom>
            <a:solidFill>
              <a:srgbClr val="1C2333"/>
            </a:solidFill>
            <a:ln w="1905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2" name="TextBox 31"/>
            <p:cNvSpPr txBox="1"/>
            <p:nvPr/>
          </p:nvSpPr>
          <p:spPr>
            <a:xfrm>
              <a:off x="3246120" y="4480560"/>
              <a:ext cx="1645920" cy="256032"/>
            </a:xfrm>
            <a:prstGeom prst="rect">
              <a:avLst/>
            </a:prstGeom>
            <a:noFill/>
          </p:spPr>
          <p:txBody>
            <a:bodyPr wrap="square" lIns="0" rIns="0" tIns="0" bIns="0" anchor="t">
              <a:spAutoFit/>
            </a:bodyPr>
            <a:lstStyle/>
            <a:p>
              <a:pPr algn="ctr"/>
              <a:r>
                <a:rPr sz="1150" b="1" i="0">
                  <a:solidFill>
                    <a:srgbClr val="1C2333"/>
                  </a:solidFill>
                  <a:latin typeface="Calibri"/>
                </a:rPr>
                <a:t>Điều phối</a:t>
              </a:r>
            </a:p>
          </p:txBody>
        </p:sp>
      </p:grpSp>
      <p:grpSp>
        <p:nvGrpSpPr>
          <p:cNvPr id="64" name="Số 3"/>
          <p:cNvGrpSpPr/>
          <p:nvPr/>
        </p:nvGrpSpPr>
        <p:grpSpPr>
          <a:xfrm>
            <a:off x="731520" y="4892040"/>
            <a:ext cx="1645920" cy="740664"/>
            <a:chOff x="731520" y="4892040"/>
            <a:chExt cx="1645920" cy="740664"/>
          </a:xfrm>
        </p:grpSpPr>
        <p:sp>
          <p:nvSpPr>
            <p:cNvPr id="33" name="Oval 32"/>
            <p:cNvSpPr/>
            <p:nvPr/>
          </p:nvSpPr>
          <p:spPr>
            <a:xfrm>
              <a:off x="1325880" y="489204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3</a:t>
              </a:r>
            </a:p>
          </p:txBody>
        </p:sp>
        <p:sp>
          <p:nvSpPr>
            <p:cNvPr id="34" name="TextBox 33"/>
            <p:cNvSpPr txBox="1"/>
            <p:nvPr/>
          </p:nvSpPr>
          <p:spPr>
            <a:xfrm>
              <a:off x="731520" y="5376672"/>
              <a:ext cx="1645920" cy="256032"/>
            </a:xfrm>
            <a:prstGeom prst="rect">
              <a:avLst/>
            </a:prstGeom>
            <a:noFill/>
          </p:spPr>
          <p:txBody>
            <a:bodyPr wrap="square" lIns="0" rIns="0" tIns="0" bIns="0" anchor="t">
              <a:spAutoFit/>
            </a:bodyPr>
            <a:lstStyle/>
            <a:p>
              <a:pPr algn="ctr"/>
              <a:r>
                <a:rPr sz="1150" b="1" i="0">
                  <a:solidFill>
                    <a:srgbClr val="B8BEC9"/>
                  </a:solidFill>
                  <a:latin typeface="Calibri"/>
                </a:rPr>
                <a:t>Tính mới</a:t>
              </a:r>
            </a:p>
          </p:txBody>
        </p:sp>
      </p:grpSp>
      <p:grpSp>
        <p:nvGrpSpPr>
          <p:cNvPr id="65" name="Số 4"/>
          <p:cNvGrpSpPr/>
          <p:nvPr/>
        </p:nvGrpSpPr>
        <p:grpSpPr>
          <a:xfrm>
            <a:off x="4937760" y="1783080"/>
            <a:ext cx="1645920" cy="740664"/>
            <a:chOff x="4937760" y="1783080"/>
            <a:chExt cx="1645920" cy="740664"/>
          </a:xfrm>
        </p:grpSpPr>
        <p:sp>
          <p:nvSpPr>
            <p:cNvPr id="35" name="Oval 34"/>
            <p:cNvSpPr/>
            <p:nvPr/>
          </p:nvSpPr>
          <p:spPr>
            <a:xfrm>
              <a:off x="5532120" y="178308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6" name="TextBox 35"/>
            <p:cNvSpPr txBox="1"/>
            <p:nvPr/>
          </p:nvSpPr>
          <p:spPr>
            <a:xfrm>
              <a:off x="4937760" y="2267712"/>
              <a:ext cx="1645920" cy="256032"/>
            </a:xfrm>
            <a:prstGeom prst="rect">
              <a:avLst/>
            </a:prstGeom>
            <a:noFill/>
          </p:spPr>
          <p:txBody>
            <a:bodyPr wrap="square" lIns="0" rIns="0" tIns="0" bIns="0" anchor="t">
              <a:spAutoFit/>
            </a:bodyPr>
            <a:lstStyle/>
            <a:p>
              <a:pPr algn="ctr"/>
              <a:r>
                <a:rPr sz="1150" b="1" i="0">
                  <a:solidFill>
                    <a:srgbClr val="1C2333"/>
                  </a:solidFill>
                  <a:latin typeface="Calibri"/>
                </a:rPr>
                <a:t>Phá</a:t>
              </a:r>
            </a:p>
          </p:txBody>
        </p:sp>
      </p:grpSp>
      <p:grpSp>
        <p:nvGrpSpPr>
          <p:cNvPr id="66" name="Số 2"/>
          <p:cNvGrpSpPr/>
          <p:nvPr/>
        </p:nvGrpSpPr>
        <p:grpSpPr>
          <a:xfrm>
            <a:off x="5760720" y="4937760"/>
            <a:ext cx="1645920" cy="740664"/>
            <a:chOff x="5760720" y="4937760"/>
            <a:chExt cx="1645920" cy="740664"/>
          </a:xfrm>
        </p:grpSpPr>
        <p:sp>
          <p:nvSpPr>
            <p:cNvPr id="37" name="Oval 36"/>
            <p:cNvSpPr/>
            <p:nvPr/>
          </p:nvSpPr>
          <p:spPr>
            <a:xfrm>
              <a:off x="6355080" y="493776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38" name="TextBox 37"/>
            <p:cNvSpPr txBox="1"/>
            <p:nvPr/>
          </p:nvSpPr>
          <p:spPr>
            <a:xfrm>
              <a:off x="5760720" y="5422392"/>
              <a:ext cx="1645920" cy="256032"/>
            </a:xfrm>
            <a:prstGeom prst="rect">
              <a:avLst/>
            </a:prstGeom>
            <a:noFill/>
          </p:spPr>
          <p:txBody>
            <a:bodyPr wrap="square" lIns="0" rIns="0" tIns="0" bIns="0" anchor="t">
              <a:spAutoFit/>
            </a:bodyPr>
            <a:lstStyle/>
            <a:p>
              <a:pPr algn="ctr"/>
              <a:r>
                <a:rPr sz="1150" b="1" i="0">
                  <a:solidFill>
                    <a:srgbClr val="1C2333"/>
                  </a:solidFill>
                  <a:latin typeface="Calibri"/>
                </a:rPr>
                <a:t>Soát chứng minh</a:t>
              </a:r>
            </a:p>
          </p:txBody>
        </p:sp>
      </p:grpSp>
      <p:grpSp>
        <p:nvGrpSpPr>
          <p:cNvPr id="67" name="Số 1"/>
          <p:cNvGrpSpPr/>
          <p:nvPr/>
        </p:nvGrpSpPr>
        <p:grpSpPr>
          <a:xfrm>
            <a:off x="3246120" y="5596128"/>
            <a:ext cx="1645920" cy="740664"/>
            <a:chOff x="3246120" y="5596128"/>
            <a:chExt cx="1645920" cy="740664"/>
          </a:xfrm>
        </p:grpSpPr>
        <p:sp>
          <p:nvSpPr>
            <p:cNvPr id="39" name="Oval 38"/>
            <p:cNvSpPr/>
            <p:nvPr/>
          </p:nvSpPr>
          <p:spPr>
            <a:xfrm>
              <a:off x="3840480" y="5596128"/>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a:t>
              </a:r>
            </a:p>
          </p:txBody>
        </p:sp>
        <p:sp>
          <p:nvSpPr>
            <p:cNvPr id="40" name="TextBox 39"/>
            <p:cNvSpPr txBox="1"/>
            <p:nvPr/>
          </p:nvSpPr>
          <p:spPr>
            <a:xfrm>
              <a:off x="3246120" y="6080760"/>
              <a:ext cx="1645920" cy="256032"/>
            </a:xfrm>
            <a:prstGeom prst="rect">
              <a:avLst/>
            </a:prstGeom>
            <a:noFill/>
          </p:spPr>
          <p:txBody>
            <a:bodyPr wrap="square" lIns="0" rIns="0" tIns="0" bIns="0" anchor="t">
              <a:spAutoFit/>
            </a:bodyPr>
            <a:lstStyle/>
            <a:p>
              <a:pPr algn="ctr"/>
              <a:r>
                <a:rPr sz="1150" b="1" i="0">
                  <a:solidFill>
                    <a:srgbClr val="B8BEC9"/>
                  </a:solidFill>
                  <a:latin typeface="Calibri"/>
                </a:rPr>
                <a:t>Kiểm chứng cuối</a:t>
              </a:r>
            </a:p>
          </p:txBody>
        </p:sp>
      </p:grpSp>
      <p:sp>
        <p:nvSpPr>
          <p:cNvPr id="41" name="Oval 40"/>
          <p:cNvSpPr/>
          <p:nvPr/>
        </p:nvSpPr>
        <p:spPr>
          <a:xfrm>
            <a:off x="8001000" y="1234440"/>
            <a:ext cx="109728" cy="109728"/>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83879" y="1161288"/>
            <a:ext cx="3611880" cy="1371600"/>
          </a:xfrm>
          <a:prstGeom prst="rect">
            <a:avLst/>
          </a:prstGeom>
          <a:noFill/>
        </p:spPr>
        <p:txBody>
          <a:bodyPr wrap="square" lIns="0" rIns="0" tIns="0" bIns="0" anchor="t">
            <a:spAutoFit/>
          </a:bodyPr>
          <a:lstStyle/>
          <a:p>
            <a:pPr algn="l"/>
            <a:r>
              <a:rPr sz="1500" b="1" i="0">
                <a:solidFill>
                  <a:srgbClr val="1C2333"/>
                </a:solidFill>
                <a:latin typeface="Calibri"/>
              </a:rPr>
              <a:t>Khi nào</a:t>
            </a:r>
          </a:p>
          <a:p>
            <a:pPr algn="l"/>
            <a:r>
              <a:rPr sz="1300" b="0" i="0">
                <a:solidFill>
                  <a:srgbClr val="394152"/>
                </a:solidFill>
                <a:latin typeface="Calibri"/>
              </a:rPr>
              <a:t>Một bổ đề chịu tải vừa bị phá: có phản ví dụ, hoặc lỗ hổng ở bước k.</a:t>
            </a:r>
          </a:p>
        </p:txBody>
      </p:sp>
      <p:sp>
        <p:nvSpPr>
          <p:cNvPr id="43" name="Oval 42"/>
          <p:cNvSpPr/>
          <p:nvPr/>
        </p:nvSpPr>
        <p:spPr>
          <a:xfrm>
            <a:off x="8001000" y="2560320"/>
            <a:ext cx="109728" cy="109728"/>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83879" y="2487168"/>
            <a:ext cx="3611880" cy="1371600"/>
          </a:xfrm>
          <a:prstGeom prst="rect">
            <a:avLst/>
          </a:prstGeom>
          <a:noFill/>
        </p:spPr>
        <p:txBody>
          <a:bodyPr wrap="square" lIns="0" rIns="0" tIns="0" bIns="0" anchor="t">
            <a:spAutoFit/>
          </a:bodyPr>
          <a:lstStyle/>
          <a:p>
            <a:pPr algn="l"/>
            <a:r>
              <a:rPr sz="1500" b="1" i="0">
                <a:solidFill>
                  <a:srgbClr val="1C2333"/>
                </a:solidFill>
                <a:latin typeface="Calibri"/>
              </a:rPr>
              <a:t>Ai chạy</a:t>
            </a:r>
          </a:p>
          <a:p>
            <a:pPr algn="l"/>
            <a:r>
              <a:rPr sz="1300" b="0" i="0">
                <a:solidFill>
                  <a:srgbClr val="394152"/>
                </a:solidFill>
                <a:latin typeface="Calibri"/>
              </a:rPr>
              <a:t>Các ghế gần vật cản nhất dồn vào đúng chỗ đó: Chứng minh, Trong ngành, Ví dụ, Phá, Blueprint. Số 2 chỉ chỉ chỗ lỗi; bản vá do một Số 2 ngữ cảnh mới chấm.</a:t>
            </a:r>
          </a:p>
        </p:txBody>
      </p:sp>
      <p:sp>
        <p:nvSpPr>
          <p:cNvPr id="45" name="Oval 44"/>
          <p:cNvSpPr/>
          <p:nvPr/>
        </p:nvSpPr>
        <p:spPr>
          <a:xfrm>
            <a:off x="8001000" y="4160520"/>
            <a:ext cx="109728" cy="109728"/>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183879" y="4087368"/>
            <a:ext cx="3611880" cy="1371600"/>
          </a:xfrm>
          <a:prstGeom prst="rect">
            <a:avLst/>
          </a:prstGeom>
          <a:noFill/>
        </p:spPr>
        <p:txBody>
          <a:bodyPr wrap="square" lIns="0" rIns="0" tIns="0" bIns="0" anchor="t">
            <a:spAutoFit/>
          </a:bodyPr>
          <a:lstStyle/>
          <a:p>
            <a:pPr algn="l"/>
            <a:r>
              <a:rPr sz="1500" b="1" i="0">
                <a:solidFill>
                  <a:srgbClr val="1C2333"/>
                </a:solidFill>
                <a:latin typeface="Calibri"/>
              </a:rPr>
              <a:t>Cửa sổ</a:t>
            </a:r>
          </a:p>
          <a:p>
            <a:pPr algn="l"/>
            <a:r>
              <a:rPr sz="1300" b="0" i="0">
                <a:solidFill>
                  <a:srgbClr val="394152"/>
                </a:solidFill>
                <a:latin typeface="Calibri"/>
              </a:rPr>
              <a:t>Số 6 đặt trước một cửa sổ ngắn (số lượt hoặc ngân sách).</a:t>
            </a:r>
          </a:p>
        </p:txBody>
      </p:sp>
      <p:sp>
        <p:nvSpPr>
          <p:cNvPr id="47" name="Oval 46"/>
          <p:cNvSpPr/>
          <p:nvPr/>
        </p:nvSpPr>
        <p:spPr>
          <a:xfrm>
            <a:off x="8001000" y="5486400"/>
            <a:ext cx="109728" cy="109728"/>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183879" y="5413248"/>
            <a:ext cx="3611880" cy="1371600"/>
          </a:xfrm>
          <a:prstGeom prst="rect">
            <a:avLst/>
          </a:prstGeom>
          <a:noFill/>
        </p:spPr>
        <p:txBody>
          <a:bodyPr wrap="square" lIns="0" rIns="0" tIns="0" bIns="0" anchor="t">
            <a:spAutoFit/>
          </a:bodyPr>
          <a:lstStyle/>
          <a:p>
            <a:pPr algn="l"/>
            <a:r>
              <a:rPr sz="1500" b="1" i="0">
                <a:solidFill>
                  <a:srgbClr val="1C2333"/>
                </a:solidFill>
                <a:latin typeface="Calibri"/>
              </a:rPr>
              <a:t>Kết thúc khi</a:t>
            </a:r>
          </a:p>
          <a:p>
            <a:pPr algn="l"/>
            <a:r>
              <a:rPr sz="1300" b="0" i="0">
                <a:solidFill>
                  <a:srgbClr val="394152"/>
                </a:solidFill>
                <a:latin typeface="Calibri"/>
              </a:rPr>
              <a:t>Vá được thì nộp lại. Hết cửa sổ thì ghi vào sổ tabu, rút về Pha 1.</a:t>
            </a:r>
          </a:p>
        </p:txBody>
      </p:sp>
      <p:cxnSp>
        <p:nvCxnSpPr>
          <p:cNvPr id="49" name="9-x-0"/>
          <p:cNvCxnSpPr/>
          <p:nvPr/>
        </p:nvCxnSpPr>
        <p:spPr>
          <a:xfrm>
            <a:off x="4069080" y="2139696"/>
            <a:ext cx="0" cy="365760"/>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14-x-0"/>
          <p:cNvCxnSpPr/>
          <p:nvPr/>
        </p:nvCxnSpPr>
        <p:spPr>
          <a:xfrm>
            <a:off x="2633472" y="2103120"/>
            <a:ext cx="1024128" cy="603504"/>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4-x-0"/>
          <p:cNvCxnSpPr/>
          <p:nvPr/>
        </p:nvCxnSpPr>
        <p:spPr>
          <a:xfrm flipH="1">
            <a:off x="4480560" y="2103120"/>
            <a:ext cx="1024128" cy="603504"/>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10-x-0"/>
          <p:cNvCxnSpPr/>
          <p:nvPr/>
        </p:nvCxnSpPr>
        <p:spPr>
          <a:xfrm flipV="1">
            <a:off x="2898648" y="2944368"/>
            <a:ext cx="868680" cy="512064"/>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8-x-0"/>
          <p:cNvCxnSpPr/>
          <p:nvPr/>
        </p:nvCxnSpPr>
        <p:spPr>
          <a:xfrm flipH="1" flipV="1">
            <a:off x="4370832" y="2944368"/>
            <a:ext cx="868680" cy="512064"/>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lbl-chỉ chỗ lỗi"/>
          <p:cNvSpPr txBox="1"/>
          <p:nvPr/>
        </p:nvSpPr>
        <p:spPr>
          <a:xfrm>
            <a:off x="6263640" y="4617720"/>
            <a:ext cx="914400" cy="256032"/>
          </a:xfrm>
          <a:prstGeom prst="rect">
            <a:avLst/>
          </a:prstGeom>
          <a:noFill/>
        </p:spPr>
        <p:txBody>
          <a:bodyPr wrap="square" lIns="0" rIns="0" tIns="0" bIns="0" anchor="t">
            <a:spAutoFit/>
          </a:bodyPr>
          <a:lstStyle/>
          <a:p>
            <a:pPr algn="l"/>
            <a:r>
              <a:rPr sz="1100" b="1" i="0">
                <a:solidFill>
                  <a:srgbClr val="C93A2A"/>
                </a:solidFill>
                <a:latin typeface="Calibri"/>
              </a:rPr>
              <a:t>chỉ chỗ lỗi</a:t>
            </a:r>
          </a:p>
        </p:txBody>
      </p:sp>
      <p:cxnSp>
        <p:nvCxnSpPr>
          <p:cNvPr id="55" name="6-x-0"/>
          <p:cNvCxnSpPr/>
          <p:nvPr/>
        </p:nvCxnSpPr>
        <p:spPr>
          <a:xfrm flipV="1">
            <a:off x="4069080" y="3401568"/>
            <a:ext cx="0" cy="566928"/>
          </a:xfrm>
          <a:prstGeom prst="line">
            <a:avLst/>
          </a:prstGeom>
          <a:ln w="15875">
            <a:solidFill>
              <a:srgbClr val="1C23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lbl-đặt cửa sổ"/>
          <p:cNvSpPr txBox="1"/>
          <p:nvPr/>
        </p:nvSpPr>
        <p:spPr>
          <a:xfrm>
            <a:off x="4160520" y="3547872"/>
            <a:ext cx="914400" cy="256032"/>
          </a:xfrm>
          <a:prstGeom prst="rect">
            <a:avLst/>
          </a:prstGeom>
          <a:noFill/>
        </p:spPr>
        <p:txBody>
          <a:bodyPr wrap="square" lIns="0" rIns="0" tIns="0" bIns="0" anchor="t">
            <a:spAutoFit/>
          </a:bodyPr>
          <a:lstStyle/>
          <a:p>
            <a:pPr algn="l"/>
            <a:r>
              <a:rPr sz="1100" b="1" i="0">
                <a:solidFill>
                  <a:srgbClr val="1C2333"/>
                </a:solidFill>
                <a:latin typeface="Calibri"/>
              </a:rPr>
              <a:t>đặt cửa sổ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Pha 3: kiểm và chốt, co về 5-4-1</a:t>
            </a:r>
          </a:p>
        </p:txBody>
      </p:sp>
      <p:sp>
        <p:nvSpPr>
          <p:cNvPr id="3" name="Rectangle 2"/>
          <p:cNvSpPr/>
          <p:nvPr/>
        </p:nvSpPr>
        <p:spPr>
          <a:xfrm>
            <a:off x="457200" y="1188720"/>
            <a:ext cx="7223760" cy="149504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09728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457200" y="2683764"/>
            <a:ext cx="7223760" cy="19933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2729484"/>
            <a:ext cx="109728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457200" y="4677156"/>
            <a:ext cx="7223760" cy="1495043"/>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722876"/>
            <a:ext cx="109728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sp>
        <p:nvSpPr>
          <p:cNvPr id="9" name="TextBox 8"/>
          <p:cNvSpPr txBox="1"/>
          <p:nvPr/>
        </p:nvSpPr>
        <p:spPr>
          <a:xfrm>
            <a:off x="457200" y="6400800"/>
            <a:ext cx="7223760" cy="274320"/>
          </a:xfrm>
          <a:prstGeom prst="rect">
            <a:avLst/>
          </a:prstGeom>
          <a:noFill/>
        </p:spPr>
        <p:txBody>
          <a:bodyPr wrap="square" lIns="0" rIns="0" tIns="0" bIns="0" anchor="t">
            <a:spAutoFit/>
          </a:bodyPr>
          <a:lstStyle/>
          <a:p>
            <a:pPr algn="l"/>
            <a:r>
              <a:rPr sz="1200" b="0" i="1">
                <a:solidFill>
                  <a:srgbClr val="394152"/>
                </a:solidFill>
                <a:latin typeface="Calibri"/>
              </a:rPr>
              <a:t>Dồn người xuống hàng thủ. Số 2 thành tổ nhiều agent, khác họ model.</a:t>
            </a:r>
          </a:p>
        </p:txBody>
      </p:sp>
      <p:grpSp>
        <p:nvGrpSpPr>
          <p:cNvPr id="63" name="Số 11"/>
          <p:cNvGrpSpPr/>
          <p:nvPr/>
        </p:nvGrpSpPr>
        <p:grpSpPr>
          <a:xfrm>
            <a:off x="182880" y="3063240"/>
            <a:ext cx="1645920" cy="740664"/>
            <a:chOff x="182880" y="3063240"/>
            <a:chExt cx="1645920" cy="740664"/>
          </a:xfrm>
        </p:grpSpPr>
        <p:sp>
          <p:nvSpPr>
            <p:cNvPr id="20" name="Oval 19"/>
            <p:cNvSpPr/>
            <p:nvPr/>
          </p:nvSpPr>
          <p:spPr>
            <a:xfrm>
              <a:off x="777240" y="306324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11</a:t>
              </a:r>
            </a:p>
          </p:txBody>
        </p:sp>
        <p:sp>
          <p:nvSpPr>
            <p:cNvPr id="21" name="TextBox 20"/>
            <p:cNvSpPr txBox="1"/>
            <p:nvPr/>
          </p:nvSpPr>
          <p:spPr>
            <a:xfrm>
              <a:off x="182880" y="354787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kề</a:t>
              </a:r>
            </a:p>
          </p:txBody>
        </p:sp>
      </p:grpSp>
      <p:grpSp>
        <p:nvGrpSpPr>
          <p:cNvPr id="64" name="Số 9"/>
          <p:cNvGrpSpPr/>
          <p:nvPr/>
        </p:nvGrpSpPr>
        <p:grpSpPr>
          <a:xfrm>
            <a:off x="3246120" y="1371600"/>
            <a:ext cx="1645920" cy="740664"/>
            <a:chOff x="3246120" y="1371600"/>
            <a:chExt cx="1645920" cy="740664"/>
          </a:xfrm>
        </p:grpSpPr>
        <p:sp>
          <p:nvSpPr>
            <p:cNvPr id="22" name="Oval 21"/>
            <p:cNvSpPr/>
            <p:nvPr/>
          </p:nvSpPr>
          <p:spPr>
            <a:xfrm>
              <a:off x="3840480" y="137160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9</a:t>
              </a:r>
            </a:p>
          </p:txBody>
        </p:sp>
        <p:sp>
          <p:nvSpPr>
            <p:cNvPr id="23" name="TextBox 22"/>
            <p:cNvSpPr txBox="1"/>
            <p:nvPr/>
          </p:nvSpPr>
          <p:spPr>
            <a:xfrm>
              <a:off x="3246120" y="1856232"/>
              <a:ext cx="1645920" cy="256032"/>
            </a:xfrm>
            <a:prstGeom prst="rect">
              <a:avLst/>
            </a:prstGeom>
            <a:noFill/>
          </p:spPr>
          <p:txBody>
            <a:bodyPr wrap="square" lIns="0" rIns="0" tIns="0" bIns="0" anchor="t">
              <a:spAutoFit/>
            </a:bodyPr>
            <a:lstStyle/>
            <a:p>
              <a:pPr algn="ctr"/>
              <a:r>
                <a:rPr sz="1150" b="1" i="0">
                  <a:solidFill>
                    <a:srgbClr val="1C2333"/>
                  </a:solidFill>
                  <a:latin typeface="Calibri"/>
                </a:rPr>
                <a:t>Chứng minh</a:t>
              </a:r>
            </a:p>
          </p:txBody>
        </p:sp>
      </p:grpSp>
      <p:grpSp>
        <p:nvGrpSpPr>
          <p:cNvPr id="65" name="Số 7"/>
          <p:cNvGrpSpPr/>
          <p:nvPr/>
        </p:nvGrpSpPr>
        <p:grpSpPr>
          <a:xfrm>
            <a:off x="6263640" y="3063240"/>
            <a:ext cx="1645920" cy="740664"/>
            <a:chOff x="6263640" y="3063240"/>
            <a:chExt cx="1645920" cy="740664"/>
          </a:xfrm>
        </p:grpSpPr>
        <p:sp>
          <p:nvSpPr>
            <p:cNvPr id="24" name="Oval 23"/>
            <p:cNvSpPr/>
            <p:nvPr/>
          </p:nvSpPr>
          <p:spPr>
            <a:xfrm>
              <a:off x="6858000" y="306324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7</a:t>
              </a:r>
            </a:p>
          </p:txBody>
        </p:sp>
        <p:sp>
          <p:nvSpPr>
            <p:cNvPr id="25" name="TextBox 24"/>
            <p:cNvSpPr txBox="1"/>
            <p:nvPr/>
          </p:nvSpPr>
          <p:spPr>
            <a:xfrm>
              <a:off x="6263640" y="354787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xa</a:t>
              </a:r>
            </a:p>
          </p:txBody>
        </p:sp>
      </p:grpSp>
      <p:grpSp>
        <p:nvGrpSpPr>
          <p:cNvPr id="66" name="Số 10"/>
          <p:cNvGrpSpPr/>
          <p:nvPr/>
        </p:nvGrpSpPr>
        <p:grpSpPr>
          <a:xfrm>
            <a:off x="4846320" y="3383280"/>
            <a:ext cx="1645920" cy="740664"/>
            <a:chOff x="4846320" y="3383280"/>
            <a:chExt cx="1645920" cy="740664"/>
          </a:xfrm>
        </p:grpSpPr>
        <p:sp>
          <p:nvSpPr>
            <p:cNvPr id="26" name="Oval 25"/>
            <p:cNvSpPr/>
            <p:nvPr/>
          </p:nvSpPr>
          <p:spPr>
            <a:xfrm>
              <a:off x="5440680" y="338328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10</a:t>
              </a:r>
            </a:p>
          </p:txBody>
        </p:sp>
        <p:sp>
          <p:nvSpPr>
            <p:cNvPr id="27" name="TextBox 26"/>
            <p:cNvSpPr txBox="1"/>
            <p:nvPr/>
          </p:nvSpPr>
          <p:spPr>
            <a:xfrm>
              <a:off x="4846320" y="3867912"/>
              <a:ext cx="1645920" cy="256032"/>
            </a:xfrm>
            <a:prstGeom prst="rect">
              <a:avLst/>
            </a:prstGeom>
            <a:noFill/>
          </p:spPr>
          <p:txBody>
            <a:bodyPr wrap="square" lIns="0" rIns="0" tIns="0" bIns="0" anchor="t">
              <a:spAutoFit/>
            </a:bodyPr>
            <a:lstStyle/>
            <a:p>
              <a:pPr algn="ctr"/>
              <a:r>
                <a:rPr sz="1150" b="1" i="0">
                  <a:solidFill>
                    <a:srgbClr val="B8BEC9"/>
                  </a:solidFill>
                  <a:latin typeface="Calibri"/>
                </a:rPr>
                <a:t>Trong ngành</a:t>
              </a:r>
            </a:p>
          </p:txBody>
        </p:sp>
      </p:grpSp>
      <p:grpSp>
        <p:nvGrpSpPr>
          <p:cNvPr id="67" name="Số 8"/>
          <p:cNvGrpSpPr/>
          <p:nvPr/>
        </p:nvGrpSpPr>
        <p:grpSpPr>
          <a:xfrm>
            <a:off x="4846320" y="2468880"/>
            <a:ext cx="1645920" cy="740664"/>
            <a:chOff x="4846320" y="2468880"/>
            <a:chExt cx="1645920" cy="740664"/>
          </a:xfrm>
        </p:grpSpPr>
        <p:sp>
          <p:nvSpPr>
            <p:cNvPr id="28" name="Oval 27"/>
            <p:cNvSpPr/>
            <p:nvPr/>
          </p:nvSpPr>
          <p:spPr>
            <a:xfrm>
              <a:off x="5440680" y="24688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8</a:t>
              </a:r>
            </a:p>
          </p:txBody>
        </p:sp>
        <p:sp>
          <p:nvSpPr>
            <p:cNvPr id="29" name="TextBox 28"/>
            <p:cNvSpPr txBox="1"/>
            <p:nvPr/>
          </p:nvSpPr>
          <p:spPr>
            <a:xfrm>
              <a:off x="4846320" y="2953512"/>
              <a:ext cx="1645920" cy="256032"/>
            </a:xfrm>
            <a:prstGeom prst="rect">
              <a:avLst/>
            </a:prstGeom>
            <a:noFill/>
          </p:spPr>
          <p:txBody>
            <a:bodyPr wrap="square" lIns="0" rIns="0" tIns="0" bIns="0" anchor="t">
              <a:spAutoFit/>
            </a:bodyPr>
            <a:lstStyle/>
            <a:p>
              <a:pPr algn="ctr"/>
              <a:r>
                <a:rPr sz="1150" b="1" i="0">
                  <a:solidFill>
                    <a:srgbClr val="1C2333"/>
                  </a:solidFill>
                  <a:latin typeface="Calibri"/>
                </a:rPr>
                <a:t>Blueprint</a:t>
              </a:r>
            </a:p>
          </p:txBody>
        </p:sp>
      </p:grpSp>
      <p:grpSp>
        <p:nvGrpSpPr>
          <p:cNvPr id="68" name="Số 6"/>
          <p:cNvGrpSpPr/>
          <p:nvPr/>
        </p:nvGrpSpPr>
        <p:grpSpPr>
          <a:xfrm>
            <a:off x="5943600" y="4160520"/>
            <a:ext cx="1645920" cy="740664"/>
            <a:chOff x="5943600" y="4160520"/>
            <a:chExt cx="1645920" cy="740664"/>
          </a:xfrm>
        </p:grpSpPr>
        <p:sp>
          <p:nvSpPr>
            <p:cNvPr id="30" name="Oval 29"/>
            <p:cNvSpPr/>
            <p:nvPr/>
          </p:nvSpPr>
          <p:spPr>
            <a:xfrm>
              <a:off x="6537960" y="4160520"/>
              <a:ext cx="457200" cy="457200"/>
            </a:xfrm>
            <a:prstGeom prst="ellipse">
              <a:avLst/>
            </a:prstGeom>
            <a:solidFill>
              <a:srgbClr val="1C2333"/>
            </a:solidFill>
            <a:ln w="1905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1" name="TextBox 30"/>
            <p:cNvSpPr txBox="1"/>
            <p:nvPr/>
          </p:nvSpPr>
          <p:spPr>
            <a:xfrm>
              <a:off x="5943600" y="4645152"/>
              <a:ext cx="1645920" cy="256032"/>
            </a:xfrm>
            <a:prstGeom prst="rect">
              <a:avLst/>
            </a:prstGeom>
            <a:noFill/>
          </p:spPr>
          <p:txBody>
            <a:bodyPr wrap="square" lIns="0" rIns="0" tIns="0" bIns="0" anchor="t">
              <a:spAutoFit/>
            </a:bodyPr>
            <a:lstStyle/>
            <a:p>
              <a:pPr algn="ctr"/>
              <a:r>
                <a:rPr sz="1150" b="1" i="0">
                  <a:solidFill>
                    <a:srgbClr val="1C2333"/>
                  </a:solidFill>
                  <a:latin typeface="Calibri"/>
                </a:rPr>
                <a:t>Điều phối</a:t>
              </a:r>
            </a:p>
          </p:txBody>
        </p:sp>
      </p:grpSp>
      <p:grpSp>
        <p:nvGrpSpPr>
          <p:cNvPr id="69" name="Số 14"/>
          <p:cNvGrpSpPr/>
          <p:nvPr/>
        </p:nvGrpSpPr>
        <p:grpSpPr>
          <a:xfrm>
            <a:off x="1463040" y="3520440"/>
            <a:ext cx="1645920" cy="740664"/>
            <a:chOff x="1463040" y="3520440"/>
            <a:chExt cx="1645920" cy="740664"/>
          </a:xfrm>
        </p:grpSpPr>
        <p:sp>
          <p:nvSpPr>
            <p:cNvPr id="32" name="Oval 31"/>
            <p:cNvSpPr/>
            <p:nvPr/>
          </p:nvSpPr>
          <p:spPr>
            <a:xfrm>
              <a:off x="2057400" y="352044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14</a:t>
              </a:r>
            </a:p>
          </p:txBody>
        </p:sp>
        <p:sp>
          <p:nvSpPr>
            <p:cNvPr id="33" name="TextBox 32"/>
            <p:cNvSpPr txBox="1"/>
            <p:nvPr/>
          </p:nvSpPr>
          <p:spPr>
            <a:xfrm>
              <a:off x="1463040" y="4005072"/>
              <a:ext cx="1645920" cy="256032"/>
            </a:xfrm>
            <a:prstGeom prst="rect">
              <a:avLst/>
            </a:prstGeom>
            <a:noFill/>
          </p:spPr>
          <p:txBody>
            <a:bodyPr wrap="square" lIns="0" rIns="0" tIns="0" bIns="0" anchor="t">
              <a:spAutoFit/>
            </a:bodyPr>
            <a:lstStyle/>
            <a:p>
              <a:pPr algn="ctr"/>
              <a:r>
                <a:rPr sz="1150" b="1" i="0">
                  <a:solidFill>
                    <a:srgbClr val="1C2333"/>
                  </a:solidFill>
                  <a:latin typeface="Calibri"/>
                </a:rPr>
                <a:t>Ví dụ</a:t>
              </a:r>
            </a:p>
          </p:txBody>
        </p:sp>
      </p:grpSp>
      <p:grpSp>
        <p:nvGrpSpPr>
          <p:cNvPr id="70" name="Số 3"/>
          <p:cNvGrpSpPr/>
          <p:nvPr/>
        </p:nvGrpSpPr>
        <p:grpSpPr>
          <a:xfrm>
            <a:off x="1005840" y="4892040"/>
            <a:ext cx="1645920" cy="740664"/>
            <a:chOff x="1005840" y="4892040"/>
            <a:chExt cx="1645920" cy="740664"/>
          </a:xfrm>
        </p:grpSpPr>
        <p:sp>
          <p:nvSpPr>
            <p:cNvPr id="34" name="Oval 33"/>
            <p:cNvSpPr/>
            <p:nvPr/>
          </p:nvSpPr>
          <p:spPr>
            <a:xfrm>
              <a:off x="1600200" y="489204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5" name="TextBox 34"/>
            <p:cNvSpPr txBox="1"/>
            <p:nvPr/>
          </p:nvSpPr>
          <p:spPr>
            <a:xfrm>
              <a:off x="1005840" y="5376672"/>
              <a:ext cx="1645920" cy="256032"/>
            </a:xfrm>
            <a:prstGeom prst="rect">
              <a:avLst/>
            </a:prstGeom>
            <a:noFill/>
          </p:spPr>
          <p:txBody>
            <a:bodyPr wrap="square" lIns="0" rIns="0" tIns="0" bIns="0" anchor="t">
              <a:spAutoFit/>
            </a:bodyPr>
            <a:lstStyle/>
            <a:p>
              <a:pPr algn="ctr"/>
              <a:r>
                <a:rPr sz="1150" b="1" i="0">
                  <a:solidFill>
                    <a:srgbClr val="1C2333"/>
                  </a:solidFill>
                  <a:latin typeface="Calibri"/>
                </a:rPr>
                <a:t>Tính mới</a:t>
              </a:r>
            </a:p>
          </p:txBody>
        </p:sp>
      </p:grpSp>
      <p:grpSp>
        <p:nvGrpSpPr>
          <p:cNvPr id="72" name="Số 2"/>
          <p:cNvGrpSpPr/>
          <p:nvPr/>
        </p:nvGrpSpPr>
        <p:grpSpPr>
          <a:xfrm>
            <a:off x="3246120" y="4754880"/>
            <a:ext cx="1645920" cy="740664"/>
            <a:chOff x="3246120" y="4754880"/>
            <a:chExt cx="1645920" cy="740664"/>
          </a:xfrm>
        </p:grpSpPr>
        <p:sp>
          <p:nvSpPr>
            <p:cNvPr id="40" name="Oval 39"/>
            <p:cNvSpPr/>
            <p:nvPr/>
          </p:nvSpPr>
          <p:spPr>
            <a:xfrm>
              <a:off x="3840480" y="475488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41" name="TextBox 40"/>
            <p:cNvSpPr txBox="1"/>
            <p:nvPr/>
          </p:nvSpPr>
          <p:spPr>
            <a:xfrm>
              <a:off x="3246120" y="5239512"/>
              <a:ext cx="1645920" cy="256032"/>
            </a:xfrm>
            <a:prstGeom prst="rect">
              <a:avLst/>
            </a:prstGeom>
            <a:noFill/>
          </p:spPr>
          <p:txBody>
            <a:bodyPr wrap="square" lIns="0" rIns="0" tIns="0" bIns="0" anchor="t">
              <a:spAutoFit/>
            </a:bodyPr>
            <a:lstStyle/>
            <a:p>
              <a:pPr algn="ctr"/>
              <a:r>
                <a:rPr sz="1150" b="1" i="0">
                  <a:solidFill>
                    <a:srgbClr val="1C2333"/>
                  </a:solidFill>
                  <a:latin typeface="Calibri"/>
                </a:rPr>
                <a:t>Soát chứng minh</a:t>
              </a:r>
            </a:p>
          </p:txBody>
        </p:sp>
        <p:sp>
          <p:nvSpPr>
            <p:cNvPr id="36" name="Oval 35"/>
            <p:cNvSpPr/>
            <p:nvPr/>
          </p:nvSpPr>
          <p:spPr>
            <a:xfrm>
              <a:off x="3657600" y="4791456"/>
              <a:ext cx="164592" cy="164592"/>
            </a:xfrm>
            <a:prstGeom prst="ellipse">
              <a:avLst/>
            </a:prstGeom>
            <a:solidFill>
              <a:srgbClr val="C93A2A"/>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315968" y="4791456"/>
              <a:ext cx="164592" cy="164592"/>
            </a:xfrm>
            <a:prstGeom prst="ellipse">
              <a:avLst/>
            </a:prstGeom>
            <a:solidFill>
              <a:srgbClr val="C93A2A"/>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grpSp>
        <p:nvGrpSpPr>
          <p:cNvPr id="71" name="Số 4"/>
          <p:cNvGrpSpPr/>
          <p:nvPr/>
        </p:nvGrpSpPr>
        <p:grpSpPr>
          <a:xfrm>
            <a:off x="5760720" y="1554480"/>
            <a:ext cx="1645920" cy="740664"/>
            <a:chOff x="5760720" y="1554480"/>
            <a:chExt cx="1645920" cy="740664"/>
          </a:xfrm>
        </p:grpSpPr>
        <p:sp>
          <p:nvSpPr>
            <p:cNvPr id="38" name="Oval 37"/>
            <p:cNvSpPr/>
            <p:nvPr/>
          </p:nvSpPr>
          <p:spPr>
            <a:xfrm>
              <a:off x="6355080" y="155448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4</a:t>
              </a:r>
            </a:p>
          </p:txBody>
        </p:sp>
        <p:sp>
          <p:nvSpPr>
            <p:cNvPr id="39" name="TextBox 38"/>
            <p:cNvSpPr txBox="1"/>
            <p:nvPr/>
          </p:nvSpPr>
          <p:spPr>
            <a:xfrm>
              <a:off x="5760720" y="2039112"/>
              <a:ext cx="1645920" cy="256032"/>
            </a:xfrm>
            <a:prstGeom prst="rect">
              <a:avLst/>
            </a:prstGeom>
            <a:noFill/>
          </p:spPr>
          <p:txBody>
            <a:bodyPr wrap="square" lIns="0" rIns="0" tIns="0" bIns="0" anchor="t">
              <a:spAutoFit/>
            </a:bodyPr>
            <a:lstStyle/>
            <a:p>
              <a:pPr algn="ctr"/>
              <a:r>
                <a:rPr sz="1150" b="1" i="0">
                  <a:solidFill>
                    <a:srgbClr val="B8BEC9"/>
                  </a:solidFill>
                  <a:latin typeface="Calibri"/>
                </a:rPr>
                <a:t>Phá</a:t>
              </a:r>
            </a:p>
          </p:txBody>
        </p:sp>
      </p:grpSp>
      <p:grpSp>
        <p:nvGrpSpPr>
          <p:cNvPr id="73" name="Số 1"/>
          <p:cNvGrpSpPr/>
          <p:nvPr/>
        </p:nvGrpSpPr>
        <p:grpSpPr>
          <a:xfrm>
            <a:off x="3246120" y="5623560"/>
            <a:ext cx="1645920" cy="740664"/>
            <a:chOff x="3246120" y="5623560"/>
            <a:chExt cx="1645920" cy="740664"/>
          </a:xfrm>
        </p:grpSpPr>
        <p:sp>
          <p:nvSpPr>
            <p:cNvPr id="42" name="Oval 41"/>
            <p:cNvSpPr/>
            <p:nvPr/>
          </p:nvSpPr>
          <p:spPr>
            <a:xfrm>
              <a:off x="3840480" y="5623560"/>
              <a:ext cx="457200" cy="457200"/>
            </a:xfrm>
            <a:prstGeom prst="ellipse">
              <a:avLst/>
            </a:prstGeom>
            <a:solidFill>
              <a:srgbClr val="A86C0E"/>
            </a:solidFill>
            <a:ln w="1905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43" name="TextBox 42"/>
            <p:cNvSpPr txBox="1"/>
            <p:nvPr/>
          </p:nvSpPr>
          <p:spPr>
            <a:xfrm>
              <a:off x="3246120" y="6108192"/>
              <a:ext cx="1645920" cy="256032"/>
            </a:xfrm>
            <a:prstGeom prst="rect">
              <a:avLst/>
            </a:prstGeom>
            <a:noFill/>
          </p:spPr>
          <p:txBody>
            <a:bodyPr wrap="square" lIns="0" rIns="0" tIns="0" bIns="0" anchor="t">
              <a:spAutoFit/>
            </a:bodyPr>
            <a:lstStyle/>
            <a:p>
              <a:pPr algn="ctr"/>
              <a:r>
                <a:rPr sz="1150" b="1" i="0">
                  <a:solidFill>
                    <a:srgbClr val="1C2333"/>
                  </a:solidFill>
                  <a:latin typeface="Calibri"/>
                </a:rPr>
                <a:t>Kiểm chứng cuối</a:t>
              </a:r>
            </a:p>
          </p:txBody>
        </p:sp>
      </p:grpSp>
      <p:sp>
        <p:nvSpPr>
          <p:cNvPr id="44" name="Oval 43"/>
          <p:cNvSpPr/>
          <p:nvPr/>
        </p:nvSpPr>
        <p:spPr>
          <a:xfrm>
            <a:off x="8001000" y="1234440"/>
            <a:ext cx="109728" cy="109728"/>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183879" y="1161288"/>
            <a:ext cx="3611880" cy="1371600"/>
          </a:xfrm>
          <a:prstGeom prst="rect">
            <a:avLst/>
          </a:prstGeom>
          <a:noFill/>
        </p:spPr>
        <p:txBody>
          <a:bodyPr wrap="square" lIns="0" rIns="0" tIns="0" bIns="0" anchor="t">
            <a:spAutoFit/>
          </a:bodyPr>
          <a:lstStyle/>
          <a:p>
            <a:pPr algn="l"/>
            <a:r>
              <a:rPr sz="1500" b="1" i="0">
                <a:solidFill>
                  <a:srgbClr val="1C2333"/>
                </a:solidFill>
                <a:latin typeface="Calibri"/>
              </a:rPr>
              <a:t>Khi nào</a:t>
            </a:r>
          </a:p>
          <a:p>
            <a:pPr algn="l"/>
            <a:r>
              <a:rPr sz="1300" b="0" i="0">
                <a:solidFill>
                  <a:srgbClr val="394152"/>
                </a:solidFill>
                <a:latin typeface="Calibri"/>
              </a:rPr>
              <a:t>Có chứng minh cho một bổ đề chịu tải.</a:t>
            </a:r>
          </a:p>
        </p:txBody>
      </p:sp>
      <p:sp>
        <p:nvSpPr>
          <p:cNvPr id="46" name="Oval 45"/>
          <p:cNvSpPr/>
          <p:nvPr/>
        </p:nvSpPr>
        <p:spPr>
          <a:xfrm>
            <a:off x="8001000" y="2560320"/>
            <a:ext cx="109728" cy="109728"/>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83879" y="2487168"/>
            <a:ext cx="3611880" cy="1371600"/>
          </a:xfrm>
          <a:prstGeom prst="rect">
            <a:avLst/>
          </a:prstGeom>
          <a:noFill/>
        </p:spPr>
        <p:txBody>
          <a:bodyPr wrap="square" lIns="0" rIns="0" tIns="0" bIns="0" anchor="t">
            <a:spAutoFit/>
          </a:bodyPr>
          <a:lstStyle/>
          <a:p>
            <a:pPr algn="l"/>
            <a:r>
              <a:rPr sz="1500" b="1" i="0">
                <a:solidFill>
                  <a:srgbClr val="1C2333"/>
                </a:solidFill>
                <a:latin typeface="Calibri"/>
              </a:rPr>
              <a:t>Ai chạy</a:t>
            </a:r>
          </a:p>
          <a:p>
            <a:pPr algn="l"/>
            <a:r>
              <a:rPr sz="1300" b="0" i="0">
                <a:solidFill>
                  <a:srgbClr val="394152"/>
                </a:solidFill>
                <a:latin typeface="Calibri"/>
              </a:rPr>
              <a:t>Số 2 thành tổ nhiều agent, khác họ model: soát từng bước và săn phản ví dụ cho từng bổ đề. Số 14 cấp dữ liệu số cho Số 2. Số 8 cập nhật blueprint. Số 9 ở lại chờ vá lỗi.</a:t>
            </a:r>
          </a:p>
        </p:txBody>
      </p:sp>
      <p:sp>
        <p:nvSpPr>
          <p:cNvPr id="48" name="Oval 47"/>
          <p:cNvSpPr/>
          <p:nvPr/>
        </p:nvSpPr>
        <p:spPr>
          <a:xfrm>
            <a:off x="8001000" y="4160520"/>
            <a:ext cx="109728" cy="109728"/>
          </a:xfrm>
          <a:prstGeom prst="ellipse">
            <a:avLst/>
          </a:prstGeom>
          <a:solidFill>
            <a:srgbClr val="B8B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183879" y="4087368"/>
            <a:ext cx="3611880" cy="1371600"/>
          </a:xfrm>
          <a:prstGeom prst="rect">
            <a:avLst/>
          </a:prstGeom>
          <a:noFill/>
        </p:spPr>
        <p:txBody>
          <a:bodyPr wrap="square" lIns="0" rIns="0" tIns="0" bIns="0" anchor="t">
            <a:spAutoFit/>
          </a:bodyPr>
          <a:lstStyle/>
          <a:p>
            <a:pPr algn="l"/>
            <a:r>
              <a:rPr sz="1500" b="1" i="0">
                <a:solidFill>
                  <a:srgbClr val="1C2333"/>
                </a:solidFill>
                <a:latin typeface="Calibri"/>
              </a:rPr>
              <a:t>Tắt</a:t>
            </a:r>
          </a:p>
          <a:p>
            <a:pPr algn="l"/>
            <a:r>
              <a:rPr sz="1300" b="0" i="0">
                <a:solidFill>
                  <a:srgbClr val="394152"/>
                </a:solidFill>
                <a:latin typeface="Calibri"/>
              </a:rPr>
              <a:t>Hai cánh và Trong ngành nghỉ. Số 4 vẫn đứng trên, không chấm chứng minh.</a:t>
            </a:r>
          </a:p>
        </p:txBody>
      </p:sp>
      <p:sp>
        <p:nvSpPr>
          <p:cNvPr id="50" name="Oval 49"/>
          <p:cNvSpPr/>
          <p:nvPr/>
        </p:nvSpPr>
        <p:spPr>
          <a:xfrm>
            <a:off x="8001000" y="5486400"/>
            <a:ext cx="109728" cy="109728"/>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183879" y="5413248"/>
            <a:ext cx="3611880" cy="1371600"/>
          </a:xfrm>
          <a:prstGeom prst="rect">
            <a:avLst/>
          </a:prstGeom>
          <a:noFill/>
        </p:spPr>
        <p:txBody>
          <a:bodyPr wrap="square" lIns="0" rIns="0" tIns="0" bIns="0" anchor="t">
            <a:spAutoFit/>
          </a:bodyPr>
          <a:lstStyle/>
          <a:p>
            <a:pPr algn="l"/>
            <a:r>
              <a:rPr sz="1500" b="1" i="0">
                <a:solidFill>
                  <a:srgbClr val="1C2333"/>
                </a:solidFill>
                <a:latin typeface="Calibri"/>
              </a:rPr>
              <a:t>Kết thúc khi</a:t>
            </a:r>
          </a:p>
          <a:p>
            <a:pPr algn="l"/>
            <a:r>
              <a:rPr sz="1300" b="0" i="0">
                <a:solidFill>
                  <a:srgbClr val="394152"/>
                </a:solidFill>
                <a:latin typeface="Calibri"/>
              </a:rPr>
              <a:t>Lean đạt: vào Kho đã kiểm, chuyển sang bổ đề kế tiếp ở Pha 1. Bị phá: sang Pha 2.</a:t>
            </a:r>
          </a:p>
        </p:txBody>
      </p:sp>
      <p:cxnSp>
        <p:nvCxnSpPr>
          <p:cNvPr id="52" name="nop-0"/>
          <p:cNvCxnSpPr/>
          <p:nvPr/>
        </p:nvCxnSpPr>
        <p:spPr>
          <a:xfrm>
            <a:off x="3931920" y="2139696"/>
            <a:ext cx="0" cy="2596896"/>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lbl-nộp"/>
          <p:cNvSpPr txBox="1"/>
          <p:nvPr/>
        </p:nvSpPr>
        <p:spPr>
          <a:xfrm>
            <a:off x="3429000" y="3291840"/>
            <a:ext cx="457200" cy="256032"/>
          </a:xfrm>
          <a:prstGeom prst="rect">
            <a:avLst/>
          </a:prstGeom>
          <a:noFill/>
        </p:spPr>
        <p:txBody>
          <a:bodyPr wrap="square" lIns="0" rIns="0" tIns="0" bIns="0" anchor="t">
            <a:spAutoFit/>
          </a:bodyPr>
          <a:lstStyle/>
          <a:p>
            <a:pPr algn="l"/>
            <a:r>
              <a:rPr sz="1100" b="1" i="0">
                <a:solidFill>
                  <a:srgbClr val="1C2333"/>
                </a:solidFill>
                <a:latin typeface="Calibri"/>
              </a:rPr>
              <a:t>nộp</a:t>
            </a:r>
          </a:p>
        </p:txBody>
      </p:sp>
      <p:cxnSp>
        <p:nvCxnSpPr>
          <p:cNvPr id="54" name="loi-0"/>
          <p:cNvCxnSpPr/>
          <p:nvPr/>
        </p:nvCxnSpPr>
        <p:spPr>
          <a:xfrm flipV="1">
            <a:off x="4206240" y="2139696"/>
            <a:ext cx="0" cy="2596896"/>
          </a:xfrm>
          <a:prstGeom prst="line">
            <a:avLst/>
          </a:prstGeom>
          <a:ln w="22225">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lbl-lỗi ở bước k"/>
          <p:cNvSpPr txBox="1"/>
          <p:nvPr/>
        </p:nvSpPr>
        <p:spPr>
          <a:xfrm>
            <a:off x="4297680" y="3291840"/>
            <a:ext cx="1097280" cy="256032"/>
          </a:xfrm>
          <a:prstGeom prst="rect">
            <a:avLst/>
          </a:prstGeom>
          <a:noFill/>
        </p:spPr>
        <p:txBody>
          <a:bodyPr wrap="square" lIns="0" rIns="0" tIns="0" bIns="0" anchor="t">
            <a:spAutoFit/>
          </a:bodyPr>
          <a:lstStyle/>
          <a:p>
            <a:pPr algn="l"/>
            <a:r>
              <a:rPr sz="1100" b="1" i="0">
                <a:solidFill>
                  <a:srgbClr val="C93A2A"/>
                </a:solidFill>
                <a:latin typeface="Calibri"/>
              </a:rPr>
              <a:t>lỗi ở bước k</a:t>
            </a:r>
          </a:p>
        </p:txBody>
      </p:sp>
      <p:cxnSp>
        <p:nvCxnSpPr>
          <p:cNvPr id="56" name="14-2-0"/>
          <p:cNvCxnSpPr/>
          <p:nvPr/>
        </p:nvCxnSpPr>
        <p:spPr>
          <a:xfrm>
            <a:off x="2511544" y="3905186"/>
            <a:ext cx="1241775" cy="859690"/>
          </a:xfrm>
          <a:prstGeom prst="line">
            <a:avLst/>
          </a:prstGeom>
          <a:ln w="22225">
            <a:solidFill>
              <a:srgbClr val="2B59D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7" name="lbl-dữ liệu số"/>
          <p:cNvSpPr txBox="1"/>
          <p:nvPr/>
        </p:nvSpPr>
        <p:spPr>
          <a:xfrm>
            <a:off x="2240280" y="4434840"/>
            <a:ext cx="914400" cy="256032"/>
          </a:xfrm>
          <a:prstGeom prst="rect">
            <a:avLst/>
          </a:prstGeom>
          <a:noFill/>
        </p:spPr>
        <p:txBody>
          <a:bodyPr wrap="square" lIns="0" rIns="0" tIns="0" bIns="0" anchor="t">
            <a:spAutoFit/>
          </a:bodyPr>
          <a:lstStyle/>
          <a:p>
            <a:pPr algn="l"/>
            <a:r>
              <a:rPr sz="1100" b="1" i="0">
                <a:solidFill>
                  <a:srgbClr val="2B59D9"/>
                </a:solidFill>
                <a:latin typeface="Calibri"/>
              </a:rPr>
              <a:t>dữ liệu số</a:t>
            </a:r>
          </a:p>
        </p:txBody>
      </p:sp>
      <p:cxnSp>
        <p:nvCxnSpPr>
          <p:cNvPr id="58" name="2-1-0"/>
          <p:cNvCxnSpPr/>
          <p:nvPr/>
        </p:nvCxnSpPr>
        <p:spPr>
          <a:xfrm flipH="1">
            <a:off x="3383280" y="4983480"/>
            <a:ext cx="256032" cy="0"/>
          </a:xfrm>
          <a:prstGeom prst="line">
            <a:avLst/>
          </a:prstGeom>
          <a:ln w="28575">
            <a:solidFill>
              <a:srgbClr val="1C2333"/>
            </a:solidFill>
          </a:ln>
        </p:spPr>
        <p:style>
          <a:lnRef idx="2">
            <a:schemeClr val="accent1"/>
          </a:lnRef>
          <a:fillRef idx="0">
            <a:schemeClr val="accent1"/>
          </a:fillRef>
          <a:effectRef idx="1">
            <a:schemeClr val="accent1"/>
          </a:effectRef>
          <a:fontRef idx="minor">
            <a:schemeClr val="tx1"/>
          </a:fontRef>
        </p:style>
      </p:cxnSp>
      <p:cxnSp>
        <p:nvCxnSpPr>
          <p:cNvPr id="59" name="2-1-1"/>
          <p:cNvCxnSpPr/>
          <p:nvPr/>
        </p:nvCxnSpPr>
        <p:spPr>
          <a:xfrm>
            <a:off x="3383280" y="4983480"/>
            <a:ext cx="0" cy="868680"/>
          </a:xfrm>
          <a:prstGeom prst="line">
            <a:avLst/>
          </a:prstGeom>
          <a:ln w="28575">
            <a:solidFill>
              <a:srgbClr val="1C2333"/>
            </a:solidFill>
          </a:ln>
        </p:spPr>
        <p:style>
          <a:lnRef idx="2">
            <a:schemeClr val="accent1"/>
          </a:lnRef>
          <a:fillRef idx="0">
            <a:schemeClr val="accent1"/>
          </a:fillRef>
          <a:effectRef idx="1">
            <a:schemeClr val="accent1"/>
          </a:effectRef>
          <a:fontRef idx="minor">
            <a:schemeClr val="tx1"/>
          </a:fontRef>
        </p:style>
      </p:cxnSp>
      <p:cxnSp>
        <p:nvCxnSpPr>
          <p:cNvPr id="60" name="2-1-2"/>
          <p:cNvCxnSpPr/>
          <p:nvPr/>
        </p:nvCxnSpPr>
        <p:spPr>
          <a:xfrm>
            <a:off x="3383280" y="5852160"/>
            <a:ext cx="429768" cy="0"/>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1-kho-0"/>
          <p:cNvCxnSpPr/>
          <p:nvPr/>
        </p:nvCxnSpPr>
        <p:spPr>
          <a:xfrm>
            <a:off x="4325112" y="5852160"/>
            <a:ext cx="3209544" cy="0"/>
          </a:xfrm>
          <a:prstGeom prst="line">
            <a:avLst/>
          </a:prstGeom>
          <a:ln w="25400">
            <a:solidFill>
              <a:srgbClr val="157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lbl-đạt: vào Kho đ"/>
          <p:cNvSpPr txBox="1"/>
          <p:nvPr/>
        </p:nvSpPr>
        <p:spPr>
          <a:xfrm>
            <a:off x="5394960" y="5559552"/>
            <a:ext cx="1554480" cy="256032"/>
          </a:xfrm>
          <a:prstGeom prst="rect">
            <a:avLst/>
          </a:prstGeom>
          <a:noFill/>
        </p:spPr>
        <p:txBody>
          <a:bodyPr wrap="square" lIns="0" rIns="0" tIns="0" bIns="0" anchor="t">
            <a:spAutoFit/>
          </a:bodyPr>
          <a:lstStyle/>
          <a:p>
            <a:pPr algn="l"/>
            <a:r>
              <a:rPr sz="1100" b="1" i="0">
                <a:solidFill>
                  <a:srgbClr val="157A55"/>
                </a:solidFill>
                <a:latin typeface="Calibri"/>
              </a:rPr>
              <a:t>đạt: vào Kho đã kiểm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Chuyển pha: Số 6 quyết định</a:t>
            </a:r>
          </a:p>
        </p:txBody>
      </p:sp>
      <p:grpSp>
        <p:nvGrpSpPr>
          <p:cNvPr id="49" name="Pha Rounded Rectangle 2"/>
          <p:cNvGrpSpPr/>
          <p:nvPr/>
        </p:nvGrpSpPr>
        <p:grpSpPr>
          <a:xfrm>
            <a:off x="640080" y="2377440"/>
            <a:ext cx="2560320" cy="1097280"/>
            <a:chOff x="640080" y="2377440"/>
            <a:chExt cx="2560320" cy="1097280"/>
          </a:xfrm>
        </p:grpSpPr>
        <p:sp>
          <p:nvSpPr>
            <p:cNvPr id="3" name="Rounded Rectangle 2"/>
            <p:cNvSpPr/>
            <p:nvPr/>
          </p:nvSpPr>
          <p:spPr>
            <a:xfrm>
              <a:off x="640080" y="2377440"/>
              <a:ext cx="2560320" cy="1097280"/>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2514600"/>
              <a:ext cx="411480" cy="411480"/>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2514600"/>
              <a:ext cx="411480" cy="411480"/>
            </a:xfrm>
            <a:prstGeom prst="rect">
              <a:avLst/>
            </a:prstGeom>
            <a:noFill/>
          </p:spPr>
          <p:txBody>
            <a:bodyPr wrap="square" lIns="0" rIns="0" tIns="0" bIns="0" anchor="ctr">
              <a:spAutoFit/>
            </a:bodyPr>
            <a:lstStyle/>
            <a:p>
              <a:pPr algn="ctr"/>
              <a:r>
                <a:rPr sz="1500" b="1" i="0">
                  <a:solidFill>
                    <a:srgbClr val="FFFFFF"/>
                  </a:solidFill>
                  <a:latin typeface="Calibri"/>
                </a:rPr>
                <a:t>0</a:t>
              </a:r>
            </a:p>
          </p:txBody>
        </p:sp>
        <p:sp>
          <p:nvSpPr>
            <p:cNvPr id="6" name="TextBox 5"/>
            <p:cNvSpPr txBox="1"/>
            <p:nvPr/>
          </p:nvSpPr>
          <p:spPr>
            <a:xfrm>
              <a:off x="1280160" y="2532888"/>
              <a:ext cx="1828800" cy="365760"/>
            </a:xfrm>
            <a:prstGeom prst="rect">
              <a:avLst/>
            </a:prstGeom>
            <a:noFill/>
          </p:spPr>
          <p:txBody>
            <a:bodyPr wrap="square" lIns="0" rIns="0" tIns="0" bIns="0" anchor="t">
              <a:spAutoFit/>
            </a:bodyPr>
            <a:lstStyle/>
            <a:p>
              <a:pPr algn="l"/>
              <a:r>
                <a:rPr sz="1600" b="1" i="0">
                  <a:solidFill>
                    <a:srgbClr val="1C2333"/>
                  </a:solidFill>
                  <a:latin typeface="Calibri"/>
                </a:rPr>
                <a:t>Xây từ sân nhà</a:t>
              </a:r>
            </a:p>
          </p:txBody>
        </p:sp>
        <p:sp>
          <p:nvSpPr>
            <p:cNvPr id="7" name="TextBox 6"/>
            <p:cNvSpPr txBox="1"/>
            <p:nvPr/>
          </p:nvSpPr>
          <p:spPr>
            <a:xfrm>
              <a:off x="1280160" y="2944368"/>
              <a:ext cx="1828800" cy="365760"/>
            </a:xfrm>
            <a:prstGeom prst="rect">
              <a:avLst/>
            </a:prstGeom>
            <a:noFill/>
          </p:spPr>
          <p:txBody>
            <a:bodyPr wrap="square" lIns="0" rIns="0" tIns="0" bIns="0" anchor="t">
              <a:spAutoFit/>
            </a:bodyPr>
            <a:lstStyle/>
            <a:p>
              <a:pPr algn="l"/>
              <a:r>
                <a:rPr sz="1300" b="0" i="0">
                  <a:solidFill>
                    <a:srgbClr val="394152"/>
                  </a:solidFill>
                  <a:latin typeface="Calibri"/>
                </a:rPr>
                <a:t>khoá đề, chốt định nghĩa</a:t>
              </a:r>
            </a:p>
          </p:txBody>
        </p:sp>
      </p:grpSp>
      <p:grpSp>
        <p:nvGrpSpPr>
          <p:cNvPr id="50" name="Pha Rounded Rectangle 7"/>
          <p:cNvGrpSpPr/>
          <p:nvPr/>
        </p:nvGrpSpPr>
        <p:grpSpPr>
          <a:xfrm>
            <a:off x="3566160" y="1371600"/>
            <a:ext cx="2560320" cy="1097280"/>
            <a:chOff x="3566160" y="1371600"/>
            <a:chExt cx="2560320" cy="1097280"/>
          </a:xfrm>
        </p:grpSpPr>
        <p:sp>
          <p:nvSpPr>
            <p:cNvPr id="8" name="Rounded Rectangle 7"/>
            <p:cNvSpPr/>
            <p:nvPr/>
          </p:nvSpPr>
          <p:spPr>
            <a:xfrm>
              <a:off x="3566160" y="1371600"/>
              <a:ext cx="2560320" cy="1097280"/>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703320" y="1508760"/>
              <a:ext cx="411480" cy="411480"/>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703320" y="1508760"/>
              <a:ext cx="411480" cy="411480"/>
            </a:xfrm>
            <a:prstGeom prst="rect">
              <a:avLst/>
            </a:prstGeom>
            <a:noFill/>
          </p:spPr>
          <p:txBody>
            <a:bodyPr wrap="square" lIns="0" rIns="0" tIns="0" bIns="0" anchor="ctr">
              <a:spAutoFit/>
            </a:bodyPr>
            <a:lstStyle/>
            <a:p>
              <a:pPr algn="ctr"/>
              <a:r>
                <a:rPr sz="1500" b="1" i="0">
                  <a:solidFill>
                    <a:srgbClr val="FFFFFF"/>
                  </a:solidFill>
                  <a:latin typeface="Calibri"/>
                </a:rPr>
                <a:t>1</a:t>
              </a:r>
            </a:p>
          </p:txBody>
        </p:sp>
        <p:sp>
          <p:nvSpPr>
            <p:cNvPr id="11" name="TextBox 10"/>
            <p:cNvSpPr txBox="1"/>
            <p:nvPr/>
          </p:nvSpPr>
          <p:spPr>
            <a:xfrm>
              <a:off x="4206240" y="1527048"/>
              <a:ext cx="1828800" cy="365760"/>
            </a:xfrm>
            <a:prstGeom prst="rect">
              <a:avLst/>
            </a:prstGeom>
            <a:noFill/>
          </p:spPr>
          <p:txBody>
            <a:bodyPr wrap="square" lIns="0" rIns="0" tIns="0" bIns="0" anchor="t">
              <a:spAutoFit/>
            </a:bodyPr>
            <a:lstStyle/>
            <a:p>
              <a:pPr algn="l"/>
              <a:r>
                <a:rPr sz="1600" b="1" i="0">
                  <a:solidFill>
                    <a:srgbClr val="1C2333"/>
                  </a:solidFill>
                  <a:latin typeface="Calibri"/>
                </a:rPr>
                <a:t>Khám phá 2-3-5</a:t>
              </a:r>
            </a:p>
          </p:txBody>
        </p:sp>
        <p:sp>
          <p:nvSpPr>
            <p:cNvPr id="12" name="TextBox 11"/>
            <p:cNvSpPr txBox="1"/>
            <p:nvPr/>
          </p:nvSpPr>
          <p:spPr>
            <a:xfrm>
              <a:off x="4206240" y="1938528"/>
              <a:ext cx="1828800" cy="365760"/>
            </a:xfrm>
            <a:prstGeom prst="rect">
              <a:avLst/>
            </a:prstGeom>
            <a:noFill/>
          </p:spPr>
          <p:txBody>
            <a:bodyPr wrap="square" lIns="0" rIns="0" tIns="0" bIns="0" anchor="t">
              <a:spAutoFit/>
            </a:bodyPr>
            <a:lstStyle/>
            <a:p>
              <a:pPr algn="l"/>
              <a:r>
                <a:rPr sz="1300" b="0" i="0">
                  <a:solidFill>
                    <a:srgbClr val="394152"/>
                  </a:solidFill>
                  <a:latin typeface="Calibri"/>
                </a:rPr>
                <a:t>sinh rộng, bọc lót</a:t>
              </a:r>
            </a:p>
          </p:txBody>
        </p:sp>
      </p:grpSp>
      <p:grpSp>
        <p:nvGrpSpPr>
          <p:cNvPr id="51" name="Pha Rounded Rectangle 12"/>
          <p:cNvGrpSpPr/>
          <p:nvPr/>
        </p:nvGrpSpPr>
        <p:grpSpPr>
          <a:xfrm>
            <a:off x="6492240" y="2377440"/>
            <a:ext cx="2560320" cy="1097280"/>
            <a:chOff x="6492240" y="2377440"/>
            <a:chExt cx="2560320" cy="1097280"/>
          </a:xfrm>
        </p:grpSpPr>
        <p:sp>
          <p:nvSpPr>
            <p:cNvPr id="13" name="Rounded Rectangle 12"/>
            <p:cNvSpPr/>
            <p:nvPr/>
          </p:nvSpPr>
          <p:spPr>
            <a:xfrm>
              <a:off x="6492240" y="2377440"/>
              <a:ext cx="2560320" cy="1097280"/>
            </a:xfrm>
            <a:prstGeom prst="roundRect">
              <a:avLst/>
            </a:prstGeom>
            <a:solidFill>
              <a:srgbClr val="FFFFFF"/>
            </a:solidFill>
            <a:ln w="2540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629400" y="2514600"/>
              <a:ext cx="411480" cy="411480"/>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29400" y="2514600"/>
              <a:ext cx="411480" cy="411480"/>
            </a:xfrm>
            <a:prstGeom prst="rect">
              <a:avLst/>
            </a:prstGeom>
            <a:noFill/>
          </p:spPr>
          <p:txBody>
            <a:bodyPr wrap="square" lIns="0" rIns="0" tIns="0" bIns="0" anchor="ctr">
              <a:spAutoFit/>
            </a:bodyPr>
            <a:lstStyle/>
            <a:p>
              <a:pPr algn="ctr"/>
              <a:r>
                <a:rPr sz="1500" b="1" i="0">
                  <a:solidFill>
                    <a:srgbClr val="FFFFFF"/>
                  </a:solidFill>
                  <a:latin typeface="Calibri"/>
                </a:rPr>
                <a:t>3</a:t>
              </a:r>
            </a:p>
          </p:txBody>
        </p:sp>
        <p:sp>
          <p:nvSpPr>
            <p:cNvPr id="16" name="TextBox 15"/>
            <p:cNvSpPr txBox="1"/>
            <p:nvPr/>
          </p:nvSpPr>
          <p:spPr>
            <a:xfrm>
              <a:off x="7132320" y="2532888"/>
              <a:ext cx="1828800" cy="365760"/>
            </a:xfrm>
            <a:prstGeom prst="rect">
              <a:avLst/>
            </a:prstGeom>
            <a:noFill/>
          </p:spPr>
          <p:txBody>
            <a:bodyPr wrap="square" lIns="0" rIns="0" tIns="0" bIns="0" anchor="t">
              <a:spAutoFit/>
            </a:bodyPr>
            <a:lstStyle/>
            <a:p>
              <a:pPr algn="l"/>
              <a:r>
                <a:rPr sz="1600" b="1" i="0">
                  <a:solidFill>
                    <a:srgbClr val="1C2333"/>
                  </a:solidFill>
                  <a:latin typeface="Calibri"/>
                </a:rPr>
                <a:t>Kiểm và chốt 5-4-1</a:t>
              </a:r>
            </a:p>
          </p:txBody>
        </p:sp>
        <p:sp>
          <p:nvSpPr>
            <p:cNvPr id="17" name="TextBox 16"/>
            <p:cNvSpPr txBox="1"/>
            <p:nvPr/>
          </p:nvSpPr>
          <p:spPr>
            <a:xfrm>
              <a:off x="7132320" y="2944368"/>
              <a:ext cx="1828800" cy="365760"/>
            </a:xfrm>
            <a:prstGeom prst="rect">
              <a:avLst/>
            </a:prstGeom>
            <a:noFill/>
          </p:spPr>
          <p:txBody>
            <a:bodyPr wrap="square" lIns="0" rIns="0" tIns="0" bIns="0" anchor="t">
              <a:spAutoFit/>
            </a:bodyPr>
            <a:lstStyle/>
            <a:p>
              <a:pPr algn="l"/>
              <a:r>
                <a:rPr sz="1300" b="0" i="0">
                  <a:solidFill>
                    <a:srgbClr val="394152"/>
                  </a:solidFill>
                  <a:latin typeface="Calibri"/>
                </a:rPr>
                <a:t>dồn người kiểm</a:t>
              </a:r>
            </a:p>
          </p:txBody>
        </p:sp>
      </p:grpSp>
      <p:grpSp>
        <p:nvGrpSpPr>
          <p:cNvPr id="52" name="Pha Rounded Rectangle 17"/>
          <p:cNvGrpSpPr/>
          <p:nvPr/>
        </p:nvGrpSpPr>
        <p:grpSpPr>
          <a:xfrm>
            <a:off x="3566160" y="4206240"/>
            <a:ext cx="2560320" cy="1097280"/>
            <a:chOff x="3566160" y="4206240"/>
            <a:chExt cx="2560320" cy="1097280"/>
          </a:xfrm>
        </p:grpSpPr>
        <p:sp>
          <p:nvSpPr>
            <p:cNvPr id="18" name="Rounded Rectangle 17"/>
            <p:cNvSpPr/>
            <p:nvPr/>
          </p:nvSpPr>
          <p:spPr>
            <a:xfrm>
              <a:off x="3566160" y="4206240"/>
              <a:ext cx="2560320" cy="1097280"/>
            </a:xfrm>
            <a:prstGeom prst="roundRect">
              <a:avLst/>
            </a:prstGeom>
            <a:solidFill>
              <a:srgbClr val="FFFFFF"/>
            </a:solidFill>
            <a:ln w="2540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703320" y="4343400"/>
              <a:ext cx="411480" cy="41148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03320" y="4343400"/>
              <a:ext cx="411480" cy="411480"/>
            </a:xfrm>
            <a:prstGeom prst="rect">
              <a:avLst/>
            </a:prstGeom>
            <a:noFill/>
          </p:spPr>
          <p:txBody>
            <a:bodyPr wrap="square" lIns="0" rIns="0" tIns="0" bIns="0" anchor="ctr">
              <a:spAutoFit/>
            </a:bodyPr>
            <a:lstStyle/>
            <a:p>
              <a:pPr algn="ctr"/>
              <a:r>
                <a:rPr sz="1500" b="1" i="0">
                  <a:solidFill>
                    <a:srgbClr val="FFFFFF"/>
                  </a:solidFill>
                  <a:latin typeface="Calibri"/>
                </a:rPr>
                <a:t>2</a:t>
              </a:r>
            </a:p>
          </p:txBody>
        </p:sp>
        <p:sp>
          <p:nvSpPr>
            <p:cNvPr id="21" name="TextBox 20"/>
            <p:cNvSpPr txBox="1"/>
            <p:nvPr/>
          </p:nvSpPr>
          <p:spPr>
            <a:xfrm>
              <a:off x="4206240" y="4361688"/>
              <a:ext cx="1828800" cy="365760"/>
            </a:xfrm>
            <a:prstGeom prst="rect">
              <a:avLst/>
            </a:prstGeom>
            <a:noFill/>
          </p:spPr>
          <p:txBody>
            <a:bodyPr wrap="square" lIns="0" rIns="0" tIns="0" bIns="0" anchor="t">
              <a:spAutoFit/>
            </a:bodyPr>
            <a:lstStyle/>
            <a:p>
              <a:pPr algn="l"/>
              <a:r>
                <a:rPr sz="1600" b="1" i="0">
                  <a:solidFill>
                    <a:srgbClr val="1C2333"/>
                  </a:solidFill>
                  <a:latin typeface="Calibri"/>
                </a:rPr>
                <a:t>Phản pressing</a:t>
              </a:r>
            </a:p>
          </p:txBody>
        </p:sp>
        <p:sp>
          <p:nvSpPr>
            <p:cNvPr id="22" name="TextBox 21"/>
            <p:cNvSpPr txBox="1"/>
            <p:nvPr/>
          </p:nvSpPr>
          <p:spPr>
            <a:xfrm>
              <a:off x="4206240" y="4773168"/>
              <a:ext cx="1828800" cy="365760"/>
            </a:xfrm>
            <a:prstGeom prst="rect">
              <a:avLst/>
            </a:prstGeom>
            <a:noFill/>
          </p:spPr>
          <p:txBody>
            <a:bodyPr wrap="square" lIns="0" rIns="0" tIns="0" bIns="0" anchor="t">
              <a:spAutoFit/>
            </a:bodyPr>
            <a:lstStyle/>
            <a:p>
              <a:pPr algn="l"/>
              <a:r>
                <a:rPr sz="1300" b="0" i="0">
                  <a:solidFill>
                    <a:srgbClr val="394152"/>
                  </a:solidFill>
                  <a:latin typeface="Calibri"/>
                </a:rPr>
                <a:t>dồn vào vật cản</a:t>
              </a:r>
            </a:p>
          </p:txBody>
        </p:sp>
      </p:grpSp>
      <p:cxnSp>
        <p:nvCxnSpPr>
          <p:cNvPr id="23" name="Connector 22"/>
          <p:cNvCxnSpPr/>
          <p:nvPr/>
        </p:nvCxnSpPr>
        <p:spPr>
          <a:xfrm flipV="1">
            <a:off x="3200400" y="2194560"/>
            <a:ext cx="365760" cy="457200"/>
          </a:xfrm>
          <a:prstGeom prst="line">
            <a:avLst/>
          </a:prstGeom>
          <a:ln w="2540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194560" y="2103120"/>
            <a:ext cx="1280160" cy="274320"/>
          </a:xfrm>
          <a:prstGeom prst="rect">
            <a:avLst/>
          </a:prstGeom>
          <a:noFill/>
        </p:spPr>
        <p:txBody>
          <a:bodyPr wrap="square" lIns="0" rIns="0" tIns="0" bIns="0" anchor="t">
            <a:spAutoFit/>
          </a:bodyPr>
          <a:lstStyle/>
          <a:p>
            <a:pPr algn="l"/>
            <a:r>
              <a:rPr sz="1100" b="1" i="0">
                <a:solidFill>
                  <a:srgbClr val="1C2333"/>
                </a:solidFill>
                <a:latin typeface="Calibri"/>
              </a:rPr>
              <a:t>đề đã khoá</a:t>
            </a:r>
          </a:p>
        </p:txBody>
      </p:sp>
      <p:cxnSp>
        <p:nvCxnSpPr>
          <p:cNvPr id="25" name="Connector 24"/>
          <p:cNvCxnSpPr/>
          <p:nvPr/>
        </p:nvCxnSpPr>
        <p:spPr>
          <a:xfrm>
            <a:off x="6126480" y="2011680"/>
            <a:ext cx="365760" cy="548640"/>
          </a:xfrm>
          <a:prstGeom prst="line">
            <a:avLst/>
          </a:prstGeom>
          <a:ln w="2540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09360" y="1691640"/>
            <a:ext cx="2377440" cy="274320"/>
          </a:xfrm>
          <a:prstGeom prst="rect">
            <a:avLst/>
          </a:prstGeom>
          <a:noFill/>
        </p:spPr>
        <p:txBody>
          <a:bodyPr wrap="square" lIns="0" rIns="0" tIns="0" bIns="0" anchor="t">
            <a:spAutoFit/>
          </a:bodyPr>
          <a:lstStyle/>
          <a:p>
            <a:pPr algn="l"/>
            <a:r>
              <a:rPr sz="1100" b="1" i="0">
                <a:solidFill>
                  <a:srgbClr val="1C2333"/>
                </a:solidFill>
                <a:latin typeface="Calibri"/>
              </a:rPr>
              <a:t>có chứng minh chịu tải</a:t>
            </a:r>
          </a:p>
        </p:txBody>
      </p:sp>
      <p:cxnSp>
        <p:nvCxnSpPr>
          <p:cNvPr id="27" name="Connector 26"/>
          <p:cNvCxnSpPr/>
          <p:nvPr/>
        </p:nvCxnSpPr>
        <p:spPr>
          <a:xfrm flipH="1">
            <a:off x="6126480" y="3474720"/>
            <a:ext cx="822960" cy="1097280"/>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766560" y="3977639"/>
            <a:ext cx="1463040" cy="274320"/>
          </a:xfrm>
          <a:prstGeom prst="rect">
            <a:avLst/>
          </a:prstGeom>
          <a:noFill/>
        </p:spPr>
        <p:txBody>
          <a:bodyPr wrap="square" lIns="0" rIns="0" tIns="0" bIns="0" anchor="t">
            <a:spAutoFit/>
          </a:bodyPr>
          <a:lstStyle/>
          <a:p>
            <a:pPr algn="l"/>
            <a:r>
              <a:rPr sz="1100" b="1" i="0">
                <a:solidFill>
                  <a:srgbClr val="C93A2A"/>
                </a:solidFill>
                <a:latin typeface="Calibri"/>
              </a:rPr>
              <a:t>bị phá</a:t>
            </a:r>
          </a:p>
        </p:txBody>
      </p:sp>
      <p:cxnSp>
        <p:nvCxnSpPr>
          <p:cNvPr id="29" name="Connector 28"/>
          <p:cNvCxnSpPr/>
          <p:nvPr/>
        </p:nvCxnSpPr>
        <p:spPr>
          <a:xfrm flipV="1">
            <a:off x="4206240" y="2468880"/>
            <a:ext cx="0" cy="1737360"/>
          </a:xfrm>
          <a:prstGeom prst="line">
            <a:avLst/>
          </a:prstGeom>
          <a:ln w="25400">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20240" y="3246120"/>
            <a:ext cx="2194560" cy="274320"/>
          </a:xfrm>
          <a:prstGeom prst="rect">
            <a:avLst/>
          </a:prstGeom>
          <a:noFill/>
        </p:spPr>
        <p:txBody>
          <a:bodyPr wrap="square" lIns="0" rIns="0" tIns="0" bIns="0" anchor="t">
            <a:spAutoFit/>
          </a:bodyPr>
          <a:lstStyle/>
          <a:p>
            <a:pPr algn="r"/>
            <a:r>
              <a:rPr sz="1100" b="1" i="0">
                <a:solidFill>
                  <a:srgbClr val="C93A2A"/>
                </a:solidFill>
                <a:latin typeface="Calibri"/>
              </a:rPr>
              <a:t>hết cửa sổ: tabu, về Pha 1</a:t>
            </a:r>
          </a:p>
        </p:txBody>
      </p:sp>
      <p:cxnSp>
        <p:nvCxnSpPr>
          <p:cNvPr id="31" name="Connector 30"/>
          <p:cNvCxnSpPr/>
          <p:nvPr/>
        </p:nvCxnSpPr>
        <p:spPr>
          <a:xfrm flipV="1">
            <a:off x="5394960" y="2468880"/>
            <a:ext cx="0" cy="1737360"/>
          </a:xfrm>
          <a:prstGeom prst="line">
            <a:avLst/>
          </a:prstGeom>
          <a:ln w="25400">
            <a:solidFill>
              <a:srgbClr val="157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0" y="3246120"/>
            <a:ext cx="1280160" cy="274320"/>
          </a:xfrm>
          <a:prstGeom prst="rect">
            <a:avLst/>
          </a:prstGeom>
          <a:noFill/>
        </p:spPr>
        <p:txBody>
          <a:bodyPr wrap="square" lIns="0" rIns="0" tIns="0" bIns="0" anchor="t">
            <a:spAutoFit/>
          </a:bodyPr>
          <a:lstStyle/>
          <a:p>
            <a:pPr algn="l"/>
            <a:r>
              <a:rPr sz="1100" b="1" i="0">
                <a:solidFill>
                  <a:srgbClr val="157A55"/>
                </a:solidFill>
                <a:latin typeface="Calibri"/>
              </a:rPr>
              <a:t>vá được</a:t>
            </a:r>
          </a:p>
        </p:txBody>
      </p:sp>
      <p:cxnSp>
        <p:nvCxnSpPr>
          <p:cNvPr id="33" name="Connector 32"/>
          <p:cNvCxnSpPr/>
          <p:nvPr/>
        </p:nvCxnSpPr>
        <p:spPr>
          <a:xfrm flipH="1" flipV="1">
            <a:off x="6126480" y="1737360"/>
            <a:ext cx="1645920" cy="640080"/>
          </a:xfrm>
          <a:prstGeom prst="line">
            <a:avLst/>
          </a:prstGeom>
          <a:ln w="25400">
            <a:solidFill>
              <a:srgbClr val="157A5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589520" y="1417320"/>
            <a:ext cx="2468880" cy="274320"/>
          </a:xfrm>
          <a:prstGeom prst="rect">
            <a:avLst/>
          </a:prstGeom>
          <a:noFill/>
        </p:spPr>
        <p:txBody>
          <a:bodyPr wrap="square" lIns="0" rIns="0" tIns="0" bIns="0" anchor="t">
            <a:spAutoFit/>
          </a:bodyPr>
          <a:lstStyle/>
          <a:p>
            <a:pPr algn="l"/>
            <a:r>
              <a:rPr sz="1100" b="1" i="0">
                <a:solidFill>
                  <a:srgbClr val="157A55"/>
                </a:solidFill>
                <a:latin typeface="Calibri"/>
              </a:rPr>
              <a:t>Lean đạt: bổ đề kế tiếp</a:t>
            </a:r>
          </a:p>
        </p:txBody>
      </p:sp>
      <p:sp>
        <p:nvSpPr>
          <p:cNvPr id="35" name="TextBox 34"/>
          <p:cNvSpPr txBox="1"/>
          <p:nvPr/>
        </p:nvSpPr>
        <p:spPr>
          <a:xfrm>
            <a:off x="9418320" y="1371600"/>
            <a:ext cx="2377440" cy="4023360"/>
          </a:xfrm>
          <a:prstGeom prst="rect">
            <a:avLst/>
          </a:prstGeom>
          <a:noFill/>
        </p:spPr>
        <p:txBody>
          <a:bodyPr wrap="square" lIns="0" rIns="0" tIns="0" bIns="0" anchor="t">
            <a:spAutoFit/>
          </a:bodyPr>
          <a:lstStyle/>
          <a:p>
            <a:pPr algn="l"/>
            <a:r>
              <a:rPr sz="1500" b="1" i="0">
                <a:solidFill>
                  <a:srgbClr val="1C2333"/>
                </a:solidFill>
                <a:latin typeface="Calibri"/>
              </a:rPr>
              <a:t>Luật chuyển pha</a:t>
            </a:r>
          </a:p>
          <a:p>
            <a:pPr algn="l"/>
            <a:r>
              <a:rPr sz="1300" b="0" i="0">
                <a:solidFill>
                  <a:srgbClr val="394152"/>
                </a:solidFill>
                <a:latin typeface="Calibri"/>
              </a:rPr>
              <a:t>Chỉ Số 6 ra lệnh chuyển pha.</a:t>
            </a:r>
          </a:p>
          <a:p>
            <a:pPr algn="l"/>
            <a:r>
              <a:rPr sz="1300" b="0" i="0">
                <a:solidFill>
                  <a:srgbClr val="394152"/>
                </a:solidFill>
                <a:latin typeface="Calibri"/>
              </a:rPr>
              <a:t>Ghế nào tắt ở pha nào thì nghỉ, không tốn ngân sách.</a:t>
            </a:r>
          </a:p>
          <a:p>
            <a:pPr algn="l"/>
            <a:r>
              <a:rPr sz="1300" b="0" i="0">
                <a:solidFill>
                  <a:srgbClr val="394152"/>
                </a:solidFill>
                <a:latin typeface="Calibri"/>
              </a:rPr>
              <a:t>Thay người khi ngữ cảnh ≥ 50% áp dụng ở mọi pha.</a:t>
            </a:r>
          </a:p>
          <a:p>
            <a:pPr algn="l"/>
            <a:r>
              <a:rPr sz="1300" b="0" i="0">
                <a:solidFill>
                  <a:srgbClr val="394152"/>
                </a:solidFill>
                <a:latin typeface="Calibri"/>
              </a:rPr>
              <a:t>Hai người bọc lót không bao giờ tắt.</a:t>
            </a:r>
          </a:p>
          <a:p>
            <a:pPr algn="l"/>
            <a:r>
              <a:rPr sz="1300" b="0" i="0">
                <a:solidFill>
                  <a:srgbClr val="394152"/>
                </a:solidFill>
                <a:latin typeface="Calibri"/>
              </a:rPr>
              <a:t>Số 14 không bao giờ tắt: mọi ghế thử trên ví dụ của nó.</a:t>
            </a:r>
          </a:p>
        </p:txBody>
      </p:sp>
      <p:grpSp>
        <p:nvGrpSpPr>
          <p:cNvPr id="53" name="Pha −1"/>
          <p:cNvGrpSpPr/>
          <p:nvPr/>
        </p:nvGrpSpPr>
        <p:grpSpPr>
          <a:xfrm>
            <a:off x="640080" y="4206240"/>
            <a:ext cx="2560320" cy="1097280"/>
            <a:chOff x="640080" y="4206240"/>
            <a:chExt cx="2560320" cy="1097280"/>
          </a:xfrm>
        </p:grpSpPr>
        <p:sp>
          <p:nvSpPr>
            <p:cNvPr id="36" name="neg1-0"/>
            <p:cNvSpPr/>
            <p:nvPr/>
          </p:nvSpPr>
          <p:spPr>
            <a:xfrm>
              <a:off x="640080" y="4206240"/>
              <a:ext cx="2560320" cy="1097280"/>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eg1-1"/>
            <p:cNvSpPr/>
            <p:nvPr/>
          </p:nvSpPr>
          <p:spPr>
            <a:xfrm>
              <a:off x="777240" y="4343400"/>
              <a:ext cx="411480" cy="411480"/>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eg1-2"/>
            <p:cNvSpPr txBox="1"/>
            <p:nvPr/>
          </p:nvSpPr>
          <p:spPr>
            <a:xfrm>
              <a:off x="777240" y="4343400"/>
              <a:ext cx="411480" cy="411480"/>
            </a:xfrm>
            <a:prstGeom prst="rect">
              <a:avLst/>
            </a:prstGeom>
            <a:noFill/>
          </p:spPr>
          <p:txBody>
            <a:bodyPr wrap="square" lIns="0" rIns="0" tIns="0" bIns="0" anchor="ctr">
              <a:spAutoFit/>
            </a:bodyPr>
            <a:lstStyle/>
            <a:p>
              <a:pPr algn="ctr"/>
              <a:r>
                <a:rPr sz="1500" b="1" i="0">
                  <a:solidFill>
                    <a:srgbClr val="FFFFFF"/>
                  </a:solidFill>
                  <a:latin typeface="Calibri"/>
                </a:rPr>
                <a:t>−1</a:t>
              </a:r>
            </a:p>
          </p:txBody>
        </p:sp>
        <p:sp>
          <p:nvSpPr>
            <p:cNvPr id="39" name="neg1-3"/>
            <p:cNvSpPr txBox="1"/>
            <p:nvPr/>
          </p:nvSpPr>
          <p:spPr>
            <a:xfrm>
              <a:off x="1280160" y="4361688"/>
              <a:ext cx="1828800" cy="365760"/>
            </a:xfrm>
            <a:prstGeom prst="rect">
              <a:avLst/>
            </a:prstGeom>
            <a:noFill/>
          </p:spPr>
          <p:txBody>
            <a:bodyPr wrap="square" lIns="0" rIns="0" tIns="0" bIns="0" anchor="t">
              <a:spAutoFit/>
            </a:bodyPr>
            <a:lstStyle/>
            <a:p>
              <a:pPr algn="l"/>
              <a:r>
                <a:rPr sz="1600" b="1" i="0">
                  <a:solidFill>
                    <a:srgbClr val="1C2333"/>
                  </a:solidFill>
                  <a:latin typeface="Calibri"/>
                </a:rPr>
                <a:t>Ví dụ</a:t>
              </a:r>
            </a:p>
          </p:txBody>
        </p:sp>
        <p:sp>
          <p:nvSpPr>
            <p:cNvPr id="40" name="neg1-4"/>
            <p:cNvSpPr txBox="1"/>
            <p:nvPr/>
          </p:nvSpPr>
          <p:spPr>
            <a:xfrm>
              <a:off x="1280160" y="4773168"/>
              <a:ext cx="1828800" cy="365760"/>
            </a:xfrm>
            <a:prstGeom prst="rect">
              <a:avLst/>
            </a:prstGeom>
            <a:noFill/>
          </p:spPr>
          <p:txBody>
            <a:bodyPr wrap="square" lIns="0" rIns="0" tIns="0" bIns="0" anchor="t">
              <a:spAutoFit/>
            </a:bodyPr>
            <a:lstStyle/>
            <a:p>
              <a:pPr algn="l"/>
              <a:r>
                <a:rPr sz="1300" b="0" i="0">
                  <a:solidFill>
                    <a:srgbClr val="394152"/>
                  </a:solidFill>
                  <a:latin typeface="Calibri"/>
                </a:rPr>
                <a:t>tính ví dụ, đặt phỏng đoán</a:t>
              </a:r>
            </a:p>
          </p:txBody>
        </p:sp>
      </p:grpSp>
      <p:cxnSp>
        <p:nvCxnSpPr>
          <p:cNvPr id="45" name="neg1-0"/>
          <p:cNvCxnSpPr/>
          <p:nvPr/>
        </p:nvCxnSpPr>
        <p:spPr>
          <a:xfrm flipV="1">
            <a:off x="1920240" y="3474720"/>
            <a:ext cx="0" cy="731520"/>
          </a:xfrm>
          <a:prstGeom prst="line">
            <a:avLst/>
          </a:prstGeom>
          <a:ln w="2540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lbl-neg1-0"/>
          <p:cNvSpPr txBox="1"/>
          <p:nvPr/>
        </p:nvSpPr>
        <p:spPr>
          <a:xfrm>
            <a:off x="2011680" y="3703320"/>
            <a:ext cx="1463040" cy="274320"/>
          </a:xfrm>
          <a:prstGeom prst="rect">
            <a:avLst/>
          </a:prstGeom>
          <a:noFill/>
        </p:spPr>
        <p:txBody>
          <a:bodyPr wrap="square" lIns="0" rIns="0" tIns="0" bIns="0" anchor="t">
            <a:spAutoFit/>
          </a:bodyPr>
          <a:lstStyle/>
          <a:p>
            <a:pPr algn="l"/>
            <a:r>
              <a:rPr sz="1100" b="1" i="0">
                <a:solidFill>
                  <a:srgbClr val="1C2333"/>
                </a:solidFill>
                <a:latin typeface="Calibri"/>
              </a:rPr>
              <a:t>đoán đúng ca mới</a:t>
            </a:r>
          </a:p>
        </p:txBody>
      </p:sp>
      <p:cxnSp>
        <p:nvCxnSpPr>
          <p:cNvPr id="47" name="2-neg1"/>
          <p:cNvCxnSpPr/>
          <p:nvPr/>
        </p:nvCxnSpPr>
        <p:spPr>
          <a:xfrm flipH="1">
            <a:off x="3200400" y="4754880"/>
            <a:ext cx="365760" cy="0"/>
          </a:xfrm>
          <a:prstGeom prst="line">
            <a:avLst/>
          </a:prstGeom>
          <a:ln w="2540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lbl-2-neg1"/>
          <p:cNvSpPr txBox="1"/>
          <p:nvPr/>
        </p:nvSpPr>
        <p:spPr>
          <a:xfrm>
            <a:off x="2468880" y="5394960"/>
            <a:ext cx="2194560" cy="274320"/>
          </a:xfrm>
          <a:prstGeom prst="rect">
            <a:avLst/>
          </a:prstGeom>
          <a:noFill/>
        </p:spPr>
        <p:txBody>
          <a:bodyPr wrap="square" lIns="0" rIns="0" tIns="0" bIns="0" anchor="t">
            <a:spAutoFit/>
          </a:bodyPr>
          <a:lstStyle/>
          <a:p>
            <a:pPr algn="l"/>
            <a:r>
              <a:rPr sz="1100" b="1" i="0">
                <a:solidFill>
                  <a:srgbClr val="1C2333"/>
                </a:solidFill>
                <a:latin typeface="Calibri"/>
              </a:rPr>
              <a:t>đề sai: về Pha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Kho đã kiểm và bảng tác chiến: ai được ghi gì</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535424"/>
        </p:xfrm>
        <a:graphic>
          <a:graphicData uri="http://schemas.openxmlformats.org/drawingml/2006/table">
            <a:tbl>
              <a:tblPr/>
              <a:tblGrid>
                <a:gridCol w="31089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66928">
                <a:tc>
                  <a:txBody>
                    <a:bodyPr/>
                    <a:lstStyle/>
                    <a:p>
                      <a:pPr marL="0" indent="0">
                        <a:buNone/>
                      </a:pPr>
                      <a:r>
                        <a:rPr lang="en-US" sz="1500" b="1" dirty="0">
                          <a:solidFill>
                            <a:schemeClr val="bg1"/>
                          </a:solidFill>
                        </a:rPr>
                        <a:t>Hành động</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accent4"/>
                    </a:solidFill>
                  </a:tcPr>
                </a:tc>
                <a:tc>
                  <a:txBody>
                    <a:bodyPr/>
                    <a:lstStyle/>
                    <a:p>
                      <a:pPr marL="0" indent="0">
                        <a:buNone/>
                      </a:pPr>
                      <a:r>
                        <a:rPr lang="en-US" sz="1500" b="1" dirty="0">
                          <a:solidFill>
                            <a:schemeClr val="bg1"/>
                          </a:solidFill>
                        </a:rPr>
                        <a:t>Ai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accent4"/>
                    </a:solidFill>
                  </a:tcPr>
                </a:tc>
                <a:tc>
                  <a:txBody>
                    <a:bodyPr/>
                    <a:lstStyle/>
                    <a:p>
                      <a:pPr marL="0" indent="0">
                        <a:buNone/>
                      </a:pPr>
                      <a:r>
                        <a:rPr lang="en-US" sz="1500" b="1" dirty="0">
                          <a:solidFill>
                            <a:schemeClr val="bg1"/>
                          </a:solidFill>
                        </a:rPr>
                        <a:t>Luật</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chemeClr val="tx1"/>
                          </a:solidFill>
                        </a:rPr>
                        <a:t>Đọc cả hai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Mọi ghế, cả HLV và ChatGPT</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Đọc trước khi đánh; không đâm lại hướng trong sổ tabu</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chemeClr val="tx1"/>
                          </a:solidFill>
                        </a:rPr>
                        <a:t>Đăng mảnh mới lên bảng</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Tấn công và tiền vệ</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Vào ở nhãn thấp nhất: “mức agent”</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chemeClr val="tx1"/>
                          </a:solidFill>
                        </a:rPr>
                        <a:t>Ghi phản ví dụ, gắn “bị bác”</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Phá, Soát chứng minh</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Kèm bằng chứng; hướng đã chết vào sổ tabu</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chemeClr val="tx1"/>
                          </a:solidFill>
                        </a:rPr>
                        <a:t>Gắn nguồn, ghi công</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Tính mới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Kết quả đã có trong văn liệu thì ghi rõ bài nào</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chemeClr val="tx1"/>
                          </a:solidFill>
                        </a:rPr>
                        <a:t>Nối phụ thuộc, rút lại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Điều phối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Một nút bị bác thì mọi nút dựa vào nó tự hạ cấp</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66928">
                <a:tc>
                  <a:txBody>
                    <a:bodyPr/>
                    <a:lstStyle/>
                    <a:p>
                      <a:pPr marL="0" indent="0">
                        <a:buNone/>
                      </a:pPr>
                      <a:r>
                        <a:rPr lang="en-US" sz="1500" b="1" dirty="0">
                          <a:solidFill>
                            <a:schemeClr val="tx1"/>
                          </a:solidFill>
                        </a:rPr>
                        <a:t>Ghi vào Kho đã kiểm</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Kiểm chứng cuối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500" dirty="0">
                          <a:solidFill>
                            <a:schemeClr val="tx2"/>
                          </a:solidFill>
                        </a:rPr>
                        <a:t>Sau khi Số 2 và Số 3 cùng cho qua; ghi rõ mức kiểm cuối: Lean, đại số máy tính chính xác, máy chứng nhận, hay chỉ số liệu</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66928">
                <a:tc>
                  <a:txBody>
                    <a:bodyPr/>
                    <a:lstStyle/>
                    <a:p>
                      <a:pPr marL="0" indent="0">
                        <a:buNone/>
                      </a:pPr>
                      <a:r>
                        <a:rPr lang="en-US" sz="1500" b="1" dirty="0">
                          <a:solidFill>
                            <a:schemeClr val="tx1"/>
                          </a:solidFill>
                        </a:rPr>
                        <a:t>Xoá</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Không ai</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500" dirty="0">
                          <a:solidFill>
                            <a:schemeClr val="tx2"/>
                          </a:solidFill>
                        </a:rPr>
                        <a:t>Chỉ thêm và hiệu chỉnh có ghi vết; thất bại cũng được giữ</a:t>
                      </a:r>
                      <a:endParaRPr lang="en-US" sz="15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3" name="Text 1"/>
          <p:cNvSpPr txBox="1"/>
          <p:nvPr/>
        </p:nvSpPr>
        <p:spPr>
          <a:xfrm>
            <a:off x="548640" y="598932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Kho đã kiểm do thủ môn giữ: chỉ chứa bàn thắng hợp lệ. Bảng tác chiến do Điều phối giữ cấu trúc; quyền ghi chia theo vai.</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Một tổ: nhiều agent đánh như một team</a:t>
            </a:r>
            <a:endParaRPr lang="en-US" sz="3200" dirty="0"/>
          </a:p>
        </p:txBody>
      </p:sp>
      <p:sp>
        <p:nvSpPr>
          <p:cNvPr id="3" name="Shape 1"/>
          <p:cNvSpPr/>
          <p:nvPr/>
        </p:nvSpPr>
        <p:spPr>
          <a:xfrm>
            <a:off x="548640" y="1371600"/>
            <a:ext cx="2514600" cy="1920240"/>
          </a:xfrm>
          <a:prstGeom prst="roundRect">
            <a:avLst>
              <a:gd name="adj" fmla="val 3810"/>
            </a:avLst>
          </a:prstGeom>
          <a:solidFill>
            <a:schemeClr val="bg2"/>
          </a:solidFill>
          <a:ln w="22225">
            <a:solidFill>
              <a:schemeClr val="bg2"/>
            </a:solidFill>
            <a:prstDash val="solid"/>
          </a:ln>
        </p:spPr>
        <p:txBody>
          <a:bodyPr/>
          <a:lstStyle/>
          <a:p>
            <a:endParaRPr lang="en-US"/>
          </a:p>
        </p:txBody>
      </p:sp>
      <p:sp>
        <p:nvSpPr>
          <p:cNvPr id="4" name="num1"/>
          <p:cNvSpPr/>
          <p:nvPr/>
        </p:nvSpPr>
        <p:spPr>
          <a:xfrm>
            <a:off x="731520" y="1554480"/>
            <a:ext cx="457200" cy="457200"/>
          </a:xfrm>
          <a:prstGeom prst="ellipse">
            <a:avLst/>
          </a:prstGeom>
          <a:solidFill>
            <a:srgbClr val="2B59D9"/>
          </a:solidFill>
          <a:ln w="12700">
            <a:solidFill>
              <a:srgbClr val="2B59D9"/>
            </a:solidFill>
            <a:prstDash val="solid"/>
          </a:ln>
        </p:spPr>
        <p:txBody>
          <a:bodyPr/>
          <a:lstStyle/>
          <a:p>
            <a:endParaRPr lang="en-US"/>
          </a:p>
        </p:txBody>
      </p:sp>
      <p:sp>
        <p:nvSpPr>
          <p:cNvPr id="5" name="Text 3"/>
          <p:cNvSpPr txBox="1"/>
          <p:nvPr/>
        </p:nvSpPr>
        <p:spPr>
          <a:xfrm>
            <a:off x="731520" y="15544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1325880" y="1572768"/>
            <a:ext cx="1645920" cy="420624"/>
          </a:xfrm>
          <a:prstGeom prst="rect">
            <a:avLst/>
          </a:prstGeom>
          <a:noFill/>
          <a:ln/>
        </p:spPr>
        <p:txBody>
          <a:bodyPr wrap="square" lIns="0" tIns="0" rIns="0" bIns="0" rtlCol="0" anchor="ctr"/>
          <a:lstStyle/>
          <a:p>
            <a:pPr marL="0" indent="0">
              <a:buNone/>
            </a:pPr>
            <a:r>
              <a:rPr lang="en-US" sz="1700" b="1" dirty="0">
                <a:solidFill>
                  <a:schemeClr val="tx1"/>
                </a:solidFill>
              </a:rPr>
              <a:t>Tự đánh</a:t>
            </a:r>
            <a:endParaRPr lang="en-US" sz="1700" dirty="0"/>
          </a:p>
        </p:txBody>
      </p:sp>
      <p:sp>
        <p:nvSpPr>
          <p:cNvPr id="7" name="Text 5"/>
          <p:cNvSpPr txBox="1"/>
          <p:nvPr/>
        </p:nvSpPr>
        <p:spPr>
          <a:xfrm>
            <a:off x="731520" y="2148840"/>
            <a:ext cx="2148840" cy="1051560"/>
          </a:xfrm>
          <a:prstGeom prst="rect">
            <a:avLst/>
          </a:prstGeom>
          <a:noFill/>
          <a:ln/>
        </p:spPr>
        <p:txBody>
          <a:bodyPr wrap="square" lIns="0" tIns="0" rIns="0" bIns="0" rtlCol="0" anchor="t"/>
          <a:lstStyle/>
          <a:p>
            <a:pPr marL="0" indent="0">
              <a:buNone/>
            </a:pPr>
            <a:r>
              <a:rPr lang="en-US" sz="1400" dirty="0">
                <a:solidFill>
                  <a:schemeClr val="tx2"/>
                </a:solidFill>
              </a:rPr>
              <a:t>Mỗi agent đánh hướng của mình, chưa xem bảng.</a:t>
            </a:r>
            <a:endParaRPr lang="en-US" sz="1400" dirty="0"/>
          </a:p>
        </p:txBody>
      </p:sp>
      <p:sp>
        <p:nvSpPr>
          <p:cNvPr id="8" name="Shape 6"/>
          <p:cNvSpPr/>
          <p:nvPr/>
        </p:nvSpPr>
        <p:spPr>
          <a:xfrm>
            <a:off x="3090672" y="2176272"/>
            <a:ext cx="256032" cy="310896"/>
          </a:xfrm>
          <a:prstGeom prst="rightArrow">
            <a:avLst/>
          </a:prstGeom>
          <a:solidFill>
            <a:schemeClr val="accent5"/>
          </a:solidFill>
          <a:ln w="12700">
            <a:solidFill>
              <a:schemeClr val="accent5"/>
            </a:solidFill>
            <a:prstDash val="solid"/>
          </a:ln>
        </p:spPr>
        <p:txBody>
          <a:bodyPr/>
          <a:lstStyle/>
          <a:p>
            <a:endParaRPr lang="en-US"/>
          </a:p>
        </p:txBody>
      </p:sp>
      <p:sp>
        <p:nvSpPr>
          <p:cNvPr id="9" name="Shape 7"/>
          <p:cNvSpPr/>
          <p:nvPr/>
        </p:nvSpPr>
        <p:spPr>
          <a:xfrm>
            <a:off x="3383280" y="1371600"/>
            <a:ext cx="2514600" cy="1920240"/>
          </a:xfrm>
          <a:prstGeom prst="roundRect">
            <a:avLst>
              <a:gd name="adj" fmla="val 3810"/>
            </a:avLst>
          </a:prstGeom>
          <a:solidFill>
            <a:schemeClr val="bg2"/>
          </a:solidFill>
          <a:ln w="22225">
            <a:solidFill>
              <a:schemeClr val="bg2"/>
            </a:solidFill>
            <a:prstDash val="solid"/>
          </a:ln>
        </p:spPr>
        <p:txBody>
          <a:bodyPr/>
          <a:lstStyle/>
          <a:p>
            <a:endParaRPr lang="en-US"/>
          </a:p>
        </p:txBody>
      </p:sp>
      <p:sp>
        <p:nvSpPr>
          <p:cNvPr id="10" name="num2"/>
          <p:cNvSpPr/>
          <p:nvPr/>
        </p:nvSpPr>
        <p:spPr>
          <a:xfrm>
            <a:off x="3566160" y="1554480"/>
            <a:ext cx="457200" cy="457200"/>
          </a:xfrm>
          <a:prstGeom prst="ellipse">
            <a:avLst/>
          </a:prstGeom>
          <a:solidFill>
            <a:srgbClr val="2B59D9"/>
          </a:solidFill>
          <a:ln w="12700">
            <a:solidFill>
              <a:srgbClr val="2B59D9"/>
            </a:solidFill>
            <a:prstDash val="solid"/>
          </a:ln>
        </p:spPr>
        <p:txBody>
          <a:bodyPr/>
          <a:lstStyle/>
          <a:p>
            <a:endParaRPr lang="en-US"/>
          </a:p>
        </p:txBody>
      </p:sp>
      <p:sp>
        <p:nvSpPr>
          <p:cNvPr id="11" name="Text 9"/>
          <p:cNvSpPr txBox="1"/>
          <p:nvPr/>
        </p:nvSpPr>
        <p:spPr>
          <a:xfrm>
            <a:off x="3566160" y="15544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4160520" y="1572768"/>
            <a:ext cx="1645920" cy="420624"/>
          </a:xfrm>
          <a:prstGeom prst="rect">
            <a:avLst/>
          </a:prstGeom>
          <a:noFill/>
          <a:ln/>
        </p:spPr>
        <p:txBody>
          <a:bodyPr wrap="square" lIns="0" tIns="0" rIns="0" bIns="0" rtlCol="0" anchor="ctr"/>
          <a:lstStyle/>
          <a:p>
            <a:pPr marL="0" indent="0">
              <a:buNone/>
            </a:pPr>
            <a:r>
              <a:rPr lang="en-US" sz="1700" b="1" dirty="0">
                <a:solidFill>
                  <a:schemeClr val="tx1"/>
                </a:solidFill>
              </a:rPr>
              <a:t>Đăng lên bảng</a:t>
            </a:r>
            <a:endParaRPr lang="en-US" sz="1700" dirty="0"/>
          </a:p>
        </p:txBody>
      </p:sp>
      <p:sp>
        <p:nvSpPr>
          <p:cNvPr id="13" name="Text 11"/>
          <p:cNvSpPr txBox="1"/>
          <p:nvPr/>
        </p:nvSpPr>
        <p:spPr>
          <a:xfrm>
            <a:off x="3566160" y="2148840"/>
            <a:ext cx="2148840" cy="1051560"/>
          </a:xfrm>
          <a:prstGeom prst="rect">
            <a:avLst/>
          </a:prstGeom>
          <a:noFill/>
          <a:ln/>
        </p:spPr>
        <p:txBody>
          <a:bodyPr wrap="square" lIns="0" tIns="0" rIns="0" bIns="0" rtlCol="0" anchor="t"/>
          <a:lstStyle/>
          <a:p>
            <a:pPr marL="0" indent="0">
              <a:buNone/>
            </a:pPr>
            <a:r>
              <a:rPr lang="en-US" sz="1400" dirty="0">
                <a:solidFill>
                  <a:schemeClr val="tx2"/>
                </a:solidFill>
              </a:rPr>
              <a:t>Đăng mảnh: bổ đề đã kiểm, phản ví dụ, vật cản, hướng đã chết.</a:t>
            </a:r>
            <a:endParaRPr lang="en-US" sz="1400" dirty="0"/>
          </a:p>
        </p:txBody>
      </p:sp>
      <p:sp>
        <p:nvSpPr>
          <p:cNvPr id="14" name="Shape 12"/>
          <p:cNvSpPr/>
          <p:nvPr/>
        </p:nvSpPr>
        <p:spPr>
          <a:xfrm>
            <a:off x="5925312" y="2176272"/>
            <a:ext cx="256032" cy="310896"/>
          </a:xfrm>
          <a:prstGeom prst="rightArrow">
            <a:avLst/>
          </a:prstGeom>
          <a:solidFill>
            <a:schemeClr val="accent5"/>
          </a:solidFill>
          <a:ln w="12700">
            <a:solidFill>
              <a:schemeClr val="accent5"/>
            </a:solidFill>
            <a:prstDash val="solid"/>
          </a:ln>
        </p:spPr>
        <p:txBody>
          <a:bodyPr/>
          <a:lstStyle/>
          <a:p>
            <a:endParaRPr lang="en-US"/>
          </a:p>
        </p:txBody>
      </p:sp>
      <p:sp>
        <p:nvSpPr>
          <p:cNvPr id="15" name="Shape 13"/>
          <p:cNvSpPr/>
          <p:nvPr/>
        </p:nvSpPr>
        <p:spPr>
          <a:xfrm>
            <a:off x="6217920" y="1371600"/>
            <a:ext cx="2514600" cy="1920240"/>
          </a:xfrm>
          <a:prstGeom prst="roundRect">
            <a:avLst>
              <a:gd name="adj" fmla="val 3810"/>
            </a:avLst>
          </a:prstGeom>
          <a:solidFill>
            <a:schemeClr val="bg2"/>
          </a:solidFill>
          <a:ln w="22225">
            <a:solidFill>
              <a:schemeClr val="bg2"/>
            </a:solidFill>
            <a:prstDash val="solid"/>
          </a:ln>
        </p:spPr>
        <p:txBody>
          <a:bodyPr/>
          <a:lstStyle/>
          <a:p>
            <a:endParaRPr lang="en-US"/>
          </a:p>
        </p:txBody>
      </p:sp>
      <p:sp>
        <p:nvSpPr>
          <p:cNvPr id="16" name="num3"/>
          <p:cNvSpPr/>
          <p:nvPr/>
        </p:nvSpPr>
        <p:spPr>
          <a:xfrm>
            <a:off x="6400800" y="1554480"/>
            <a:ext cx="457200" cy="457200"/>
          </a:xfrm>
          <a:prstGeom prst="ellipse">
            <a:avLst/>
          </a:prstGeom>
          <a:solidFill>
            <a:srgbClr val="2B59D9"/>
          </a:solidFill>
          <a:ln w="12700">
            <a:solidFill>
              <a:srgbClr val="2B59D9"/>
            </a:solidFill>
            <a:prstDash val="solid"/>
          </a:ln>
        </p:spPr>
        <p:txBody>
          <a:bodyPr/>
          <a:lstStyle/>
          <a:p>
            <a:endParaRPr lang="en-US"/>
          </a:p>
        </p:txBody>
      </p:sp>
      <p:sp>
        <p:nvSpPr>
          <p:cNvPr id="17" name="Text 15"/>
          <p:cNvSpPr txBox="1"/>
          <p:nvPr/>
        </p:nvSpPr>
        <p:spPr>
          <a:xfrm>
            <a:off x="6400800" y="15544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6995160" y="1572768"/>
            <a:ext cx="1645920" cy="420624"/>
          </a:xfrm>
          <a:prstGeom prst="rect">
            <a:avLst/>
          </a:prstGeom>
          <a:noFill/>
          <a:ln/>
        </p:spPr>
        <p:txBody>
          <a:bodyPr wrap="square" lIns="0" tIns="0" rIns="0" bIns="0" rtlCol="0" anchor="ctr"/>
          <a:lstStyle/>
          <a:p>
            <a:pPr marL="0" indent="0">
              <a:buNone/>
            </a:pPr>
            <a:r>
              <a:rPr lang="en-US" sz="1700" b="1" dirty="0">
                <a:solidFill>
                  <a:schemeClr val="tx1"/>
                </a:solidFill>
              </a:rPr>
              <a:t>Đọc bảng, đánh tiếp</a:t>
            </a:r>
            <a:endParaRPr lang="en-US" sz="1700" dirty="0"/>
          </a:p>
        </p:txBody>
      </p:sp>
      <p:sp>
        <p:nvSpPr>
          <p:cNvPr id="19" name="Text 17"/>
          <p:cNvSpPr txBox="1"/>
          <p:nvPr/>
        </p:nvSpPr>
        <p:spPr>
          <a:xfrm>
            <a:off x="6400800" y="2148840"/>
            <a:ext cx="2148840" cy="1051560"/>
          </a:xfrm>
          <a:prstGeom prst="rect">
            <a:avLst/>
          </a:prstGeom>
          <a:noFill/>
          <a:ln/>
        </p:spPr>
        <p:txBody>
          <a:bodyPr wrap="square" lIns="0" tIns="0" rIns="0" bIns="0" rtlCol="0" anchor="t"/>
          <a:lstStyle/>
          <a:p>
            <a:pPr marL="0" indent="0">
              <a:buNone/>
            </a:pPr>
            <a:r>
              <a:rPr lang="en-US" sz="1400" dirty="0">
                <a:solidFill>
                  <a:schemeClr val="tx2"/>
                </a:solidFill>
              </a:rPr>
              <a:t>Dùng mảnh tốt nhất đã kiểm của người khác cho hướng của mình.</a:t>
            </a:r>
            <a:endParaRPr lang="en-US" sz="1400" dirty="0"/>
          </a:p>
        </p:txBody>
      </p:sp>
      <p:sp>
        <p:nvSpPr>
          <p:cNvPr id="20" name="Shape 18"/>
          <p:cNvSpPr/>
          <p:nvPr/>
        </p:nvSpPr>
        <p:spPr>
          <a:xfrm>
            <a:off x="8759952" y="2176272"/>
            <a:ext cx="256032" cy="310896"/>
          </a:xfrm>
          <a:prstGeom prst="rightArrow">
            <a:avLst/>
          </a:prstGeom>
          <a:solidFill>
            <a:schemeClr val="accent5"/>
          </a:solidFill>
          <a:ln w="12700">
            <a:solidFill>
              <a:schemeClr val="accent5"/>
            </a:solidFill>
            <a:prstDash val="solid"/>
          </a:ln>
        </p:spPr>
        <p:txBody>
          <a:bodyPr/>
          <a:lstStyle/>
          <a:p>
            <a:endParaRPr lang="en-US"/>
          </a:p>
        </p:txBody>
      </p:sp>
      <p:sp>
        <p:nvSpPr>
          <p:cNvPr id="21" name="Shape 19"/>
          <p:cNvSpPr/>
          <p:nvPr/>
        </p:nvSpPr>
        <p:spPr>
          <a:xfrm>
            <a:off x="9052560" y="1371600"/>
            <a:ext cx="2514600" cy="1920240"/>
          </a:xfrm>
          <a:prstGeom prst="roundRect">
            <a:avLst>
              <a:gd name="adj" fmla="val 3810"/>
            </a:avLst>
          </a:prstGeom>
          <a:solidFill>
            <a:schemeClr val="bg2"/>
          </a:solidFill>
          <a:ln w="22225">
            <a:solidFill>
              <a:schemeClr val="bg2"/>
            </a:solidFill>
            <a:prstDash val="solid"/>
          </a:ln>
        </p:spPr>
        <p:txBody>
          <a:bodyPr/>
          <a:lstStyle/>
          <a:p>
            <a:endParaRPr lang="en-US"/>
          </a:p>
        </p:txBody>
      </p:sp>
      <p:sp>
        <p:nvSpPr>
          <p:cNvPr id="22" name="num4"/>
          <p:cNvSpPr/>
          <p:nvPr/>
        </p:nvSpPr>
        <p:spPr>
          <a:xfrm>
            <a:off x="9235440" y="1554480"/>
            <a:ext cx="457200" cy="457200"/>
          </a:xfrm>
          <a:prstGeom prst="ellipse">
            <a:avLst/>
          </a:prstGeom>
          <a:solidFill>
            <a:srgbClr val="1C2333"/>
          </a:solidFill>
          <a:ln w="12700">
            <a:solidFill>
              <a:srgbClr val="1C2333"/>
            </a:solidFill>
            <a:prstDash val="solid"/>
          </a:ln>
        </p:spPr>
        <p:txBody>
          <a:bodyPr/>
          <a:lstStyle/>
          <a:p>
            <a:endParaRPr lang="en-US"/>
          </a:p>
        </p:txBody>
      </p:sp>
      <p:sp>
        <p:nvSpPr>
          <p:cNvPr id="23" name="Text 21"/>
          <p:cNvSpPr txBox="1"/>
          <p:nvPr/>
        </p:nvSpPr>
        <p:spPr>
          <a:xfrm>
            <a:off x="9235440" y="15544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4" name="Text 22"/>
          <p:cNvSpPr txBox="1"/>
          <p:nvPr/>
        </p:nvSpPr>
        <p:spPr>
          <a:xfrm>
            <a:off x="9829800" y="1572768"/>
            <a:ext cx="1645920" cy="420624"/>
          </a:xfrm>
          <a:prstGeom prst="rect">
            <a:avLst/>
          </a:prstGeom>
          <a:noFill/>
          <a:ln/>
        </p:spPr>
        <p:txBody>
          <a:bodyPr wrap="square" lIns="0" tIns="0" rIns="0" bIns="0" rtlCol="0" anchor="ctr"/>
          <a:lstStyle/>
          <a:p>
            <a:pPr marL="0" indent="0">
              <a:buNone/>
            </a:pPr>
            <a:r>
              <a:rPr lang="en-US" sz="1700" b="1" dirty="0">
                <a:solidFill>
                  <a:schemeClr val="tx1"/>
                </a:solidFill>
              </a:rPr>
              <a:t>Tổ trưởng gộp</a:t>
            </a:r>
            <a:endParaRPr lang="en-US" sz="1700" dirty="0"/>
          </a:p>
        </p:txBody>
      </p:sp>
      <p:sp>
        <p:nvSpPr>
          <p:cNvPr id="25" name="Text 23"/>
          <p:cNvSpPr txBox="1"/>
          <p:nvPr/>
        </p:nvSpPr>
        <p:spPr>
          <a:xfrm>
            <a:off x="9235440" y="2148840"/>
            <a:ext cx="2148840" cy="1051560"/>
          </a:xfrm>
          <a:prstGeom prst="rect">
            <a:avLst/>
          </a:prstGeom>
          <a:noFill/>
          <a:ln/>
        </p:spPr>
        <p:txBody>
          <a:bodyPr wrap="square" lIns="0" tIns="0" rIns="0" bIns="0" rtlCol="0" anchor="t"/>
          <a:lstStyle/>
          <a:p>
            <a:pPr marL="0" indent="0">
              <a:buNone/>
            </a:pPr>
            <a:r>
              <a:rPr lang="en-US" sz="1400" dirty="0">
                <a:solidFill>
                  <a:schemeClr val="tx2"/>
                </a:solidFill>
              </a:rPr>
              <a:t>Ghép mảnh vào đồ thị bổ đề. Không biểu quyết.</a:t>
            </a:r>
            <a:endParaRPr lang="en-US" sz="1400" dirty="0"/>
          </a:p>
        </p:txBody>
      </p:sp>
      <p:sp>
        <p:nvSpPr>
          <p:cNvPr id="26" name="Text 24"/>
          <p:cNvSpPr txBox="1"/>
          <p:nvPr/>
        </p:nvSpPr>
        <p:spPr>
          <a:xfrm>
            <a:off x="548640" y="3429000"/>
            <a:ext cx="10972800" cy="365760"/>
          </a:xfrm>
          <a:prstGeom prst="rect">
            <a:avLst/>
          </a:prstGeom>
          <a:noFill/>
          <a:ln/>
        </p:spPr>
        <p:txBody>
          <a:bodyPr wrap="square" lIns="0" tIns="0" rIns="0" bIns="0" rtlCol="0" anchor="ctr"/>
          <a:lstStyle/>
          <a:p>
            <a:pPr marL="0" indent="0">
              <a:buNone/>
            </a:pPr>
            <a:r>
              <a:rPr lang="en-US" sz="1400" i="1" dirty="0">
                <a:solidFill>
                  <a:schemeClr val="tx2"/>
                </a:solidFill>
              </a:rPr>
              <a:t>Lặp lại theo vòng: đầu chiến dịch vòng thưa, về cuối vòng dày dần.</a:t>
            </a:r>
            <a:endParaRPr lang="en-US" sz="1400" dirty="0"/>
          </a:p>
        </p:txBody>
      </p:sp>
      <p:sp>
        <p:nvSpPr>
          <p:cNvPr id="27" name="Shape 25"/>
          <p:cNvSpPr/>
          <p:nvPr/>
        </p:nvSpPr>
        <p:spPr>
          <a:xfrm>
            <a:off x="548640" y="4032504"/>
            <a:ext cx="201168" cy="201168"/>
          </a:xfrm>
          <a:prstGeom prst="ellipse">
            <a:avLst/>
          </a:prstGeom>
          <a:solidFill>
            <a:srgbClr val="2B59D9"/>
          </a:solidFill>
          <a:ln w="12700">
            <a:solidFill>
              <a:srgbClr val="2B59D9"/>
            </a:solidFill>
            <a:prstDash val="solid"/>
          </a:ln>
        </p:spPr>
        <p:txBody>
          <a:bodyPr/>
          <a:lstStyle/>
          <a:p>
            <a:endParaRPr lang="en-US"/>
          </a:p>
        </p:txBody>
      </p:sp>
      <p:sp>
        <p:nvSpPr>
          <p:cNvPr id="28" name="Text 26"/>
          <p:cNvSpPr txBox="1"/>
          <p:nvPr/>
        </p:nvSpPr>
        <p:spPr>
          <a:xfrm>
            <a:off x="868680" y="397764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Bảng chung, không chat tay đôi</a:t>
            </a:r>
            <a:endParaRPr lang="en-US" sz="1500" dirty="0"/>
          </a:p>
          <a:p>
            <a:pPr marL="0" indent="0">
              <a:buNone/>
            </a:pPr>
            <a:r>
              <a:rPr lang="en-US" sz="1300" dirty="0">
                <a:solidFill>
                  <a:schemeClr val="tx2"/>
                </a:solidFill>
              </a:rPr>
              <a:t>Mọi kết quả đi qua bảng của tổ, ai cũng thấy như nhau.</a:t>
            </a:r>
            <a:endParaRPr lang="en-US" sz="1500" dirty="0"/>
          </a:p>
        </p:txBody>
      </p:sp>
      <p:sp>
        <p:nvSpPr>
          <p:cNvPr id="29" name="Shape 27"/>
          <p:cNvSpPr/>
          <p:nvPr/>
        </p:nvSpPr>
        <p:spPr>
          <a:xfrm>
            <a:off x="4297680" y="4032504"/>
            <a:ext cx="201168" cy="201168"/>
          </a:xfrm>
          <a:prstGeom prst="ellipse">
            <a:avLst/>
          </a:prstGeom>
          <a:solidFill>
            <a:srgbClr val="2B59D9"/>
          </a:solidFill>
          <a:ln w="12700">
            <a:solidFill>
              <a:srgbClr val="2B59D9"/>
            </a:solidFill>
            <a:prstDash val="solid"/>
          </a:ln>
        </p:spPr>
        <p:txBody>
          <a:bodyPr/>
          <a:lstStyle/>
          <a:p>
            <a:endParaRPr lang="en-US"/>
          </a:p>
        </p:txBody>
      </p:sp>
      <p:sp>
        <p:nvSpPr>
          <p:cNvPr id="30" name="Text 28"/>
          <p:cNvSpPr txBox="1"/>
          <p:nvPr/>
        </p:nvSpPr>
        <p:spPr>
          <a:xfrm>
            <a:off x="4617720" y="397764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Mỗi chứng minh một chủ</a:t>
            </a:r>
            <a:endParaRPr lang="en-US" sz="1500" dirty="0"/>
          </a:p>
          <a:p>
            <a:pPr marL="0" indent="0">
              <a:buNone/>
            </a:pPr>
            <a:r>
              <a:rPr lang="en-US" sz="1300" dirty="0">
                <a:solidFill>
                  <a:schemeClr val="tx2"/>
                </a:solidFill>
              </a:rPr>
              <a:t>Người khác đề xuất trên bảng, chủ tự sửa. Không ai sửa bài của người khác.</a:t>
            </a:r>
            <a:endParaRPr lang="en-US" sz="1500" dirty="0"/>
          </a:p>
        </p:txBody>
      </p:sp>
      <p:sp>
        <p:nvSpPr>
          <p:cNvPr id="31" name="Shape 29"/>
          <p:cNvSpPr/>
          <p:nvPr/>
        </p:nvSpPr>
        <p:spPr>
          <a:xfrm>
            <a:off x="8046720" y="4032504"/>
            <a:ext cx="201168" cy="201168"/>
          </a:xfrm>
          <a:prstGeom prst="ellipse">
            <a:avLst/>
          </a:prstGeom>
          <a:solidFill>
            <a:srgbClr val="2B59D9"/>
          </a:solidFill>
          <a:ln w="12700">
            <a:solidFill>
              <a:srgbClr val="2B59D9"/>
            </a:solidFill>
            <a:prstDash val="solid"/>
          </a:ln>
        </p:spPr>
        <p:txBody>
          <a:bodyPr/>
          <a:lstStyle/>
          <a:p>
            <a:endParaRPr lang="en-US"/>
          </a:p>
        </p:txBody>
      </p:sp>
      <p:sp>
        <p:nvSpPr>
          <p:cNvPr id="32" name="Text 30"/>
          <p:cNvSpPr txBox="1"/>
          <p:nvPr/>
        </p:nvSpPr>
        <p:spPr>
          <a:xfrm>
            <a:off x="8366760" y="397764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Chép mảnh tốt nhất đã kiểm</a:t>
            </a:r>
            <a:endParaRPr lang="en-US" sz="1500" dirty="0"/>
          </a:p>
          <a:p>
            <a:pPr marL="0" indent="0">
              <a:buNone/>
            </a:pPr>
            <a:r>
              <a:rPr lang="en-US" sz="1300" dirty="0">
                <a:solidFill>
                  <a:schemeClr val="tx2"/>
                </a:solidFill>
              </a:rPr>
              <a:t>Không chép theo số đông. Hai người cùng nghĩ không làm hướng đó đúng hơn.</a:t>
            </a:r>
            <a:endParaRPr lang="en-US" sz="1500" dirty="0"/>
          </a:p>
        </p:txBody>
      </p:sp>
      <p:sp>
        <p:nvSpPr>
          <p:cNvPr id="33" name="Shape 31"/>
          <p:cNvSpPr/>
          <p:nvPr/>
        </p:nvSpPr>
        <p:spPr>
          <a:xfrm>
            <a:off x="548640" y="5312664"/>
            <a:ext cx="201168" cy="201168"/>
          </a:xfrm>
          <a:prstGeom prst="ellipse">
            <a:avLst/>
          </a:prstGeom>
          <a:solidFill>
            <a:srgbClr val="2B59D9"/>
          </a:solidFill>
          <a:ln w="12700">
            <a:solidFill>
              <a:srgbClr val="2B59D9"/>
            </a:solidFill>
            <a:prstDash val="solid"/>
          </a:ln>
        </p:spPr>
        <p:txBody>
          <a:bodyPr/>
          <a:lstStyle/>
          <a:p>
            <a:endParaRPr lang="en-US"/>
          </a:p>
        </p:txBody>
      </p:sp>
      <p:sp>
        <p:nvSpPr>
          <p:cNvPr id="34" name="Text 32"/>
          <p:cNvSpPr txBox="1"/>
          <p:nvPr/>
        </p:nvSpPr>
        <p:spPr>
          <a:xfrm>
            <a:off x="868680" y="525780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Giữ một người lệch hướng</a:t>
            </a:r>
            <a:endParaRPr lang="en-US" sz="1500" dirty="0"/>
          </a:p>
          <a:p>
            <a:pPr marL="0" indent="0">
              <a:buNone/>
            </a:pPr>
            <a:r>
              <a:rPr lang="en-US" sz="1300" dirty="0">
                <a:solidFill>
                  <a:schemeClr val="tx2"/>
                </a:solidFill>
              </a:rPr>
              <a:t>Ít nhất một thành viên đánh hướng khác cả tổ, để tổ không hội tụ quá sớm.</a:t>
            </a:r>
            <a:endParaRPr lang="en-US" sz="1500" dirty="0"/>
          </a:p>
        </p:txBody>
      </p:sp>
      <p:sp>
        <p:nvSpPr>
          <p:cNvPr id="35" name="Shape 33"/>
          <p:cNvSpPr/>
          <p:nvPr/>
        </p:nvSpPr>
        <p:spPr>
          <a:xfrm>
            <a:off x="4297680" y="5312664"/>
            <a:ext cx="201168" cy="201168"/>
          </a:xfrm>
          <a:prstGeom prst="ellipse">
            <a:avLst/>
          </a:prstGeom>
          <a:solidFill>
            <a:srgbClr val="C93A2A"/>
          </a:solidFill>
          <a:ln w="12700">
            <a:solidFill>
              <a:srgbClr val="C93A2A"/>
            </a:solidFill>
            <a:prstDash val="solid"/>
          </a:ln>
        </p:spPr>
        <p:txBody>
          <a:bodyPr/>
          <a:lstStyle/>
          <a:p>
            <a:endParaRPr lang="en-US"/>
          </a:p>
        </p:txBody>
      </p:sp>
      <p:sp>
        <p:nvSpPr>
          <p:cNvPr id="36" name="Text 34"/>
          <p:cNvSpPr txBox="1"/>
          <p:nvPr/>
        </p:nvSpPr>
        <p:spPr>
          <a:xfrm>
            <a:off x="4617720" y="525780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Bất đồng phân xử bằng bằng chứng</a:t>
            </a:r>
            <a:endParaRPr lang="en-US" sz="1500" dirty="0"/>
          </a:p>
          <a:p>
            <a:pPr marL="0" indent="0">
              <a:buNone/>
            </a:pPr>
            <a:r>
              <a:rPr lang="en-US" sz="1300" dirty="0">
                <a:solidFill>
                  <a:schemeClr val="tx2"/>
                </a:solidFill>
              </a:rPr>
              <a:t>Lean hoặc tính toán quyết, không phải tranh luận.</a:t>
            </a:r>
            <a:endParaRPr lang="en-US" sz="1500" dirty="0"/>
          </a:p>
        </p:txBody>
      </p:sp>
      <p:sp>
        <p:nvSpPr>
          <p:cNvPr id="37" name="Shape 35"/>
          <p:cNvSpPr/>
          <p:nvPr/>
        </p:nvSpPr>
        <p:spPr>
          <a:xfrm>
            <a:off x="8046720" y="5312664"/>
            <a:ext cx="201168" cy="201168"/>
          </a:xfrm>
          <a:prstGeom prst="ellipse">
            <a:avLst/>
          </a:prstGeom>
          <a:solidFill>
            <a:srgbClr val="2B59D9"/>
          </a:solidFill>
          <a:ln w="12700">
            <a:solidFill>
              <a:srgbClr val="2B59D9"/>
            </a:solidFill>
            <a:prstDash val="solid"/>
          </a:ln>
        </p:spPr>
        <p:txBody>
          <a:bodyPr/>
          <a:lstStyle/>
          <a:p>
            <a:endParaRPr lang="en-US"/>
          </a:p>
        </p:txBody>
      </p:sp>
      <p:sp>
        <p:nvSpPr>
          <p:cNvPr id="38" name="Text 36"/>
          <p:cNvSpPr txBox="1"/>
          <p:nvPr/>
        </p:nvSpPr>
        <p:spPr>
          <a:xfrm>
            <a:off x="8366760" y="5257800"/>
            <a:ext cx="3291840" cy="1143000"/>
          </a:xfrm>
          <a:prstGeom prst="rect">
            <a:avLst/>
          </a:prstGeom>
          <a:noFill/>
          <a:ln/>
        </p:spPr>
        <p:txBody>
          <a:bodyPr wrap="square" lIns="0" tIns="0" rIns="0" bIns="0" rtlCol="0" anchor="t"/>
          <a:lstStyle/>
          <a:p>
            <a:pPr marL="0" indent="0">
              <a:buNone/>
            </a:pPr>
            <a:r>
              <a:rPr lang="en-US" sz="1500" b="1" dirty="0">
                <a:solidFill>
                  <a:schemeClr val="tx1"/>
                </a:solidFill>
              </a:rPr>
              <a:t>Tổ 3–5 agent</a:t>
            </a:r>
            <a:endParaRPr lang="en-US" sz="1500" dirty="0"/>
          </a:p>
          <a:p>
            <a:pPr marL="0" indent="0">
              <a:buNone/>
            </a:pPr>
            <a:r>
              <a:rPr lang="en-US" sz="1300" dirty="0">
                <a:solidFill>
                  <a:schemeClr val="tx2"/>
                </a:solidFill>
              </a:rPr>
              <a:t>Đông hơn thì chia thành nhiều tổ, mỗi tổ một nhánh của blueprint.</a:t>
            </a:r>
            <a:endParaRPr lang="en-US" sz="1500" dirty="0"/>
          </a:p>
        </p:txBody>
      </p:sp>
      <p:sp>
        <p:nvSpPr>
          <p:cNvPr id="39"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Chín ghế lõi: luôn có</a:t>
            </a:r>
            <a:endParaRPr lang="en-US" sz="3200" dirty="0"/>
          </a:p>
        </p:txBody>
      </p:sp>
      <p:grpSp>
        <p:nvGrpSpPr>
          <p:cNvPr id="59" name="Thẻ ghế 0"/>
          <p:cNvGrpSpPr/>
          <p:nvPr/>
        </p:nvGrpSpPr>
        <p:grpSpPr>
          <a:xfrm>
            <a:off x="566928" y="1463040"/>
            <a:ext cx="1078992" cy="3383280"/>
            <a:chOff x="566928" y="1463040"/>
            <a:chExt cx="1078992" cy="3383280"/>
          </a:xfrm>
        </p:grpSpPr>
        <p:sp>
          <p:nvSpPr>
            <p:cNvPr id="3" name="Shape 1"/>
            <p:cNvSpPr/>
            <p:nvPr/>
          </p:nvSpPr>
          <p:spPr>
            <a:xfrm>
              <a:off x="566928" y="1463040"/>
              <a:ext cx="1078992" cy="3383280"/>
            </a:xfrm>
            <a:prstGeom prst="roundRect">
              <a:avLst>
                <a:gd name="adj" fmla="val 3509"/>
              </a:avLst>
            </a:prstGeom>
            <a:solidFill>
              <a:srgbClr val="F2F4F7"/>
            </a:solidFill>
            <a:ln w="22225">
              <a:solidFill>
                <a:srgbClr val="1C2333"/>
              </a:solidFill>
              <a:prstDash val="solid"/>
            </a:ln>
          </p:spPr>
          <p:txBody>
            <a:bodyPr/>
            <a:lstStyle/>
            <a:p>
              <a:endParaRPr lang="en-US"/>
            </a:p>
          </p:txBody>
        </p:sp>
        <p:sp>
          <p:nvSpPr>
            <p:cNvPr id="4" name="num6"/>
            <p:cNvSpPr/>
            <p:nvPr/>
          </p:nvSpPr>
          <p:spPr>
            <a:xfrm>
              <a:off x="676656" y="1645920"/>
              <a:ext cx="411480" cy="411480"/>
            </a:xfrm>
            <a:prstGeom prst="ellipse">
              <a:avLst/>
            </a:prstGeom>
            <a:solidFill>
              <a:srgbClr val="1C2333"/>
            </a:solidFill>
            <a:ln w="12700">
              <a:solidFill>
                <a:srgbClr val="1C2333"/>
              </a:solidFill>
              <a:prstDash val="solid"/>
            </a:ln>
          </p:spPr>
          <p:txBody>
            <a:bodyPr/>
            <a:lstStyle/>
            <a:p>
              <a:endParaRPr lang="en-US"/>
            </a:p>
          </p:txBody>
        </p:sp>
        <p:sp>
          <p:nvSpPr>
            <p:cNvPr id="5" name="Text 3"/>
            <p:cNvSpPr txBox="1"/>
            <p:nvPr/>
          </p:nvSpPr>
          <p:spPr>
            <a:xfrm>
              <a:off x="676656"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6</a:t>
              </a:r>
              <a:endParaRPr lang="en-US" sz="1050" dirty="0"/>
            </a:p>
          </p:txBody>
        </p:sp>
        <p:sp>
          <p:nvSpPr>
            <p:cNvPr id="6" name="Text 4"/>
            <p:cNvSpPr txBox="1"/>
            <p:nvPr/>
          </p:nvSpPr>
          <p:spPr>
            <a:xfrm>
              <a:off x="658368"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Điều phối</a:t>
              </a:r>
              <a:endParaRPr lang="en-US" sz="1400" dirty="0"/>
            </a:p>
          </p:txBody>
        </p:sp>
        <p:sp>
          <p:nvSpPr>
            <p:cNvPr id="7" name="Text 5"/>
            <p:cNvSpPr txBox="1"/>
            <p:nvPr/>
          </p:nvSpPr>
          <p:spPr>
            <a:xfrm>
              <a:off x="658368" y="2926080"/>
              <a:ext cx="896112" cy="274320"/>
            </a:xfrm>
            <a:prstGeom prst="rect">
              <a:avLst/>
            </a:prstGeom>
            <a:noFill/>
            <a:ln/>
          </p:spPr>
          <p:txBody>
            <a:bodyPr wrap="square" lIns="0" tIns="0" rIns="0" bIns="0" rtlCol="0" anchor="ctr"/>
            <a:lstStyle/>
            <a:p>
              <a:pPr marL="0" indent="0">
                <a:buNone/>
              </a:pPr>
              <a:r>
                <a:rPr lang="en-US" sz="1000" b="1" dirty="0">
                  <a:solidFill>
                    <a:srgbClr val="1C2333"/>
                  </a:solidFill>
                </a:rPr>
                <a:t>Tiền vệ</a:t>
              </a:r>
              <a:endParaRPr lang="en-US" sz="1000" dirty="0"/>
            </a:p>
          </p:txBody>
        </p:sp>
        <p:sp>
          <p:nvSpPr>
            <p:cNvPr id="8" name="Text 6"/>
            <p:cNvSpPr txBox="1"/>
            <p:nvPr/>
          </p:nvSpPr>
          <p:spPr>
            <a:xfrm>
              <a:off x="658368"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Nhận kết quả, giao việc, giữ đồ thị, gọi dự bị</a:t>
              </a:r>
              <a:endParaRPr lang="en-US" sz="1050" dirty="0"/>
            </a:p>
          </p:txBody>
        </p:sp>
      </p:grpSp>
      <p:grpSp>
        <p:nvGrpSpPr>
          <p:cNvPr id="61" name="Thẻ ghế 2"/>
          <p:cNvGrpSpPr/>
          <p:nvPr/>
        </p:nvGrpSpPr>
        <p:grpSpPr>
          <a:xfrm>
            <a:off x="3054096" y="1463040"/>
            <a:ext cx="1078992" cy="3383280"/>
            <a:chOff x="3054096" y="1463040"/>
            <a:chExt cx="1078992" cy="3383280"/>
          </a:xfrm>
        </p:grpSpPr>
        <p:sp>
          <p:nvSpPr>
            <p:cNvPr id="9" name="Shape 7"/>
            <p:cNvSpPr/>
            <p:nvPr/>
          </p:nvSpPr>
          <p:spPr>
            <a:xfrm>
              <a:off x="3054096" y="1463040"/>
              <a:ext cx="1078992" cy="3383280"/>
            </a:xfrm>
            <a:prstGeom prst="roundRect">
              <a:avLst>
                <a:gd name="adj" fmla="val 3509"/>
              </a:avLst>
            </a:prstGeom>
            <a:solidFill>
              <a:srgbClr val="EBF0FD"/>
            </a:solidFill>
            <a:ln w="22225">
              <a:solidFill>
                <a:srgbClr val="2B59D9"/>
              </a:solidFill>
              <a:prstDash val="solid"/>
            </a:ln>
          </p:spPr>
          <p:txBody>
            <a:bodyPr/>
            <a:lstStyle/>
            <a:p>
              <a:endParaRPr lang="en-US"/>
            </a:p>
          </p:txBody>
        </p:sp>
        <p:sp>
          <p:nvSpPr>
            <p:cNvPr id="10" name="num10"/>
            <p:cNvSpPr/>
            <p:nvPr/>
          </p:nvSpPr>
          <p:spPr>
            <a:xfrm>
              <a:off x="3163824" y="1645920"/>
              <a:ext cx="411480" cy="411480"/>
            </a:xfrm>
            <a:prstGeom prst="ellipse">
              <a:avLst/>
            </a:prstGeom>
            <a:solidFill>
              <a:srgbClr val="2B59D9"/>
            </a:solidFill>
            <a:ln w="12700">
              <a:solidFill>
                <a:srgbClr val="2B59D9"/>
              </a:solidFill>
              <a:prstDash val="solid"/>
            </a:ln>
          </p:spPr>
          <p:txBody>
            <a:bodyPr/>
            <a:lstStyle/>
            <a:p>
              <a:endParaRPr lang="en-US"/>
            </a:p>
          </p:txBody>
        </p:sp>
        <p:sp>
          <p:nvSpPr>
            <p:cNvPr id="11" name="Text 9"/>
            <p:cNvSpPr txBox="1"/>
            <p:nvPr/>
          </p:nvSpPr>
          <p:spPr>
            <a:xfrm>
              <a:off x="3163824"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10</a:t>
              </a:r>
              <a:endParaRPr lang="en-US" sz="1050" dirty="0"/>
            </a:p>
          </p:txBody>
        </p:sp>
        <p:sp>
          <p:nvSpPr>
            <p:cNvPr id="12" name="Text 10"/>
            <p:cNvSpPr txBox="1"/>
            <p:nvPr/>
          </p:nvSpPr>
          <p:spPr>
            <a:xfrm>
              <a:off x="3145536"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Trong ngành</a:t>
              </a:r>
              <a:endParaRPr lang="en-US" sz="1400" dirty="0"/>
            </a:p>
          </p:txBody>
        </p:sp>
        <p:sp>
          <p:nvSpPr>
            <p:cNvPr id="13" name="Text 11"/>
            <p:cNvSpPr txBox="1"/>
            <p:nvPr/>
          </p:nvSpPr>
          <p:spPr>
            <a:xfrm>
              <a:off x="3145536" y="2926080"/>
              <a:ext cx="896112" cy="274320"/>
            </a:xfrm>
            <a:prstGeom prst="rect">
              <a:avLst/>
            </a:prstGeom>
            <a:noFill/>
            <a:ln/>
          </p:spPr>
          <p:txBody>
            <a:bodyPr wrap="square" lIns="0" tIns="0" rIns="0" bIns="0" rtlCol="0" anchor="ctr"/>
            <a:lstStyle/>
            <a:p>
              <a:pPr marL="0" indent="0">
                <a:buNone/>
              </a:pPr>
              <a:r>
                <a:rPr lang="en-US" sz="1000" b="1" dirty="0">
                  <a:solidFill>
                    <a:srgbClr val="2B59D9"/>
                  </a:solidFill>
                </a:rPr>
                <a:t>Tiền vệ</a:t>
              </a:r>
              <a:endParaRPr lang="en-US" sz="1000" dirty="0"/>
            </a:p>
          </p:txBody>
        </p:sp>
        <p:sp>
          <p:nvSpPr>
            <p:cNvPr id="14" name="Text 12"/>
            <p:cNvSpPr txBox="1"/>
            <p:nvPr/>
          </p:nvSpPr>
          <p:spPr>
            <a:xfrm>
              <a:off x="3145536"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Đọc văn liệu, ghép bài, nộp ý đã thử nhỏ</a:t>
              </a:r>
              <a:endParaRPr lang="en-US" sz="1050" dirty="0"/>
            </a:p>
          </p:txBody>
        </p:sp>
      </p:grpSp>
      <p:grpSp>
        <p:nvGrpSpPr>
          <p:cNvPr id="64" name="Thẻ ghế 5"/>
          <p:cNvGrpSpPr/>
          <p:nvPr/>
        </p:nvGrpSpPr>
        <p:grpSpPr>
          <a:xfrm>
            <a:off x="6784848" y="1463040"/>
            <a:ext cx="1078992" cy="3383280"/>
            <a:chOff x="6784848" y="1463040"/>
            <a:chExt cx="1078992" cy="3383280"/>
          </a:xfrm>
        </p:grpSpPr>
        <p:sp>
          <p:nvSpPr>
            <p:cNvPr id="15" name="Shape 13"/>
            <p:cNvSpPr/>
            <p:nvPr/>
          </p:nvSpPr>
          <p:spPr>
            <a:xfrm>
              <a:off x="6784848" y="1463040"/>
              <a:ext cx="1078992" cy="3383280"/>
            </a:xfrm>
            <a:prstGeom prst="roundRect">
              <a:avLst>
                <a:gd name="adj" fmla="val 3509"/>
              </a:avLst>
            </a:prstGeom>
            <a:solidFill>
              <a:srgbClr val="EBF0FD"/>
            </a:solidFill>
            <a:ln w="22225">
              <a:solidFill>
                <a:srgbClr val="2B59D9"/>
              </a:solidFill>
              <a:prstDash val="solid"/>
            </a:ln>
          </p:spPr>
          <p:txBody>
            <a:bodyPr/>
            <a:lstStyle/>
            <a:p>
              <a:endParaRPr lang="en-US"/>
            </a:p>
          </p:txBody>
        </p:sp>
        <p:sp>
          <p:nvSpPr>
            <p:cNvPr id="16" name="num9"/>
            <p:cNvSpPr/>
            <p:nvPr/>
          </p:nvSpPr>
          <p:spPr>
            <a:xfrm>
              <a:off x="6894576" y="1645920"/>
              <a:ext cx="411480" cy="411480"/>
            </a:xfrm>
            <a:prstGeom prst="ellipse">
              <a:avLst/>
            </a:prstGeom>
            <a:solidFill>
              <a:srgbClr val="2B59D9"/>
            </a:solidFill>
            <a:ln w="12700">
              <a:solidFill>
                <a:srgbClr val="2B59D9"/>
              </a:solidFill>
              <a:prstDash val="solid"/>
            </a:ln>
          </p:spPr>
          <p:txBody>
            <a:bodyPr/>
            <a:lstStyle/>
            <a:p>
              <a:endParaRPr lang="en-US"/>
            </a:p>
          </p:txBody>
        </p:sp>
        <p:sp>
          <p:nvSpPr>
            <p:cNvPr id="17" name="Text 15"/>
            <p:cNvSpPr txBox="1"/>
            <p:nvPr/>
          </p:nvSpPr>
          <p:spPr>
            <a:xfrm>
              <a:off x="6894576"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9</a:t>
              </a:r>
              <a:endParaRPr lang="en-US" sz="1050" dirty="0"/>
            </a:p>
          </p:txBody>
        </p:sp>
        <p:sp>
          <p:nvSpPr>
            <p:cNvPr id="18" name="Text 16"/>
            <p:cNvSpPr txBox="1"/>
            <p:nvPr/>
          </p:nvSpPr>
          <p:spPr>
            <a:xfrm>
              <a:off x="6876288"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Chứng minh</a:t>
              </a:r>
              <a:endParaRPr lang="en-US" sz="1400" dirty="0"/>
            </a:p>
          </p:txBody>
        </p:sp>
        <p:sp>
          <p:nvSpPr>
            <p:cNvPr id="19" name="Text 17"/>
            <p:cNvSpPr txBox="1"/>
            <p:nvPr/>
          </p:nvSpPr>
          <p:spPr>
            <a:xfrm>
              <a:off x="6876288" y="2926080"/>
              <a:ext cx="896112" cy="274320"/>
            </a:xfrm>
            <a:prstGeom prst="rect">
              <a:avLst/>
            </a:prstGeom>
            <a:noFill/>
            <a:ln/>
          </p:spPr>
          <p:txBody>
            <a:bodyPr wrap="square" lIns="0" tIns="0" rIns="0" bIns="0" rtlCol="0" anchor="ctr"/>
            <a:lstStyle/>
            <a:p>
              <a:pPr marL="0" indent="0">
                <a:buNone/>
              </a:pPr>
              <a:r>
                <a:rPr lang="en-US" sz="1000" b="1" dirty="0">
                  <a:solidFill>
                    <a:srgbClr val="2B59D9"/>
                  </a:solidFill>
                </a:rPr>
                <a:t>Tấn công</a:t>
              </a:r>
              <a:endParaRPr lang="en-US" sz="1000" dirty="0"/>
            </a:p>
          </p:txBody>
        </p:sp>
        <p:sp>
          <p:nvSpPr>
            <p:cNvPr id="20" name="Text 18"/>
            <p:cNvSpPr txBox="1"/>
            <p:nvPr/>
          </p:nvSpPr>
          <p:spPr>
            <a:xfrm>
              <a:off x="6876288"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Nhận ý đã thử và ví dụ mẫu, viết chứng minh, nộp</a:t>
              </a:r>
              <a:endParaRPr lang="en-US" sz="1050" dirty="0"/>
            </a:p>
          </p:txBody>
        </p:sp>
      </p:grpSp>
      <p:grpSp>
        <p:nvGrpSpPr>
          <p:cNvPr id="63" name="Thẻ ghế 4"/>
          <p:cNvGrpSpPr/>
          <p:nvPr/>
        </p:nvGrpSpPr>
        <p:grpSpPr>
          <a:xfrm>
            <a:off x="5541264" y="1463040"/>
            <a:ext cx="1078992" cy="3383280"/>
            <a:chOff x="5541264" y="1463040"/>
            <a:chExt cx="1078992" cy="3383280"/>
          </a:xfrm>
        </p:grpSpPr>
        <p:sp>
          <p:nvSpPr>
            <p:cNvPr id="21" name="Shape 19"/>
            <p:cNvSpPr/>
            <p:nvPr/>
          </p:nvSpPr>
          <p:spPr>
            <a:xfrm>
              <a:off x="5541264" y="1463040"/>
              <a:ext cx="1078992" cy="3383280"/>
            </a:xfrm>
            <a:prstGeom prst="roundRect">
              <a:avLst>
                <a:gd name="adj" fmla="val 3509"/>
              </a:avLst>
            </a:prstGeom>
            <a:solidFill>
              <a:srgbClr val="FBE9E6"/>
            </a:solidFill>
            <a:ln w="22225">
              <a:solidFill>
                <a:srgbClr val="C93A2A"/>
              </a:solidFill>
              <a:prstDash val="solid"/>
            </a:ln>
          </p:spPr>
          <p:txBody>
            <a:bodyPr/>
            <a:lstStyle/>
            <a:p>
              <a:endParaRPr lang="en-US"/>
            </a:p>
          </p:txBody>
        </p:sp>
        <p:sp>
          <p:nvSpPr>
            <p:cNvPr id="22" name="num4"/>
            <p:cNvSpPr/>
            <p:nvPr/>
          </p:nvSpPr>
          <p:spPr>
            <a:xfrm>
              <a:off x="5650992" y="1645920"/>
              <a:ext cx="411480" cy="411480"/>
            </a:xfrm>
            <a:prstGeom prst="ellipse">
              <a:avLst/>
            </a:prstGeom>
            <a:solidFill>
              <a:srgbClr val="C93A2A"/>
            </a:solidFill>
            <a:ln w="12700">
              <a:solidFill>
                <a:srgbClr val="C93A2A"/>
              </a:solidFill>
              <a:prstDash val="solid"/>
            </a:ln>
          </p:spPr>
          <p:txBody>
            <a:bodyPr/>
            <a:lstStyle/>
            <a:p>
              <a:endParaRPr lang="en-US"/>
            </a:p>
          </p:txBody>
        </p:sp>
        <p:sp>
          <p:nvSpPr>
            <p:cNvPr id="23" name="Text 21"/>
            <p:cNvSpPr txBox="1"/>
            <p:nvPr/>
          </p:nvSpPr>
          <p:spPr>
            <a:xfrm>
              <a:off x="5650992"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4</a:t>
              </a:r>
              <a:endParaRPr lang="en-US" sz="1050" dirty="0"/>
            </a:p>
          </p:txBody>
        </p:sp>
        <p:sp>
          <p:nvSpPr>
            <p:cNvPr id="24" name="Text 22"/>
            <p:cNvSpPr txBox="1"/>
            <p:nvPr/>
          </p:nvSpPr>
          <p:spPr>
            <a:xfrm>
              <a:off x="5632704"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Phá</a:t>
              </a:r>
              <a:endParaRPr lang="en-US" sz="1400" dirty="0"/>
            </a:p>
          </p:txBody>
        </p:sp>
        <p:sp>
          <p:nvSpPr>
            <p:cNvPr id="25" name="Text 23"/>
            <p:cNvSpPr txBox="1"/>
            <p:nvPr/>
          </p:nvSpPr>
          <p:spPr>
            <a:xfrm>
              <a:off x="5632704" y="2926080"/>
              <a:ext cx="896112" cy="274320"/>
            </a:xfrm>
            <a:prstGeom prst="rect">
              <a:avLst/>
            </a:prstGeom>
            <a:noFill/>
            <a:ln/>
          </p:spPr>
          <p:txBody>
            <a:bodyPr wrap="square" lIns="0" tIns="0" rIns="0" bIns="0" rtlCol="0" anchor="ctr"/>
            <a:lstStyle/>
            <a:p>
              <a:pPr marL="0" indent="0">
                <a:buNone/>
              </a:pPr>
              <a:r>
                <a:rPr lang="en-US" sz="1000" b="1" dirty="0">
                  <a:solidFill>
                    <a:srgbClr val="C93A2A"/>
                  </a:solidFill>
                </a:rPr>
                <a:t>Tấn công</a:t>
              </a:r>
              <a:endParaRPr lang="en-US" sz="1000" dirty="0"/>
            </a:p>
          </p:txBody>
        </p:sp>
        <p:sp>
          <p:nvSpPr>
            <p:cNvPr id="26" name="Text 24"/>
            <p:cNvSpPr txBox="1"/>
            <p:nvPr/>
          </p:nvSpPr>
          <p:spPr>
            <a:xfrm>
              <a:off x="5632704"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Giết phỏng đoán bằng phản ví dụ, chọn ca mới để thử</a:t>
              </a:r>
              <a:endParaRPr lang="en-US" sz="1050" dirty="0"/>
            </a:p>
          </p:txBody>
        </p:sp>
      </p:grpSp>
      <p:grpSp>
        <p:nvGrpSpPr>
          <p:cNvPr id="67" name="Thẻ ghế 8"/>
          <p:cNvGrpSpPr/>
          <p:nvPr/>
        </p:nvGrpSpPr>
        <p:grpSpPr>
          <a:xfrm>
            <a:off x="10515600" y="1463040"/>
            <a:ext cx="1078992" cy="3383280"/>
            <a:chOff x="10515600" y="1463040"/>
            <a:chExt cx="1078992" cy="3383280"/>
          </a:xfrm>
        </p:grpSpPr>
        <p:sp>
          <p:nvSpPr>
            <p:cNvPr id="27" name="Shape 25"/>
            <p:cNvSpPr/>
            <p:nvPr/>
          </p:nvSpPr>
          <p:spPr>
            <a:xfrm>
              <a:off x="10515600" y="1463040"/>
              <a:ext cx="1078992" cy="3383280"/>
            </a:xfrm>
            <a:prstGeom prst="roundRect">
              <a:avLst>
                <a:gd name="adj" fmla="val 3509"/>
              </a:avLst>
            </a:prstGeom>
            <a:solidFill>
              <a:srgbClr val="FAF0DA"/>
            </a:solidFill>
            <a:ln w="22225">
              <a:solidFill>
                <a:srgbClr val="A86C0E"/>
              </a:solidFill>
              <a:prstDash val="solid"/>
            </a:ln>
          </p:spPr>
          <p:txBody>
            <a:bodyPr/>
            <a:lstStyle/>
            <a:p>
              <a:endParaRPr lang="en-US"/>
            </a:p>
          </p:txBody>
        </p:sp>
        <p:sp>
          <p:nvSpPr>
            <p:cNvPr id="28" name="num1"/>
            <p:cNvSpPr/>
            <p:nvPr/>
          </p:nvSpPr>
          <p:spPr>
            <a:xfrm>
              <a:off x="10625328" y="1645920"/>
              <a:ext cx="411480" cy="411480"/>
            </a:xfrm>
            <a:prstGeom prst="ellipse">
              <a:avLst/>
            </a:prstGeom>
            <a:solidFill>
              <a:srgbClr val="A86C0E"/>
            </a:solidFill>
            <a:ln w="12700">
              <a:solidFill>
                <a:srgbClr val="A86C0E"/>
              </a:solidFill>
              <a:prstDash val="solid"/>
            </a:ln>
          </p:spPr>
          <p:txBody>
            <a:bodyPr/>
            <a:lstStyle/>
            <a:p>
              <a:endParaRPr lang="en-US"/>
            </a:p>
          </p:txBody>
        </p:sp>
        <p:sp>
          <p:nvSpPr>
            <p:cNvPr id="29" name="Text 27"/>
            <p:cNvSpPr txBox="1"/>
            <p:nvPr/>
          </p:nvSpPr>
          <p:spPr>
            <a:xfrm>
              <a:off x="10625328"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1</a:t>
              </a:r>
              <a:endParaRPr lang="en-US" sz="1050" dirty="0"/>
            </a:p>
          </p:txBody>
        </p:sp>
        <p:sp>
          <p:nvSpPr>
            <p:cNvPr id="30" name="Text 28"/>
            <p:cNvSpPr txBox="1"/>
            <p:nvPr/>
          </p:nvSpPr>
          <p:spPr>
            <a:xfrm>
              <a:off x="10607040"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Kiểm chứng cuối</a:t>
              </a:r>
              <a:endParaRPr lang="en-US" sz="1400" dirty="0"/>
            </a:p>
          </p:txBody>
        </p:sp>
        <p:sp>
          <p:nvSpPr>
            <p:cNvPr id="31" name="Text 29"/>
            <p:cNvSpPr txBox="1"/>
            <p:nvPr/>
          </p:nvSpPr>
          <p:spPr>
            <a:xfrm>
              <a:off x="10607040" y="2926080"/>
              <a:ext cx="896112" cy="274320"/>
            </a:xfrm>
            <a:prstGeom prst="rect">
              <a:avLst/>
            </a:prstGeom>
            <a:noFill/>
            <a:ln/>
          </p:spPr>
          <p:txBody>
            <a:bodyPr wrap="square" lIns="0" tIns="0" rIns="0" bIns="0" rtlCol="0" anchor="ctr"/>
            <a:lstStyle/>
            <a:p>
              <a:pPr marL="0" indent="0">
                <a:buNone/>
              </a:pPr>
              <a:r>
                <a:rPr lang="en-US" sz="1000" b="1" dirty="0">
                  <a:solidFill>
                    <a:srgbClr val="A86C0E"/>
                  </a:solidFill>
                </a:rPr>
                <a:t>Phòng thủ</a:t>
              </a:r>
              <a:endParaRPr lang="en-US" sz="1000" dirty="0"/>
            </a:p>
          </p:txBody>
        </p:sp>
        <p:sp>
          <p:nvSpPr>
            <p:cNvPr id="32" name="Text 30"/>
            <p:cNvSpPr txBox="1"/>
            <p:nvPr/>
          </p:nvSpPr>
          <p:spPr>
            <a:xfrm>
              <a:off x="10607040"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Kiểm bằng Lean, soát axiom, giữ kiểm ẩn</a:t>
              </a:r>
              <a:endParaRPr lang="en-US" sz="1050" dirty="0"/>
            </a:p>
          </p:txBody>
        </p:sp>
      </p:grpSp>
      <p:sp>
        <p:nvSpPr>
          <p:cNvPr id="33" name="Text 31"/>
          <p:cNvSpPr txBox="1"/>
          <p:nvPr/>
        </p:nvSpPr>
        <p:spPr>
          <a:xfrm>
            <a:off x="548640" y="5257800"/>
            <a:ext cx="10972800" cy="411480"/>
          </a:xfrm>
          <a:prstGeom prst="rect">
            <a:avLst/>
          </a:prstGeom>
          <a:noFill/>
          <a:ln/>
        </p:spPr>
        <p:txBody>
          <a:bodyPr wrap="square" lIns="0" tIns="0" rIns="0" bIns="0" rtlCol="0" anchor="ctr"/>
          <a:lstStyle/>
          <a:p>
            <a:pPr marL="0" indent="0">
              <a:buNone/>
            </a:pPr>
            <a:r>
              <a:rPr lang="en-US" sz="1600" i="1" dirty="0">
                <a:solidFill>
                  <a:schemeClr val="tx2"/>
                </a:solidFill>
              </a:rPr>
              <a:t>Đường ghi bàn: 6 → 14 → 10 → 8 → 4 → 9 → Số 2 và Số 3 → thủ môn Số 1. Chín ghế lõi luôn có agent trong chiến dịch; chỉ hai cánh 11 và 7 do Số 6 bật theo bài.</a:t>
            </a:r>
            <a:endParaRPr lang="en-US" sz="1600" dirty="0"/>
          </a:p>
        </p:txBody>
      </p:sp>
      <p:sp>
        <p:nvSpPr>
          <p:cNvPr id="34"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grpSp>
        <p:nvGrpSpPr>
          <p:cNvPr id="60" name="Thẻ ghế 1"/>
          <p:cNvGrpSpPr/>
          <p:nvPr/>
        </p:nvGrpSpPr>
        <p:grpSpPr>
          <a:xfrm>
            <a:off x="1810512" y="1463040"/>
            <a:ext cx="1078992" cy="3383280"/>
            <a:chOff x="1810512" y="1463040"/>
            <a:chExt cx="1078992" cy="3383280"/>
          </a:xfrm>
        </p:grpSpPr>
        <p:sp>
          <p:nvSpPr>
            <p:cNvPr id="35" name="card14-0"/>
            <p:cNvSpPr/>
            <p:nvPr/>
          </p:nvSpPr>
          <p:spPr>
            <a:xfrm>
              <a:off x="1810512" y="1463040"/>
              <a:ext cx="1078992" cy="3383280"/>
            </a:xfrm>
            <a:prstGeom prst="roundRect">
              <a:avLst>
                <a:gd name="adj" fmla="val 3509"/>
              </a:avLst>
            </a:prstGeom>
            <a:solidFill>
              <a:srgbClr val="EBF0FD"/>
            </a:solidFill>
            <a:ln w="22225">
              <a:solidFill>
                <a:srgbClr val="2B59D9"/>
              </a:solidFill>
              <a:prstDash val="solid"/>
            </a:ln>
          </p:spPr>
          <p:txBody>
            <a:bodyPr/>
            <a:lstStyle/>
            <a:p>
              <a:endParaRPr lang="en-US"/>
            </a:p>
          </p:txBody>
        </p:sp>
        <p:sp>
          <p:nvSpPr>
            <p:cNvPr id="36" name="card14-1"/>
            <p:cNvSpPr/>
            <p:nvPr/>
          </p:nvSpPr>
          <p:spPr>
            <a:xfrm>
              <a:off x="1920240" y="1645920"/>
              <a:ext cx="411480" cy="411480"/>
            </a:xfrm>
            <a:prstGeom prst="ellipse">
              <a:avLst/>
            </a:prstGeom>
            <a:solidFill>
              <a:srgbClr val="2B59D9"/>
            </a:solidFill>
            <a:ln w="12700">
              <a:solidFill>
                <a:srgbClr val="2B59D9"/>
              </a:solidFill>
              <a:prstDash val="solid"/>
            </a:ln>
          </p:spPr>
          <p:txBody>
            <a:bodyPr/>
            <a:lstStyle/>
            <a:p>
              <a:endParaRPr lang="en-US"/>
            </a:p>
          </p:txBody>
        </p:sp>
        <p:sp>
          <p:nvSpPr>
            <p:cNvPr id="37" name="card14-2"/>
            <p:cNvSpPr txBox="1"/>
            <p:nvPr/>
          </p:nvSpPr>
          <p:spPr>
            <a:xfrm>
              <a:off x="1920240"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14</a:t>
              </a:r>
              <a:endParaRPr lang="en-US" sz="1050" dirty="0"/>
            </a:p>
          </p:txBody>
        </p:sp>
        <p:sp>
          <p:nvSpPr>
            <p:cNvPr id="38" name="card14-3"/>
            <p:cNvSpPr txBox="1"/>
            <p:nvPr/>
          </p:nvSpPr>
          <p:spPr>
            <a:xfrm>
              <a:off x="1901952"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Ví dụ</a:t>
              </a:r>
              <a:endParaRPr lang="en-US" sz="1400" dirty="0"/>
            </a:p>
          </p:txBody>
        </p:sp>
        <p:sp>
          <p:nvSpPr>
            <p:cNvPr id="39" name="card14-4"/>
            <p:cNvSpPr txBox="1"/>
            <p:nvPr/>
          </p:nvSpPr>
          <p:spPr>
            <a:xfrm>
              <a:off x="1901952" y="2926080"/>
              <a:ext cx="896112" cy="274320"/>
            </a:xfrm>
            <a:prstGeom prst="rect">
              <a:avLst/>
            </a:prstGeom>
            <a:noFill/>
            <a:ln/>
          </p:spPr>
          <p:txBody>
            <a:bodyPr wrap="square" lIns="0" tIns="0" rIns="0" bIns="0" rtlCol="0" anchor="ctr"/>
            <a:lstStyle/>
            <a:p>
              <a:pPr marL="0" indent="0">
                <a:buNone/>
              </a:pPr>
              <a:r>
                <a:rPr lang="en-US" sz="1000" b="1" dirty="0">
                  <a:solidFill>
                    <a:srgbClr val="2B59D9"/>
                  </a:solidFill>
                </a:rPr>
                <a:t>Tấn công</a:t>
              </a:r>
              <a:endParaRPr lang="en-US" sz="1000" dirty="0"/>
            </a:p>
          </p:txBody>
        </p:sp>
        <p:sp>
          <p:nvSpPr>
            <p:cNvPr id="40" name="card14-5"/>
            <p:cNvSpPr txBox="1"/>
            <p:nvPr/>
          </p:nvSpPr>
          <p:spPr>
            <a:xfrm>
              <a:off x="1901952"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Săn ví dụ có ý nghĩa, tính mẫu A→Z, thử ý tưởng cho mọi ghế</a:t>
              </a:r>
              <a:endParaRPr lang="en-US" sz="1050" dirty="0"/>
            </a:p>
          </p:txBody>
        </p:sp>
      </p:grpSp>
      <p:grpSp>
        <p:nvGrpSpPr>
          <p:cNvPr id="62" name="Thẻ ghế 3"/>
          <p:cNvGrpSpPr/>
          <p:nvPr/>
        </p:nvGrpSpPr>
        <p:grpSpPr>
          <a:xfrm>
            <a:off x="4297680" y="1463040"/>
            <a:ext cx="1078992" cy="3383280"/>
            <a:chOff x="4297680" y="1463040"/>
            <a:chExt cx="1078992" cy="3383280"/>
          </a:xfrm>
        </p:grpSpPr>
        <p:sp>
          <p:nvSpPr>
            <p:cNvPr id="41" name="card8-0"/>
            <p:cNvSpPr/>
            <p:nvPr/>
          </p:nvSpPr>
          <p:spPr>
            <a:xfrm>
              <a:off x="4297680" y="1463040"/>
              <a:ext cx="1078992" cy="3383280"/>
            </a:xfrm>
            <a:prstGeom prst="roundRect">
              <a:avLst>
                <a:gd name="adj" fmla="val 3509"/>
              </a:avLst>
            </a:prstGeom>
            <a:solidFill>
              <a:srgbClr val="EBF0FD"/>
            </a:solidFill>
            <a:ln w="22225">
              <a:solidFill>
                <a:srgbClr val="2B59D9"/>
              </a:solidFill>
              <a:prstDash val="solid"/>
            </a:ln>
          </p:spPr>
          <p:txBody>
            <a:bodyPr/>
            <a:lstStyle/>
            <a:p>
              <a:endParaRPr lang="en-US"/>
            </a:p>
          </p:txBody>
        </p:sp>
        <p:sp>
          <p:nvSpPr>
            <p:cNvPr id="42" name="card8-1"/>
            <p:cNvSpPr/>
            <p:nvPr/>
          </p:nvSpPr>
          <p:spPr>
            <a:xfrm>
              <a:off x="4407408" y="1645920"/>
              <a:ext cx="411480" cy="411480"/>
            </a:xfrm>
            <a:prstGeom prst="ellipse">
              <a:avLst/>
            </a:prstGeom>
            <a:solidFill>
              <a:srgbClr val="2B59D9"/>
            </a:solidFill>
            <a:ln w="12700">
              <a:solidFill>
                <a:srgbClr val="2B59D9"/>
              </a:solidFill>
              <a:prstDash val="solid"/>
            </a:ln>
          </p:spPr>
          <p:txBody>
            <a:bodyPr/>
            <a:lstStyle/>
            <a:p>
              <a:endParaRPr lang="en-US"/>
            </a:p>
          </p:txBody>
        </p:sp>
        <p:sp>
          <p:nvSpPr>
            <p:cNvPr id="43" name="card8-2"/>
            <p:cNvSpPr txBox="1"/>
            <p:nvPr/>
          </p:nvSpPr>
          <p:spPr>
            <a:xfrm>
              <a:off x="4407408"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8</a:t>
              </a:r>
              <a:endParaRPr lang="en-US" sz="1050" dirty="0"/>
            </a:p>
          </p:txBody>
        </p:sp>
        <p:sp>
          <p:nvSpPr>
            <p:cNvPr id="44" name="card8-3"/>
            <p:cNvSpPr txBox="1"/>
            <p:nvPr/>
          </p:nvSpPr>
          <p:spPr>
            <a:xfrm>
              <a:off x="4389120"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Blueprint</a:t>
              </a:r>
              <a:endParaRPr lang="en-US" sz="1400" dirty="0"/>
            </a:p>
          </p:txBody>
        </p:sp>
        <p:sp>
          <p:nvSpPr>
            <p:cNvPr id="45" name="card8-4"/>
            <p:cNvSpPr txBox="1"/>
            <p:nvPr/>
          </p:nvSpPr>
          <p:spPr>
            <a:xfrm>
              <a:off x="4389120" y="2926080"/>
              <a:ext cx="896112" cy="274320"/>
            </a:xfrm>
            <a:prstGeom prst="rect">
              <a:avLst/>
            </a:prstGeom>
            <a:noFill/>
            <a:ln/>
          </p:spPr>
          <p:txBody>
            <a:bodyPr wrap="square" lIns="0" tIns="0" rIns="0" bIns="0" rtlCol="0" anchor="ctr"/>
            <a:lstStyle/>
            <a:p>
              <a:pPr marL="0" indent="0">
                <a:buNone/>
              </a:pPr>
              <a:r>
                <a:rPr lang="en-US" sz="1000" b="1" dirty="0">
                  <a:solidFill>
                    <a:srgbClr val="2B59D9"/>
                  </a:solidFill>
                </a:rPr>
                <a:t>Nối hai tuyến</a:t>
              </a:r>
              <a:endParaRPr lang="en-US" sz="1000" dirty="0"/>
            </a:p>
          </p:txBody>
        </p:sp>
        <p:sp>
          <p:nvSpPr>
            <p:cNvPr id="46" name="card8-5"/>
            <p:cNvSpPr txBox="1"/>
            <p:nvPr/>
          </p:nvSpPr>
          <p:spPr>
            <a:xfrm>
              <a:off x="4389120"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Biến phỏng đoán thành đồ thị bổ đề, giao bổ đề kế tiếp cho Số 9</a:t>
              </a:r>
              <a:endParaRPr lang="en-US" sz="1050" dirty="0"/>
            </a:p>
          </p:txBody>
        </p:sp>
      </p:grpSp>
      <p:grpSp>
        <p:nvGrpSpPr>
          <p:cNvPr id="65" name="Thẻ ghế 6"/>
          <p:cNvGrpSpPr/>
          <p:nvPr/>
        </p:nvGrpSpPr>
        <p:grpSpPr>
          <a:xfrm>
            <a:off x="8028432" y="1463040"/>
            <a:ext cx="1078992" cy="3383280"/>
            <a:chOff x="8028432" y="1463040"/>
            <a:chExt cx="1078992" cy="3383280"/>
          </a:xfrm>
        </p:grpSpPr>
        <p:sp>
          <p:nvSpPr>
            <p:cNvPr id="47" name="card2-0"/>
            <p:cNvSpPr/>
            <p:nvPr/>
          </p:nvSpPr>
          <p:spPr>
            <a:xfrm>
              <a:off x="8028432" y="1463040"/>
              <a:ext cx="1078992" cy="3383280"/>
            </a:xfrm>
            <a:prstGeom prst="roundRect">
              <a:avLst>
                <a:gd name="adj" fmla="val 3509"/>
              </a:avLst>
            </a:prstGeom>
            <a:solidFill>
              <a:srgbClr val="FBE9E6"/>
            </a:solidFill>
            <a:ln w="22225">
              <a:solidFill>
                <a:srgbClr val="C93A2A"/>
              </a:solidFill>
              <a:prstDash val="solid"/>
            </a:ln>
          </p:spPr>
          <p:txBody>
            <a:bodyPr/>
            <a:lstStyle/>
            <a:p>
              <a:endParaRPr lang="en-US"/>
            </a:p>
          </p:txBody>
        </p:sp>
        <p:sp>
          <p:nvSpPr>
            <p:cNvPr id="48" name="card2-1"/>
            <p:cNvSpPr/>
            <p:nvPr/>
          </p:nvSpPr>
          <p:spPr>
            <a:xfrm>
              <a:off x="8138160" y="1645920"/>
              <a:ext cx="411480" cy="411480"/>
            </a:xfrm>
            <a:prstGeom prst="ellipse">
              <a:avLst/>
            </a:prstGeom>
            <a:solidFill>
              <a:srgbClr val="C93A2A"/>
            </a:solidFill>
            <a:ln w="12700">
              <a:solidFill>
                <a:srgbClr val="C93A2A"/>
              </a:solidFill>
              <a:prstDash val="solid"/>
            </a:ln>
          </p:spPr>
          <p:txBody>
            <a:bodyPr/>
            <a:lstStyle/>
            <a:p>
              <a:endParaRPr lang="en-US"/>
            </a:p>
          </p:txBody>
        </p:sp>
        <p:sp>
          <p:nvSpPr>
            <p:cNvPr id="49" name="card2-2"/>
            <p:cNvSpPr txBox="1"/>
            <p:nvPr/>
          </p:nvSpPr>
          <p:spPr>
            <a:xfrm>
              <a:off x="8138160"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2</a:t>
              </a:r>
              <a:endParaRPr lang="en-US" sz="1050" dirty="0"/>
            </a:p>
          </p:txBody>
        </p:sp>
        <p:sp>
          <p:nvSpPr>
            <p:cNvPr id="50" name="card2-3"/>
            <p:cNvSpPr txBox="1"/>
            <p:nvPr/>
          </p:nvSpPr>
          <p:spPr>
            <a:xfrm>
              <a:off x="8119872"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Soát chứng minh</a:t>
              </a:r>
              <a:endParaRPr lang="en-US" sz="1400" dirty="0"/>
            </a:p>
          </p:txBody>
        </p:sp>
        <p:sp>
          <p:nvSpPr>
            <p:cNvPr id="51" name="card2-4"/>
            <p:cNvSpPr txBox="1"/>
            <p:nvPr/>
          </p:nvSpPr>
          <p:spPr>
            <a:xfrm>
              <a:off x="8119872" y="2926080"/>
              <a:ext cx="896112" cy="274320"/>
            </a:xfrm>
            <a:prstGeom prst="rect">
              <a:avLst/>
            </a:prstGeom>
            <a:noFill/>
            <a:ln/>
          </p:spPr>
          <p:txBody>
            <a:bodyPr wrap="square" lIns="0" tIns="0" rIns="0" bIns="0" rtlCol="0" anchor="ctr"/>
            <a:lstStyle/>
            <a:p>
              <a:pPr marL="0" indent="0">
                <a:buNone/>
              </a:pPr>
              <a:r>
                <a:rPr lang="en-US" sz="1000" b="1" dirty="0">
                  <a:solidFill>
                    <a:srgbClr val="C93A2A"/>
                  </a:solidFill>
                </a:rPr>
                <a:t>Phòng thủ</a:t>
              </a:r>
              <a:endParaRPr lang="en-US" sz="1000" dirty="0"/>
            </a:p>
          </p:txBody>
        </p:sp>
        <p:sp>
          <p:nvSpPr>
            <p:cNvPr id="52" name="card2-5"/>
            <p:cNvSpPr txBox="1"/>
            <p:nvPr/>
          </p:nvSpPr>
          <p:spPr>
            <a:xfrm>
              <a:off x="8119872"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Phán độc lập từng bước, săn phản ví dụ cho từng bổ đề đã nộp</a:t>
              </a:r>
              <a:endParaRPr lang="en-US" sz="1050" dirty="0"/>
            </a:p>
          </p:txBody>
        </p:sp>
      </p:grpSp>
      <p:grpSp>
        <p:nvGrpSpPr>
          <p:cNvPr id="66" name="Thẻ ghế 7"/>
          <p:cNvGrpSpPr/>
          <p:nvPr/>
        </p:nvGrpSpPr>
        <p:grpSpPr>
          <a:xfrm>
            <a:off x="9272016" y="1463040"/>
            <a:ext cx="1078992" cy="3383280"/>
            <a:chOff x="9272016" y="1463040"/>
            <a:chExt cx="1078992" cy="3383280"/>
          </a:xfrm>
        </p:grpSpPr>
        <p:sp>
          <p:nvSpPr>
            <p:cNvPr id="53" name="card3-0"/>
            <p:cNvSpPr/>
            <p:nvPr/>
          </p:nvSpPr>
          <p:spPr>
            <a:xfrm>
              <a:off x="9272016" y="1463040"/>
              <a:ext cx="1078992" cy="3383280"/>
            </a:xfrm>
            <a:prstGeom prst="roundRect">
              <a:avLst>
                <a:gd name="adj" fmla="val 3509"/>
              </a:avLst>
            </a:prstGeom>
            <a:solidFill>
              <a:srgbClr val="FBE9E6"/>
            </a:solidFill>
            <a:ln w="22225">
              <a:solidFill>
                <a:srgbClr val="C93A2A"/>
              </a:solidFill>
              <a:prstDash val="solid"/>
            </a:ln>
          </p:spPr>
          <p:txBody>
            <a:bodyPr/>
            <a:lstStyle/>
            <a:p>
              <a:endParaRPr lang="en-US"/>
            </a:p>
          </p:txBody>
        </p:sp>
        <p:sp>
          <p:nvSpPr>
            <p:cNvPr id="54" name="card3-1"/>
            <p:cNvSpPr/>
            <p:nvPr/>
          </p:nvSpPr>
          <p:spPr>
            <a:xfrm>
              <a:off x="9381744" y="1645920"/>
              <a:ext cx="411480" cy="411480"/>
            </a:xfrm>
            <a:prstGeom prst="ellipse">
              <a:avLst/>
            </a:prstGeom>
            <a:solidFill>
              <a:srgbClr val="C93A2A"/>
            </a:solidFill>
            <a:ln w="12700">
              <a:solidFill>
                <a:srgbClr val="C93A2A"/>
              </a:solidFill>
              <a:prstDash val="solid"/>
            </a:ln>
          </p:spPr>
          <p:txBody>
            <a:bodyPr/>
            <a:lstStyle/>
            <a:p>
              <a:endParaRPr lang="en-US"/>
            </a:p>
          </p:txBody>
        </p:sp>
        <p:sp>
          <p:nvSpPr>
            <p:cNvPr id="55" name="card3-2"/>
            <p:cNvSpPr txBox="1"/>
            <p:nvPr/>
          </p:nvSpPr>
          <p:spPr>
            <a:xfrm>
              <a:off x="9381744" y="1645920"/>
              <a:ext cx="411480" cy="411480"/>
            </a:xfrm>
            <a:prstGeom prst="rect">
              <a:avLst/>
            </a:prstGeom>
            <a:noFill/>
            <a:ln/>
          </p:spPr>
          <p:txBody>
            <a:bodyPr wrap="square" lIns="0" tIns="0" rIns="0" bIns="0" rtlCol="0" anchor="ctr"/>
            <a:lstStyle/>
            <a:p>
              <a:pPr marL="0" indent="0" algn="ctr">
                <a:buNone/>
              </a:pPr>
              <a:r>
                <a:rPr lang="en-US" sz="1050" b="1" dirty="0">
                  <a:solidFill>
                    <a:schemeClr val="bg1"/>
                  </a:solidFill>
                </a:rPr>
                <a:t>3</a:t>
              </a:r>
              <a:endParaRPr lang="en-US" sz="1050" dirty="0"/>
            </a:p>
          </p:txBody>
        </p:sp>
        <p:sp>
          <p:nvSpPr>
            <p:cNvPr id="56" name="card3-3"/>
            <p:cNvSpPr txBox="1"/>
            <p:nvPr/>
          </p:nvSpPr>
          <p:spPr>
            <a:xfrm>
              <a:off x="9363456" y="2194560"/>
              <a:ext cx="896112" cy="685800"/>
            </a:xfrm>
            <a:prstGeom prst="rect">
              <a:avLst/>
            </a:prstGeom>
            <a:noFill/>
            <a:ln/>
          </p:spPr>
          <p:txBody>
            <a:bodyPr wrap="square" lIns="0" tIns="0" rIns="0" bIns="0" rtlCol="0" anchor="t"/>
            <a:lstStyle/>
            <a:p>
              <a:pPr marL="0" indent="0">
                <a:buNone/>
              </a:pPr>
              <a:r>
                <a:rPr lang="en-US" sz="1400" b="1" dirty="0">
                  <a:solidFill>
                    <a:schemeClr val="tx1"/>
                  </a:solidFill>
                </a:rPr>
                <a:t>Tính mới</a:t>
              </a:r>
              <a:endParaRPr lang="en-US" sz="1400" dirty="0"/>
            </a:p>
          </p:txBody>
        </p:sp>
        <p:sp>
          <p:nvSpPr>
            <p:cNvPr id="57" name="card3-4"/>
            <p:cNvSpPr txBox="1"/>
            <p:nvPr/>
          </p:nvSpPr>
          <p:spPr>
            <a:xfrm>
              <a:off x="9363456" y="2926080"/>
              <a:ext cx="896112" cy="274320"/>
            </a:xfrm>
            <a:prstGeom prst="rect">
              <a:avLst/>
            </a:prstGeom>
            <a:noFill/>
            <a:ln/>
          </p:spPr>
          <p:txBody>
            <a:bodyPr wrap="square" lIns="0" tIns="0" rIns="0" bIns="0" rtlCol="0" anchor="ctr"/>
            <a:lstStyle/>
            <a:p>
              <a:pPr marL="0" indent="0">
                <a:buNone/>
              </a:pPr>
              <a:r>
                <a:rPr lang="en-US" sz="1000" b="1" dirty="0">
                  <a:solidFill>
                    <a:srgbClr val="C93A2A"/>
                  </a:solidFill>
                </a:rPr>
                <a:t>Phòng thủ</a:t>
              </a:r>
              <a:endParaRPr lang="en-US" sz="1000" dirty="0"/>
            </a:p>
          </p:txBody>
        </p:sp>
        <p:sp>
          <p:nvSpPr>
            <p:cNvPr id="58" name="card3-5"/>
            <p:cNvSpPr txBox="1"/>
            <p:nvPr/>
          </p:nvSpPr>
          <p:spPr>
            <a:xfrm>
              <a:off x="9363456" y="3246120"/>
              <a:ext cx="896112" cy="1554480"/>
            </a:xfrm>
            <a:prstGeom prst="rect">
              <a:avLst/>
            </a:prstGeom>
            <a:noFill/>
            <a:ln/>
          </p:spPr>
          <p:txBody>
            <a:bodyPr wrap="square" lIns="0" tIns="0" rIns="0" bIns="0" rtlCol="0" anchor="t"/>
            <a:lstStyle/>
            <a:p>
              <a:pPr marL="0" indent="0">
                <a:buNone/>
              </a:pPr>
              <a:r>
                <a:rPr lang="en-US" sz="1050" dirty="0">
                  <a:solidFill>
                    <a:schemeClr val="tx2"/>
                  </a:solidFill>
                </a:rPr>
                <a:t>Kiểm nhanh khi mở nhánh; đối chiếu nguồn trước khi vào kho</a:t>
              </a:r>
              <a:endParaRPr lang="en-US" sz="105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Hai ghế còn lại: Số 6 bật theo bài</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tblGrid>
              <a:tr h="566928">
                <a:tc>
                  <a:txBody>
                    <a:bodyPr/>
                    <a:lstStyle/>
                    <a:p>
                      <a:pPr marL="0" indent="0">
                        <a:buNone/>
                      </a:pPr>
                      <a:r>
                        <a:rPr lang="en-US" sz="1600" b="1" dirty="0">
                          <a:solidFill>
                            <a:schemeClr val="bg1"/>
                          </a:solidFill>
                        </a:rPr>
                        <a:t>Bạn muốn</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Thì làm</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600" b="1" dirty="0">
                          <a:solidFill>
                            <a:schemeClr val="tx1"/>
                          </a:solidFill>
                        </a:rPr>
                        <a:t>Muốn rẻ, bài vừa sức</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2"/>
                          </a:solidFill>
                        </a:rPr>
                        <a:t>Hai cánh không có agent chạy, không tốn gì</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600" b="1" dirty="0">
                          <a:solidFill>
                            <a:schemeClr val="tx1"/>
                          </a:solidFill>
                        </a:rPr>
                        <a:t>Bế tắc, mọi hướng đều chết</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Bật 11 và 7: ý từ ngành gần và ngành xa, thử ở Số 14 rồi mới tới Số 10</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600" b="1" dirty="0">
                          <a:solidFill>
                            <a:schemeClr val="tx1"/>
                          </a:solidFill>
                        </a:rPr>
                        <a:t>Nghi hệ thống bị lừa</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Thuê đội đá tập: cấy bài sai, đo tỉ lệ bị bắt</a:t>
                      </a:r>
                      <a:endParaRPr lang="en-US" sz="1600" dirty="0"/>
                    </a:p>
                  </a:txBody>
                  <a:tcPr marL="137160" marR="137160" marT="73152" marB="73152">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760720"/>
            <a:ext cx="10972800" cy="365760"/>
          </a:xfrm>
          <a:prstGeom prst="rect">
            <a:avLst/>
          </a:prstGeom>
          <a:noFill/>
          <a:ln/>
        </p:spPr>
        <p:txBody>
          <a:bodyPr wrap="square" lIns="0" tIns="0" rIns="0" bIns="0" rtlCol="0" anchor="ctr"/>
          <a:lstStyle/>
          <a:p>
            <a:pPr marL="0" indent="0">
              <a:buNone/>
            </a:pPr>
            <a:r>
              <a:rPr lang="en-US" sz="1400" i="1" dirty="0">
                <a:solidFill>
                  <a:schemeClr val="tx2"/>
                </a:solidFill>
              </a:rPr>
              <a:t>Trên sơ đồ: viền liền là ghế lõi, viền đứt là ghế Số 6 bật theo bài.</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Bốn luật không đổi</a:t>
            </a:r>
            <a:endParaRPr lang="en-US" sz="3200" dirty="0"/>
          </a:p>
        </p:txBody>
      </p:sp>
      <p:sp>
        <p:nvSpPr>
          <p:cNvPr id="3" name="Shape 1"/>
          <p:cNvSpPr/>
          <p:nvPr/>
        </p:nvSpPr>
        <p:spPr>
          <a:xfrm>
            <a:off x="548640" y="1371600"/>
            <a:ext cx="5440680" cy="2103120"/>
          </a:xfrm>
          <a:prstGeom prst="roundRect">
            <a:avLst>
              <a:gd name="adj" fmla="val 3478"/>
            </a:avLst>
          </a:prstGeom>
          <a:solidFill>
            <a:schemeClr val="bg2"/>
          </a:solidFill>
          <a:ln w="22225">
            <a:solidFill>
              <a:schemeClr val="bg2"/>
            </a:solidFill>
            <a:prstDash val="solid"/>
          </a:ln>
        </p:spPr>
        <p:txBody>
          <a:bodyPr/>
          <a:lstStyle/>
          <a:p>
            <a:endParaRPr lang="en-US"/>
          </a:p>
        </p:txBody>
      </p:sp>
      <p:sp>
        <p:nvSpPr>
          <p:cNvPr id="4" name="num1"/>
          <p:cNvSpPr/>
          <p:nvPr/>
        </p:nvSpPr>
        <p:spPr>
          <a:xfrm>
            <a:off x="822960" y="1645920"/>
            <a:ext cx="502920" cy="502920"/>
          </a:xfrm>
          <a:prstGeom prst="ellipse">
            <a:avLst/>
          </a:prstGeom>
          <a:solidFill>
            <a:srgbClr val="C93A2A"/>
          </a:solidFill>
          <a:ln w="12700">
            <a:solidFill>
              <a:srgbClr val="C93A2A"/>
            </a:solidFill>
            <a:prstDash val="solid"/>
          </a:ln>
        </p:spPr>
        <p:txBody>
          <a:bodyPr/>
          <a:lstStyle/>
          <a:p>
            <a:endParaRPr lang="en-US"/>
          </a:p>
        </p:txBody>
      </p:sp>
      <p:sp>
        <p:nvSpPr>
          <p:cNvPr id="5" name="Text 3"/>
          <p:cNvSpPr txBox="1"/>
          <p:nvPr/>
        </p:nvSpPr>
        <p:spPr>
          <a:xfrm>
            <a:off x="822960" y="1645920"/>
            <a:ext cx="502920" cy="50292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1508760" y="1627632"/>
            <a:ext cx="4297680" cy="548640"/>
          </a:xfrm>
          <a:prstGeom prst="rect">
            <a:avLst/>
          </a:prstGeom>
          <a:noFill/>
          <a:ln/>
        </p:spPr>
        <p:txBody>
          <a:bodyPr wrap="square" lIns="0" tIns="0" rIns="0" bIns="0" rtlCol="0" anchor="ctr"/>
          <a:lstStyle/>
          <a:p>
            <a:pPr marL="0" indent="0">
              <a:buNone/>
            </a:pPr>
            <a:r>
              <a:rPr lang="en-US" sz="2000" b="1" dirty="0">
                <a:solidFill>
                  <a:schemeClr val="tx1"/>
                </a:solidFill>
              </a:rPr>
              <a:t>Không sửa bộ chấm</a:t>
            </a:r>
            <a:endParaRPr lang="en-US" sz="2000" dirty="0"/>
          </a:p>
        </p:txBody>
      </p:sp>
      <p:sp>
        <p:nvSpPr>
          <p:cNvPr id="7" name="Text 5"/>
          <p:cNvSpPr txBox="1"/>
          <p:nvPr/>
        </p:nvSpPr>
        <p:spPr>
          <a:xfrm>
            <a:off x="1508760" y="2240280"/>
            <a:ext cx="4297680" cy="1097280"/>
          </a:xfrm>
          <a:prstGeom prst="rect">
            <a:avLst/>
          </a:prstGeom>
          <a:noFill/>
          <a:ln/>
        </p:spPr>
        <p:txBody>
          <a:bodyPr wrap="square" lIns="0" tIns="0" rIns="0" bIns="0" rtlCol="0" anchor="t"/>
          <a:lstStyle/>
          <a:p>
            <a:pPr marL="0" indent="0">
              <a:buNone/>
            </a:pPr>
            <a:r>
              <a:rPr lang="en-US" sz="1500" dirty="0">
                <a:solidFill>
                  <a:schemeClr val="tx2"/>
                </a:solidFill>
              </a:rPr>
              <a:t>Tấn công chỉ nộp bài. Không ai ngoài Kiểm chứng cuối được đụng vào đề đã khoá, Lean, hay nhãn kết quả.</a:t>
            </a:r>
            <a:endParaRPr lang="en-US" sz="1500" dirty="0"/>
          </a:p>
        </p:txBody>
      </p:sp>
      <p:sp>
        <p:nvSpPr>
          <p:cNvPr id="8" name="Shape 6"/>
          <p:cNvSpPr/>
          <p:nvPr/>
        </p:nvSpPr>
        <p:spPr>
          <a:xfrm>
            <a:off x="6172200" y="1371600"/>
            <a:ext cx="5440680" cy="2103120"/>
          </a:xfrm>
          <a:prstGeom prst="roundRect">
            <a:avLst>
              <a:gd name="adj" fmla="val 3478"/>
            </a:avLst>
          </a:prstGeom>
          <a:solidFill>
            <a:schemeClr val="bg2"/>
          </a:solidFill>
          <a:ln w="22225">
            <a:solidFill>
              <a:schemeClr val="bg2"/>
            </a:solidFill>
            <a:prstDash val="solid"/>
          </a:ln>
        </p:spPr>
        <p:txBody>
          <a:bodyPr/>
          <a:lstStyle/>
          <a:p>
            <a:endParaRPr lang="en-US"/>
          </a:p>
        </p:txBody>
      </p:sp>
      <p:sp>
        <p:nvSpPr>
          <p:cNvPr id="9" name="num2"/>
          <p:cNvSpPr/>
          <p:nvPr/>
        </p:nvSpPr>
        <p:spPr>
          <a:xfrm>
            <a:off x="6446520" y="1645920"/>
            <a:ext cx="502920" cy="502920"/>
          </a:xfrm>
          <a:prstGeom prst="ellipse">
            <a:avLst/>
          </a:prstGeom>
          <a:solidFill>
            <a:srgbClr val="A86C0E"/>
          </a:solidFill>
          <a:ln w="12700">
            <a:solidFill>
              <a:srgbClr val="A86C0E"/>
            </a:solidFill>
            <a:prstDash val="solid"/>
          </a:ln>
        </p:spPr>
        <p:txBody>
          <a:bodyPr/>
          <a:lstStyle/>
          <a:p>
            <a:endParaRPr lang="en-US"/>
          </a:p>
        </p:txBody>
      </p:sp>
      <p:sp>
        <p:nvSpPr>
          <p:cNvPr id="10" name="Text 8"/>
          <p:cNvSpPr txBox="1"/>
          <p:nvPr/>
        </p:nvSpPr>
        <p:spPr>
          <a:xfrm>
            <a:off x="6446520" y="1645920"/>
            <a:ext cx="502920" cy="50292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7132320" y="1627632"/>
            <a:ext cx="4297680" cy="548640"/>
          </a:xfrm>
          <a:prstGeom prst="rect">
            <a:avLst/>
          </a:prstGeom>
          <a:noFill/>
          <a:ln/>
        </p:spPr>
        <p:txBody>
          <a:bodyPr wrap="square" lIns="0" tIns="0" rIns="0" bIns="0" rtlCol="0" anchor="ctr"/>
          <a:lstStyle/>
          <a:p>
            <a:pPr marL="0" indent="0">
              <a:buNone/>
            </a:pPr>
            <a:r>
              <a:rPr lang="en-US" sz="2000" b="1" dirty="0">
                <a:solidFill>
                  <a:schemeClr val="tx1"/>
                </a:solidFill>
              </a:rPr>
              <a:t>Phán độc lập, chỉ bằng bằng chứng</a:t>
            </a:r>
            <a:endParaRPr lang="en-US" sz="2000" dirty="0"/>
          </a:p>
        </p:txBody>
      </p:sp>
      <p:sp>
        <p:nvSpPr>
          <p:cNvPr id="12" name="Text 10"/>
          <p:cNvSpPr txBox="1"/>
          <p:nvPr/>
        </p:nvSpPr>
        <p:spPr>
          <a:xfrm>
            <a:off x="7132320" y="2240280"/>
            <a:ext cx="4297680" cy="1097280"/>
          </a:xfrm>
          <a:prstGeom prst="rect">
            <a:avLst/>
          </a:prstGeom>
          <a:noFill/>
          <a:ln/>
        </p:spPr>
        <p:txBody>
          <a:bodyPr wrap="square" lIns="0" tIns="0" rIns="0" bIns="0" rtlCol="0" anchor="t"/>
          <a:lstStyle/>
          <a:p>
            <a:pPr marL="0" indent="0">
              <a:buNone/>
            </a:pPr>
            <a:r>
              <a:rPr lang="en-US" sz="1500" dirty="0">
                <a:solidFill>
                  <a:schemeClr val="tx2"/>
                </a:solidFill>
              </a:rPr>
              <a:t>Mỗi người chấm viết phán quyết một mình và niêm phong; niêm phong hết mới bàn chung. Không biểu quyết: phản ví dụ hoặc Lean quyết.</a:t>
            </a:r>
            <a:endParaRPr lang="en-US" sz="1500" dirty="0"/>
          </a:p>
        </p:txBody>
      </p:sp>
      <p:sp>
        <p:nvSpPr>
          <p:cNvPr id="13" name="Shape 11"/>
          <p:cNvSpPr/>
          <p:nvPr/>
        </p:nvSpPr>
        <p:spPr>
          <a:xfrm>
            <a:off x="548640" y="3703320"/>
            <a:ext cx="5440680" cy="2103120"/>
          </a:xfrm>
          <a:prstGeom prst="roundRect">
            <a:avLst>
              <a:gd name="adj" fmla="val 3478"/>
            </a:avLst>
          </a:prstGeom>
          <a:solidFill>
            <a:schemeClr val="bg2"/>
          </a:solidFill>
          <a:ln w="22225">
            <a:solidFill>
              <a:schemeClr val="bg2"/>
            </a:solidFill>
            <a:prstDash val="solid"/>
          </a:ln>
        </p:spPr>
        <p:txBody>
          <a:bodyPr/>
          <a:lstStyle/>
          <a:p>
            <a:endParaRPr lang="en-US"/>
          </a:p>
        </p:txBody>
      </p:sp>
      <p:sp>
        <p:nvSpPr>
          <p:cNvPr id="14" name="num3"/>
          <p:cNvSpPr/>
          <p:nvPr/>
        </p:nvSpPr>
        <p:spPr>
          <a:xfrm>
            <a:off x="822960" y="3977640"/>
            <a:ext cx="502920" cy="502920"/>
          </a:xfrm>
          <a:prstGeom prst="ellipse">
            <a:avLst/>
          </a:prstGeom>
          <a:solidFill>
            <a:srgbClr val="2B59D9"/>
          </a:solidFill>
          <a:ln w="12700">
            <a:solidFill>
              <a:srgbClr val="2B59D9"/>
            </a:solidFill>
            <a:prstDash val="solid"/>
          </a:ln>
        </p:spPr>
        <p:txBody>
          <a:bodyPr/>
          <a:lstStyle/>
          <a:p>
            <a:endParaRPr lang="en-US"/>
          </a:p>
        </p:txBody>
      </p:sp>
      <p:sp>
        <p:nvSpPr>
          <p:cNvPr id="15" name="Text 13"/>
          <p:cNvSpPr txBox="1"/>
          <p:nvPr/>
        </p:nvSpPr>
        <p:spPr>
          <a:xfrm>
            <a:off x="822960" y="3977640"/>
            <a:ext cx="502920" cy="50292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4"/>
          <p:cNvSpPr txBox="1"/>
          <p:nvPr/>
        </p:nvSpPr>
        <p:spPr>
          <a:xfrm>
            <a:off x="1508760" y="3959352"/>
            <a:ext cx="4297680" cy="548640"/>
          </a:xfrm>
          <a:prstGeom prst="rect">
            <a:avLst/>
          </a:prstGeom>
          <a:noFill/>
          <a:ln/>
        </p:spPr>
        <p:txBody>
          <a:bodyPr wrap="square" lIns="0" tIns="0" rIns="0" bIns="0" rtlCol="0" anchor="ctr"/>
          <a:lstStyle/>
          <a:p>
            <a:pPr marL="0" indent="0">
              <a:buNone/>
            </a:pPr>
            <a:r>
              <a:rPr lang="en-US" sz="2000" b="1" dirty="0">
                <a:solidFill>
                  <a:schemeClr val="tx1"/>
                </a:solidFill>
              </a:rPr>
              <a:t>Đo trước khi thêm người</a:t>
            </a:r>
            <a:endParaRPr lang="en-US" sz="2000" dirty="0"/>
          </a:p>
        </p:txBody>
      </p:sp>
      <p:sp>
        <p:nvSpPr>
          <p:cNvPr id="17" name="Text 15"/>
          <p:cNvSpPr txBox="1"/>
          <p:nvPr/>
        </p:nvSpPr>
        <p:spPr>
          <a:xfrm>
            <a:off x="1508760" y="4572000"/>
            <a:ext cx="4297680" cy="1097280"/>
          </a:xfrm>
          <a:prstGeom prst="rect">
            <a:avLst/>
          </a:prstGeom>
          <a:noFill/>
          <a:ln/>
        </p:spPr>
        <p:txBody>
          <a:bodyPr wrap="square" lIns="0" tIns="0" rIns="0" bIns="0" rtlCol="0" anchor="t"/>
          <a:lstStyle/>
          <a:p>
            <a:pPr marL="0" indent="0">
              <a:buNone/>
            </a:pPr>
            <a:r>
              <a:rPr lang="en-US" sz="1500" dirty="0">
                <a:solidFill>
                  <a:schemeClr val="tx2"/>
                </a:solidFill>
              </a:rPr>
              <a:t>Ghế là vai, không phải agent luôn chạy: Số 6 chỉ gọi agent khi có việc và ngân sách. Đội không thắng một agent đơn cùng ngân sách thì thu nhỏ.</a:t>
            </a:r>
            <a:endParaRPr lang="en-US" sz="1500" dirty="0"/>
          </a:p>
        </p:txBody>
      </p:sp>
      <p:sp>
        <p:nvSpPr>
          <p:cNvPr id="18" name="Shape 16"/>
          <p:cNvSpPr/>
          <p:nvPr/>
        </p:nvSpPr>
        <p:spPr>
          <a:xfrm>
            <a:off x="6172200" y="3703320"/>
            <a:ext cx="5440680" cy="2103120"/>
          </a:xfrm>
          <a:prstGeom prst="roundRect">
            <a:avLst>
              <a:gd name="adj" fmla="val 3478"/>
            </a:avLst>
          </a:prstGeom>
          <a:solidFill>
            <a:schemeClr val="bg2"/>
          </a:solidFill>
          <a:ln w="22225">
            <a:solidFill>
              <a:schemeClr val="bg2"/>
            </a:solidFill>
            <a:prstDash val="solid"/>
          </a:ln>
        </p:spPr>
        <p:txBody>
          <a:bodyPr/>
          <a:lstStyle/>
          <a:p>
            <a:endParaRPr lang="en-US"/>
          </a:p>
        </p:txBody>
      </p:sp>
      <p:sp>
        <p:nvSpPr>
          <p:cNvPr id="19" name="num4"/>
          <p:cNvSpPr/>
          <p:nvPr/>
        </p:nvSpPr>
        <p:spPr>
          <a:xfrm>
            <a:off x="6446520" y="3977640"/>
            <a:ext cx="502920" cy="502920"/>
          </a:xfrm>
          <a:prstGeom prst="ellipse">
            <a:avLst/>
          </a:prstGeom>
          <a:solidFill>
            <a:srgbClr val="157A55"/>
          </a:solidFill>
          <a:ln w="12700">
            <a:solidFill>
              <a:srgbClr val="157A55"/>
            </a:solidFill>
            <a:prstDash val="solid"/>
          </a:ln>
        </p:spPr>
        <p:txBody>
          <a:bodyPr/>
          <a:lstStyle/>
          <a:p>
            <a:endParaRPr lang="en-US"/>
          </a:p>
        </p:txBody>
      </p:sp>
      <p:sp>
        <p:nvSpPr>
          <p:cNvPr id="20" name="Text 18"/>
          <p:cNvSpPr txBox="1"/>
          <p:nvPr/>
        </p:nvSpPr>
        <p:spPr>
          <a:xfrm>
            <a:off x="6446520" y="3977640"/>
            <a:ext cx="502920" cy="50292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1" name="Text 19"/>
          <p:cNvSpPr txBox="1"/>
          <p:nvPr/>
        </p:nvSpPr>
        <p:spPr>
          <a:xfrm>
            <a:off x="7132320" y="3959352"/>
            <a:ext cx="4297680" cy="548640"/>
          </a:xfrm>
          <a:prstGeom prst="rect">
            <a:avLst/>
          </a:prstGeom>
          <a:noFill/>
          <a:ln/>
        </p:spPr>
        <p:txBody>
          <a:bodyPr wrap="square" lIns="0" tIns="0" rIns="0" bIns="0" rtlCol="0" anchor="ctr"/>
          <a:lstStyle/>
          <a:p>
            <a:pPr marL="0" indent="0">
              <a:buNone/>
            </a:pPr>
            <a:r>
              <a:rPr lang="en-US" sz="2000" b="1" dirty="0">
                <a:solidFill>
                  <a:schemeClr val="tx1"/>
                </a:solidFill>
              </a:rPr>
              <a:t>Mệt thì thay người</a:t>
            </a:r>
            <a:endParaRPr lang="en-US" sz="2000" dirty="0"/>
          </a:p>
        </p:txBody>
      </p:sp>
      <p:sp>
        <p:nvSpPr>
          <p:cNvPr id="22" name="Text 20"/>
          <p:cNvSpPr txBox="1"/>
          <p:nvPr/>
        </p:nvSpPr>
        <p:spPr>
          <a:xfrm>
            <a:off x="7132320" y="4572000"/>
            <a:ext cx="4297680" cy="1097280"/>
          </a:xfrm>
          <a:prstGeom prst="rect">
            <a:avLst/>
          </a:prstGeom>
          <a:noFill/>
          <a:ln/>
        </p:spPr>
        <p:txBody>
          <a:bodyPr wrap="square" lIns="0" tIns="0" rIns="0" bIns="0" rtlCol="0" anchor="t"/>
          <a:lstStyle/>
          <a:p>
            <a:pPr marL="0" indent="0">
              <a:buNone/>
            </a:pPr>
            <a:r>
              <a:rPr lang="en-US" sz="1500" dirty="0">
                <a:solidFill>
                  <a:schemeClr val="tx2"/>
                </a:solidFill>
              </a:rPr>
              <a:t>Trước khi nén ngữ cảnh, hook tự viết biên bản bàn giao (mặc định 50%, chỉnh được). Agent mới đọc biên bản và đồ thị rồi vào sân.</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Luật chuyền bóng khi một ghế có nhiều người</a:t>
            </a:r>
            <a:endParaRPr lang="en-US" sz="3200" dirty="0"/>
          </a:p>
        </p:txBody>
      </p:sp>
      <p:sp>
        <p:nvSpPr>
          <p:cNvPr id="3" name="Shape 1"/>
          <p:cNvSpPr/>
          <p:nvPr/>
        </p:nvSpPr>
        <p:spPr>
          <a:xfrm>
            <a:off x="548640" y="1371600"/>
            <a:ext cx="3566160" cy="4754880"/>
          </a:xfrm>
          <a:prstGeom prst="roundRect">
            <a:avLst>
              <a:gd name="adj" fmla="val 2051"/>
            </a:avLst>
          </a:prstGeom>
          <a:solidFill>
            <a:schemeClr val="bg1"/>
          </a:solidFill>
          <a:ln w="22225">
            <a:solidFill>
              <a:srgbClr val="2B59D9"/>
            </a:solidFill>
            <a:prstDash val="solid"/>
          </a:ln>
        </p:spPr>
        <p:txBody>
          <a:bodyPr/>
          <a:lstStyle/>
          <a:p>
            <a:endParaRPr lang="en-US"/>
          </a:p>
        </p:txBody>
      </p:sp>
      <p:sp>
        <p:nvSpPr>
          <p:cNvPr id="4" name="Text 2"/>
          <p:cNvSpPr txBox="1"/>
          <p:nvPr/>
        </p:nvSpPr>
        <p:spPr>
          <a:xfrm>
            <a:off x="777240" y="1554480"/>
            <a:ext cx="3108960" cy="502920"/>
          </a:xfrm>
          <a:prstGeom prst="rect">
            <a:avLst/>
          </a:prstGeom>
          <a:noFill/>
          <a:ln/>
        </p:spPr>
        <p:txBody>
          <a:bodyPr wrap="square" lIns="0" tIns="0" rIns="0" bIns="0" rtlCol="0" anchor="ctr"/>
          <a:lstStyle/>
          <a:p>
            <a:pPr marL="0" indent="0">
              <a:buNone/>
            </a:pPr>
            <a:r>
              <a:rPr lang="en-US" sz="2000" b="1" dirty="0">
                <a:solidFill>
                  <a:srgbClr val="2B59D9"/>
                </a:solidFill>
              </a:rPr>
              <a:t>Nhiều Số 10</a:t>
            </a:r>
            <a:endParaRPr lang="en-US" sz="2000" dirty="0"/>
          </a:p>
        </p:txBody>
      </p:sp>
      <p:sp>
        <p:nvSpPr>
          <p:cNvPr id="5" name="Text 3"/>
          <p:cNvSpPr txBox="1"/>
          <p:nvPr/>
        </p:nvSpPr>
        <p:spPr>
          <a:xfrm>
            <a:off x="777240" y="2194560"/>
            <a:ext cx="315468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Chia văn liệu, không chia đề</a:t>
            </a:r>
            <a:endParaRPr lang="en-US" sz="1500" dirty="0"/>
          </a:p>
          <a:p>
            <a:pPr marL="342900" indent="-342900">
              <a:spcAft>
                <a:spcPts val="800"/>
              </a:spcAft>
              <a:buSzPct val="100000"/>
              <a:buChar char="•"/>
            </a:pPr>
            <a:r>
              <a:rPr lang="en-US" sz="1500" dirty="0">
                <a:solidFill>
                  <a:schemeClr val="tx2"/>
                </a:solidFill>
              </a:rPr>
              <a:t>Tự nộp ý trước, rồi mới xem ý người khác</a:t>
            </a:r>
            <a:endParaRPr lang="en-US" sz="1500" dirty="0"/>
          </a:p>
          <a:p>
            <a:pPr marL="342900" indent="-342900">
              <a:spcAft>
                <a:spcPts val="800"/>
              </a:spcAft>
              <a:buSzPct val="100000"/>
              <a:buChar char="•"/>
            </a:pPr>
            <a:r>
              <a:rPr lang="en-US" sz="1500" dirty="0">
                <a:solidFill>
                  <a:schemeClr val="tx2"/>
                </a:solidFill>
              </a:rPr>
              <a:t>Chuyền điều chỉ mình biết, không chuyền nhận xét</a:t>
            </a:r>
            <a:endParaRPr lang="en-US" sz="1500" dirty="0"/>
          </a:p>
          <a:p>
            <a:pPr marL="342900" indent="-342900">
              <a:spcAft>
                <a:spcPts val="800"/>
              </a:spcAft>
              <a:buSzPct val="100000"/>
              <a:buChar char="•"/>
            </a:pPr>
            <a:r>
              <a:rPr lang="en-US" sz="1500" dirty="0">
                <a:solidFill>
                  <a:schemeClr val="tx2"/>
                </a:solidFill>
              </a:rPr>
              <a:t>Chép ý tốt nhất đã kiểm, không chép số đông</a:t>
            </a:r>
            <a:endParaRPr lang="en-US" sz="1500" dirty="0"/>
          </a:p>
        </p:txBody>
      </p:sp>
      <p:sp>
        <p:nvSpPr>
          <p:cNvPr id="6" name="Shape 4"/>
          <p:cNvSpPr/>
          <p:nvPr/>
        </p:nvSpPr>
        <p:spPr>
          <a:xfrm>
            <a:off x="4297680" y="1371600"/>
            <a:ext cx="3566160" cy="4754880"/>
          </a:xfrm>
          <a:prstGeom prst="roundRect">
            <a:avLst>
              <a:gd name="adj" fmla="val 2051"/>
            </a:avLst>
          </a:prstGeom>
          <a:solidFill>
            <a:schemeClr val="bg1"/>
          </a:solidFill>
          <a:ln w="22225">
            <a:solidFill>
              <a:srgbClr val="1C2333"/>
            </a:solidFill>
            <a:prstDash val="solid"/>
          </a:ln>
        </p:spPr>
        <p:txBody>
          <a:bodyPr/>
          <a:lstStyle/>
          <a:p>
            <a:endParaRPr lang="en-US"/>
          </a:p>
        </p:txBody>
      </p:sp>
      <p:sp>
        <p:nvSpPr>
          <p:cNvPr id="7" name="Text 5"/>
          <p:cNvSpPr txBox="1"/>
          <p:nvPr/>
        </p:nvSpPr>
        <p:spPr>
          <a:xfrm>
            <a:off x="4526280" y="1554480"/>
            <a:ext cx="3108960" cy="502920"/>
          </a:xfrm>
          <a:prstGeom prst="rect">
            <a:avLst/>
          </a:prstGeom>
          <a:noFill/>
          <a:ln/>
        </p:spPr>
        <p:txBody>
          <a:bodyPr wrap="square" lIns="0" tIns="0" rIns="0" bIns="0" rtlCol="0" anchor="ctr"/>
          <a:lstStyle/>
          <a:p>
            <a:pPr marL="0" indent="0">
              <a:buNone/>
            </a:pPr>
            <a:r>
              <a:rPr lang="en-US" sz="2000" b="1" dirty="0">
                <a:solidFill>
                  <a:srgbClr val="1C2333"/>
                </a:solidFill>
              </a:rPr>
              <a:t>Nhiều Số 9</a:t>
            </a:r>
            <a:endParaRPr lang="en-US" sz="2000" dirty="0"/>
          </a:p>
        </p:txBody>
      </p:sp>
      <p:sp>
        <p:nvSpPr>
          <p:cNvPr id="8" name="Text 6"/>
          <p:cNvSpPr txBox="1"/>
          <p:nvPr/>
        </p:nvSpPr>
        <p:spPr>
          <a:xfrm>
            <a:off x="4526280" y="2194560"/>
            <a:ext cx="315468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Không bao giờ cùng viết một chứng minh</a:t>
            </a:r>
            <a:endParaRPr lang="en-US" sz="1500" dirty="0"/>
          </a:p>
          <a:p>
            <a:pPr marL="342900" indent="-342900">
              <a:spcAft>
                <a:spcPts val="800"/>
              </a:spcAft>
              <a:buSzPct val="100000"/>
              <a:buChar char="•"/>
            </a:pPr>
            <a:r>
              <a:rPr lang="en-US" sz="1500" dirty="0">
                <a:solidFill>
                  <a:schemeClr val="tx2"/>
                </a:solidFill>
              </a:rPr>
              <a:t>Mỗi người một bổ đề: chuyền ở chỗ nối, cấm sửa bài nhau</a:t>
            </a:r>
            <a:endParaRPr lang="en-US" sz="1500" dirty="0"/>
          </a:p>
          <a:p>
            <a:pPr marL="342900" indent="-342900">
              <a:spcAft>
                <a:spcPts val="800"/>
              </a:spcAft>
              <a:buSzPct val="100000"/>
              <a:buChar char="•"/>
            </a:pPr>
            <a:r>
              <a:rPr lang="en-US" sz="1500" dirty="0">
                <a:solidFill>
                  <a:schemeClr val="tx2"/>
                </a:solidFill>
              </a:rPr>
              <a:t>Đua cùng bổ đề: không chuyền cho tới khi có người qua</a:t>
            </a:r>
            <a:endParaRPr lang="en-US" sz="1500" dirty="0"/>
          </a:p>
          <a:p>
            <a:pPr marL="342900" indent="-342900">
              <a:spcAft>
                <a:spcPts val="800"/>
              </a:spcAft>
              <a:buSzPct val="100000"/>
              <a:buChar char="•"/>
            </a:pPr>
            <a:r>
              <a:rPr lang="en-US" sz="1500" dirty="0">
                <a:solidFill>
                  <a:schemeClr val="tx2"/>
                </a:solidFill>
              </a:rPr>
              <a:t>Người thua ghi lại đã thử gì, kẹt ở đâu</a:t>
            </a:r>
            <a:endParaRPr lang="en-US" sz="1500" dirty="0"/>
          </a:p>
        </p:txBody>
      </p:sp>
      <p:sp>
        <p:nvSpPr>
          <p:cNvPr id="9" name="Shape 7"/>
          <p:cNvSpPr/>
          <p:nvPr/>
        </p:nvSpPr>
        <p:spPr>
          <a:xfrm>
            <a:off x="8046720" y="1371600"/>
            <a:ext cx="3566160" cy="4754880"/>
          </a:xfrm>
          <a:prstGeom prst="roundRect">
            <a:avLst>
              <a:gd name="adj" fmla="val 2051"/>
            </a:avLst>
          </a:prstGeom>
          <a:solidFill>
            <a:schemeClr val="bg1"/>
          </a:solidFill>
          <a:ln w="22225">
            <a:solidFill>
              <a:srgbClr val="A86C0E"/>
            </a:solidFill>
            <a:prstDash val="solid"/>
          </a:ln>
        </p:spPr>
        <p:txBody>
          <a:bodyPr/>
          <a:lstStyle/>
          <a:p>
            <a:endParaRPr lang="en-US"/>
          </a:p>
        </p:txBody>
      </p:sp>
      <p:sp>
        <p:nvSpPr>
          <p:cNvPr id="10" name="Text 8"/>
          <p:cNvSpPr txBox="1"/>
          <p:nvPr/>
        </p:nvSpPr>
        <p:spPr>
          <a:xfrm>
            <a:off x="8275320" y="1554480"/>
            <a:ext cx="3108960" cy="502920"/>
          </a:xfrm>
          <a:prstGeom prst="rect">
            <a:avLst/>
          </a:prstGeom>
          <a:noFill/>
          <a:ln/>
        </p:spPr>
        <p:txBody>
          <a:bodyPr wrap="square" lIns="0" tIns="0" rIns="0" bIns="0" rtlCol="0" anchor="ctr"/>
          <a:lstStyle/>
          <a:p>
            <a:pPr marL="0" indent="0">
              <a:buNone/>
            </a:pPr>
            <a:r>
              <a:rPr lang="en-US" sz="2000" b="1" dirty="0">
                <a:solidFill>
                  <a:srgbClr val="A86C0E"/>
                </a:solidFill>
              </a:rPr>
              <a:t>Số 11 và Số 7</a:t>
            </a:r>
            <a:endParaRPr lang="en-US" sz="2000" dirty="0"/>
          </a:p>
        </p:txBody>
      </p:sp>
      <p:sp>
        <p:nvSpPr>
          <p:cNvPr id="11" name="Text 9"/>
          <p:cNvSpPr txBox="1"/>
          <p:nvPr/>
        </p:nvSpPr>
        <p:spPr>
          <a:xfrm>
            <a:off x="8275320" y="2194560"/>
            <a:ext cx="315468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Không chuyền trong lúc tìm</a:t>
            </a:r>
            <a:endParaRPr lang="en-US" sz="1500" dirty="0"/>
          </a:p>
          <a:p>
            <a:pPr marL="342900" indent="-342900">
              <a:spcAft>
                <a:spcPts val="800"/>
              </a:spcAft>
              <a:buSzPct val="100000"/>
              <a:buChar char="•"/>
            </a:pPr>
            <a:r>
              <a:rPr lang="en-US" sz="1500" dirty="0">
                <a:solidFill>
                  <a:schemeClr val="tx2"/>
                </a:solidFill>
              </a:rPr>
              <a:t>Sau khi nộp, chuyền khung trừu tượng, không chuyền phép tương tự</a:t>
            </a:r>
            <a:endParaRPr lang="en-US" sz="1500" dirty="0"/>
          </a:p>
          <a:p>
            <a:pPr marL="342900" indent="-342900">
              <a:spcAft>
                <a:spcPts val="800"/>
              </a:spcAft>
              <a:buSzPct val="100000"/>
              <a:buChar char="•"/>
            </a:pPr>
            <a:r>
              <a:rPr lang="en-US" sz="1500" dirty="0">
                <a:solidFill>
                  <a:schemeClr val="tx2"/>
                </a:solidFill>
              </a:rPr>
              <a:t>Đơn vị chuyền: bảng tương ứng kèm một dự đoán kiểm được</a:t>
            </a:r>
            <a:endParaRPr lang="en-US" sz="1500" dirty="0"/>
          </a:p>
          <a:p>
            <a:pPr marL="342900" indent="-342900">
              <a:spcAft>
                <a:spcPts val="800"/>
              </a:spcAft>
              <a:buSzPct val="100000"/>
              <a:buChar char="•"/>
            </a:pPr>
            <a:r>
              <a:rPr lang="en-US" sz="1500" dirty="0">
                <a:solidFill>
                  <a:schemeClr val="tx2"/>
                </a:solidFill>
              </a:rPr>
              <a:t>Thử trên ví dụ của Số 14 trước, rồi mới tới Số 10; không chuyền thẳng cho Số 9</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Thay người: khi ngữ cảnh đầy 50%</a:t>
            </a:r>
            <a:endParaRPr lang="en-US" sz="3200" dirty="0"/>
          </a:p>
        </p:txBody>
      </p:sp>
      <p:sp>
        <p:nvSpPr>
          <p:cNvPr id="3" name="Shape 1"/>
          <p:cNvSpPr/>
          <p:nvPr/>
        </p:nvSpPr>
        <p:spPr>
          <a:xfrm>
            <a:off x="54864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4" name="num1"/>
          <p:cNvSpPr/>
          <p:nvPr/>
        </p:nvSpPr>
        <p:spPr>
          <a:xfrm>
            <a:off x="822960" y="2103120"/>
            <a:ext cx="548640" cy="548640"/>
          </a:xfrm>
          <a:prstGeom prst="ellipse">
            <a:avLst/>
          </a:prstGeom>
          <a:solidFill>
            <a:srgbClr val="1C2333"/>
          </a:solidFill>
          <a:ln w="12700">
            <a:solidFill>
              <a:srgbClr val="1C2333"/>
            </a:solidFill>
            <a:prstDash val="solid"/>
          </a:ln>
        </p:spPr>
        <p:txBody>
          <a:bodyPr/>
          <a:lstStyle/>
          <a:p>
            <a:endParaRPr lang="en-US"/>
          </a:p>
        </p:txBody>
      </p:sp>
      <p:sp>
        <p:nvSpPr>
          <p:cNvPr id="5" name="Text 3"/>
          <p:cNvSpPr txBox="1"/>
          <p:nvPr/>
        </p:nvSpPr>
        <p:spPr>
          <a:xfrm>
            <a:off x="82296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82296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Ngữ cảnh chạm 50%</a:t>
            </a:r>
            <a:endParaRPr lang="en-US" sz="1900" dirty="0"/>
          </a:p>
        </p:txBody>
      </p:sp>
      <p:sp>
        <p:nvSpPr>
          <p:cNvPr id="7" name="Text 5"/>
          <p:cNvSpPr txBox="1"/>
          <p:nvPr/>
        </p:nvSpPr>
        <p:spPr>
          <a:xfrm>
            <a:off x="82296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Ưu tiên hook chạy trước khi nén ngữ cảnh; không có hook thì ước lượng token. 50% là mặc định chỉnh được, chưa đo tối ưu.</a:t>
            </a:r>
            <a:endParaRPr lang="en-US" sz="1500" dirty="0"/>
          </a:p>
        </p:txBody>
      </p:sp>
      <p:sp>
        <p:nvSpPr>
          <p:cNvPr id="8" name="Shape 6"/>
          <p:cNvSpPr/>
          <p:nvPr/>
        </p:nvSpPr>
        <p:spPr>
          <a:xfrm>
            <a:off x="4005072" y="3154680"/>
            <a:ext cx="329184" cy="365760"/>
          </a:xfrm>
          <a:prstGeom prst="rightArrow">
            <a:avLst/>
          </a:prstGeom>
          <a:solidFill>
            <a:schemeClr val="accent5"/>
          </a:solidFill>
          <a:ln w="12700">
            <a:solidFill>
              <a:schemeClr val="accent5"/>
            </a:solidFill>
            <a:prstDash val="solid"/>
          </a:ln>
        </p:spPr>
        <p:txBody>
          <a:bodyPr/>
          <a:lstStyle/>
          <a:p>
            <a:endParaRPr lang="en-US"/>
          </a:p>
        </p:txBody>
      </p:sp>
      <p:sp>
        <p:nvSpPr>
          <p:cNvPr id="9" name="Shape 7"/>
          <p:cNvSpPr/>
          <p:nvPr/>
        </p:nvSpPr>
        <p:spPr>
          <a:xfrm>
            <a:off x="438912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10" name="num2"/>
          <p:cNvSpPr/>
          <p:nvPr/>
        </p:nvSpPr>
        <p:spPr>
          <a:xfrm>
            <a:off x="4663440" y="2103120"/>
            <a:ext cx="548640" cy="548640"/>
          </a:xfrm>
          <a:prstGeom prst="ellipse">
            <a:avLst/>
          </a:prstGeom>
          <a:solidFill>
            <a:srgbClr val="A86C0E"/>
          </a:solidFill>
          <a:ln w="12700">
            <a:solidFill>
              <a:srgbClr val="A86C0E"/>
            </a:solidFill>
            <a:prstDash val="solid"/>
          </a:ln>
        </p:spPr>
        <p:txBody>
          <a:bodyPr/>
          <a:lstStyle/>
          <a:p>
            <a:endParaRPr lang="en-US"/>
          </a:p>
        </p:txBody>
      </p:sp>
      <p:sp>
        <p:nvSpPr>
          <p:cNvPr id="11" name="Text 9"/>
          <p:cNvSpPr txBox="1"/>
          <p:nvPr/>
        </p:nvSpPr>
        <p:spPr>
          <a:xfrm>
            <a:off x="466344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466344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Viết biên bản bàn giao</a:t>
            </a:r>
            <a:endParaRPr lang="en-US" sz="1900" dirty="0"/>
          </a:p>
        </p:txBody>
      </p:sp>
      <p:sp>
        <p:nvSpPr>
          <p:cNvPr id="13" name="Text 11"/>
          <p:cNvSpPr txBox="1"/>
          <p:nvPr/>
        </p:nvSpPr>
        <p:spPr>
          <a:xfrm>
            <a:off x="466344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Đang làm gì, đã thử gì, kẹt ở đâu. Không có biên bản thì người mới đâm lại ngõ cụt cũ.</a:t>
            </a:r>
            <a:endParaRPr lang="en-US" sz="1500" dirty="0"/>
          </a:p>
        </p:txBody>
      </p:sp>
      <p:sp>
        <p:nvSpPr>
          <p:cNvPr id="14" name="Shape 12"/>
          <p:cNvSpPr/>
          <p:nvPr/>
        </p:nvSpPr>
        <p:spPr>
          <a:xfrm>
            <a:off x="7845552" y="3154680"/>
            <a:ext cx="329184" cy="365760"/>
          </a:xfrm>
          <a:prstGeom prst="rightArrow">
            <a:avLst/>
          </a:prstGeom>
          <a:solidFill>
            <a:schemeClr val="accent5"/>
          </a:solidFill>
          <a:ln w="12700">
            <a:solidFill>
              <a:schemeClr val="accent5"/>
            </a:solidFill>
            <a:prstDash val="solid"/>
          </a:ln>
        </p:spPr>
        <p:txBody>
          <a:bodyPr/>
          <a:lstStyle/>
          <a:p>
            <a:endParaRPr lang="en-US"/>
          </a:p>
        </p:txBody>
      </p:sp>
      <p:sp>
        <p:nvSpPr>
          <p:cNvPr id="15" name="Shape 13"/>
          <p:cNvSpPr/>
          <p:nvPr/>
        </p:nvSpPr>
        <p:spPr>
          <a:xfrm>
            <a:off x="822960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16" name="num3"/>
          <p:cNvSpPr/>
          <p:nvPr/>
        </p:nvSpPr>
        <p:spPr>
          <a:xfrm>
            <a:off x="8503920" y="2103120"/>
            <a:ext cx="548640" cy="548640"/>
          </a:xfrm>
          <a:prstGeom prst="ellipse">
            <a:avLst/>
          </a:prstGeom>
          <a:solidFill>
            <a:srgbClr val="157A55"/>
          </a:solidFill>
          <a:ln w="12700">
            <a:solidFill>
              <a:srgbClr val="157A55"/>
            </a:solidFill>
            <a:prstDash val="solid"/>
          </a:ln>
        </p:spPr>
        <p:txBody>
          <a:bodyPr/>
          <a:lstStyle/>
          <a:p>
            <a:endParaRPr lang="en-US"/>
          </a:p>
        </p:txBody>
      </p:sp>
      <p:sp>
        <p:nvSpPr>
          <p:cNvPr id="17" name="Text 15"/>
          <p:cNvSpPr txBox="1"/>
          <p:nvPr/>
        </p:nvSpPr>
        <p:spPr>
          <a:xfrm>
            <a:off x="850392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50392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Agent mới vào sân</a:t>
            </a:r>
            <a:endParaRPr lang="en-US" sz="1900" dirty="0"/>
          </a:p>
        </p:txBody>
      </p:sp>
      <p:sp>
        <p:nvSpPr>
          <p:cNvPr id="19" name="Text 17"/>
          <p:cNvSpPr txBox="1"/>
          <p:nvPr/>
        </p:nvSpPr>
        <p:spPr>
          <a:xfrm>
            <a:off x="850392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Đọc biên bản và đồ thị kết quả rồi đá tiếp, với con mắt mới.</a:t>
            </a:r>
            <a:endParaRPr lang="en-US" sz="1500" dirty="0"/>
          </a:p>
        </p:txBody>
      </p:sp>
      <p:sp>
        <p:nvSpPr>
          <p:cNvPr id="20" name="Text 18"/>
          <p:cNvSpPr txBox="1"/>
          <p:nvPr/>
        </p:nvSpPr>
        <p:spPr>
          <a:xfrm>
            <a:off x="548640" y="5394960"/>
            <a:ext cx="10972800" cy="411480"/>
          </a:xfrm>
          <a:prstGeom prst="rect">
            <a:avLst/>
          </a:prstGeom>
          <a:noFill/>
          <a:ln/>
        </p:spPr>
        <p:txBody>
          <a:bodyPr wrap="square" lIns="0" tIns="0" rIns="0" bIns="0" rtlCol="0" anchor="ctr"/>
          <a:lstStyle/>
          <a:p>
            <a:pPr marL="0" indent="0">
              <a:buNone/>
            </a:pPr>
            <a:r>
              <a:rPr lang="en-US" sz="1600" i="1" dirty="0">
                <a:solidFill>
                  <a:schemeClr val="tx2"/>
                </a:solidFill>
              </a:rPr>
              <a:t>Cũng là dịp đưa người mới vào và xoay các cặp phối hợp cố định.</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Tấn công chính bộ chấm</a:t>
            </a:r>
            <a:endParaRPr lang="en-US" sz="3200" dirty="0"/>
          </a:p>
        </p:txBody>
      </p:sp>
      <p:sp>
        <p:nvSpPr>
          <p:cNvPr id="3" name="Shape 1"/>
          <p:cNvSpPr/>
          <p:nvPr/>
        </p:nvSpPr>
        <p:spPr>
          <a:xfrm>
            <a:off x="548640" y="1371600"/>
            <a:ext cx="4206240" cy="4480560"/>
          </a:xfrm>
          <a:prstGeom prst="roundRect">
            <a:avLst>
              <a:gd name="adj" fmla="val 1739"/>
            </a:avLst>
          </a:prstGeom>
          <a:solidFill>
            <a:srgbClr val="FBE9E6"/>
          </a:solidFill>
          <a:ln w="22225">
            <a:solidFill>
              <a:srgbClr val="C93A2A"/>
            </a:solidFill>
            <a:prstDash val="solid"/>
          </a:ln>
        </p:spPr>
        <p:txBody>
          <a:bodyPr/>
          <a:lstStyle/>
          <a:p>
            <a:endParaRPr lang="en-US"/>
          </a:p>
        </p:txBody>
      </p:sp>
      <p:sp>
        <p:nvSpPr>
          <p:cNvPr id="4" name="Text 2"/>
          <p:cNvSpPr txBox="1"/>
          <p:nvPr/>
        </p:nvSpPr>
        <p:spPr>
          <a:xfrm>
            <a:off x="822960" y="1600200"/>
            <a:ext cx="3657600" cy="548640"/>
          </a:xfrm>
          <a:prstGeom prst="rect">
            <a:avLst/>
          </a:prstGeom>
          <a:noFill/>
          <a:ln/>
        </p:spPr>
        <p:txBody>
          <a:bodyPr wrap="square" lIns="0" tIns="0" rIns="0" bIns="0" rtlCol="0" anchor="ctr"/>
          <a:lstStyle/>
          <a:p>
            <a:pPr marL="0" indent="0">
              <a:buNone/>
            </a:pPr>
            <a:r>
              <a:rPr lang="en-US" sz="2400" b="1" dirty="0">
                <a:solidFill>
                  <a:schemeClr val="accent2"/>
                </a:solidFill>
              </a:rPr>
              <a:t>Đội đá tập</a:t>
            </a:r>
            <a:endParaRPr lang="en-US" sz="2400" dirty="0"/>
          </a:p>
        </p:txBody>
      </p:sp>
      <p:sp>
        <p:nvSpPr>
          <p:cNvPr id="5" name="Text 3"/>
          <p:cNvSpPr txBox="1"/>
          <p:nvPr/>
        </p:nvSpPr>
        <p:spPr>
          <a:xfrm>
            <a:off x="822960" y="2286000"/>
            <a:ext cx="3657600" cy="3291840"/>
          </a:xfrm>
          <a:prstGeom prst="rect">
            <a:avLst/>
          </a:prstGeom>
          <a:noFill/>
          <a:ln/>
        </p:spPr>
        <p:txBody>
          <a:bodyPr wrap="square" lIns="0" tIns="0" rIns="0" bIns="0" rtlCol="0" anchor="t"/>
          <a:lstStyle/>
          <a:p>
            <a:pPr marL="0" indent="0">
              <a:buNone/>
            </a:pPr>
            <a:r>
              <a:rPr lang="en-US" sz="1500" dirty="0">
                <a:solidFill>
                  <a:schemeClr val="tx1"/>
                </a:solidFill>
              </a:rPr>
              <a:t>Đứng ngoài 11 người. Lấy một khẳng định thật đã qua kiểm, làm hỏng nó (đổi dấu, bỏ giả thiết), cấy vào đường nộp bài, rồi đo xem hàng thủ và Kiểm chứng cuối bắt được bao nhiêu.</a:t>
            </a:r>
            <a:endParaRPr lang="en-US" sz="1500" dirty="0"/>
          </a:p>
        </p:txBody>
      </p:sp>
      <p:sp>
        <p:nvSpPr>
          <p:cNvPr id="6" name="num1"/>
          <p:cNvSpPr/>
          <p:nvPr/>
        </p:nvSpPr>
        <p:spPr>
          <a:xfrm>
            <a:off x="5120640" y="1463040"/>
            <a:ext cx="457200" cy="457200"/>
          </a:xfrm>
          <a:prstGeom prst="ellipse">
            <a:avLst/>
          </a:prstGeom>
          <a:solidFill>
            <a:srgbClr val="A86C0E"/>
          </a:solidFill>
          <a:ln w="12700">
            <a:solidFill>
              <a:srgbClr val="A86C0E"/>
            </a:solidFill>
            <a:prstDash val="solid"/>
          </a:ln>
        </p:spPr>
        <p:txBody>
          <a:bodyPr/>
          <a:lstStyle/>
          <a:p>
            <a:endParaRPr lang="en-US"/>
          </a:p>
        </p:txBody>
      </p:sp>
      <p:sp>
        <p:nvSpPr>
          <p:cNvPr id="7" name="Text 5"/>
          <p:cNvSpPr txBox="1"/>
          <p:nvPr/>
        </p:nvSpPr>
        <p:spPr>
          <a:xfrm>
            <a:off x="5120640" y="146304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6"/>
          <p:cNvSpPr txBox="1"/>
          <p:nvPr/>
        </p:nvSpPr>
        <p:spPr>
          <a:xfrm>
            <a:off x="5760720" y="1371600"/>
            <a:ext cx="5852160" cy="1005840"/>
          </a:xfrm>
          <a:prstGeom prst="rect">
            <a:avLst/>
          </a:prstGeom>
          <a:noFill/>
          <a:ln/>
        </p:spPr>
        <p:txBody>
          <a:bodyPr wrap="square" lIns="0" tIns="0" rIns="0" bIns="0" rtlCol="0" anchor="t"/>
          <a:lstStyle/>
          <a:p>
            <a:pPr marL="0" indent="0">
              <a:buNone/>
            </a:pPr>
            <a:r>
              <a:rPr lang="en-US" sz="1700" b="1" dirty="0">
                <a:solidFill>
                  <a:schemeClr val="tx1"/>
                </a:solidFill>
              </a:rPr>
              <a:t>Soát gian lận Lean</a:t>
            </a:r>
            <a:endParaRPr lang="en-US" sz="1700" dirty="0"/>
          </a:p>
          <a:p>
            <a:pPr marL="0" indent="0">
              <a:buNone/>
            </a:pPr>
            <a:r>
              <a:rPr lang="en-US" sz="1500" dirty="0">
                <a:solidFill>
                  <a:schemeClr val="tx2"/>
                </a:solidFill>
              </a:rPr>
              <a:t>Kiểm axiom, cấm sorry, build trong môi trường sạch</a:t>
            </a:r>
            <a:endParaRPr lang="en-US" sz="1700" dirty="0"/>
          </a:p>
        </p:txBody>
      </p:sp>
      <p:sp>
        <p:nvSpPr>
          <p:cNvPr id="9" name="num2"/>
          <p:cNvSpPr/>
          <p:nvPr/>
        </p:nvSpPr>
        <p:spPr>
          <a:xfrm>
            <a:off x="5120640" y="2606040"/>
            <a:ext cx="457200" cy="457200"/>
          </a:xfrm>
          <a:prstGeom prst="ellipse">
            <a:avLst/>
          </a:prstGeom>
          <a:solidFill>
            <a:srgbClr val="A86C0E"/>
          </a:solidFill>
          <a:ln w="12700">
            <a:solidFill>
              <a:srgbClr val="A86C0E"/>
            </a:solidFill>
            <a:prstDash val="solid"/>
          </a:ln>
        </p:spPr>
        <p:txBody>
          <a:bodyPr/>
          <a:lstStyle/>
          <a:p>
            <a:endParaRPr lang="en-US"/>
          </a:p>
        </p:txBody>
      </p:sp>
      <p:sp>
        <p:nvSpPr>
          <p:cNvPr id="10" name="Text 8"/>
          <p:cNvSpPr txBox="1"/>
          <p:nvPr/>
        </p:nvSpPr>
        <p:spPr>
          <a:xfrm>
            <a:off x="5120640" y="260604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9"/>
          <p:cNvSpPr txBox="1"/>
          <p:nvPr/>
        </p:nvSpPr>
        <p:spPr>
          <a:xfrm>
            <a:off x="5760720" y="2514600"/>
            <a:ext cx="5852160" cy="1005840"/>
          </a:xfrm>
          <a:prstGeom prst="rect">
            <a:avLst/>
          </a:prstGeom>
          <a:noFill/>
          <a:ln/>
        </p:spPr>
        <p:txBody>
          <a:bodyPr wrap="square" lIns="0" tIns="0" rIns="0" bIns="0" rtlCol="0" anchor="t"/>
          <a:lstStyle/>
          <a:p>
            <a:pPr marL="0" indent="0">
              <a:buNone/>
            </a:pPr>
            <a:r>
              <a:rPr lang="en-US" sz="1700" b="1" dirty="0">
                <a:solidFill>
                  <a:schemeClr val="tx1"/>
                </a:solidFill>
              </a:rPr>
              <a:t>Đề phải bác được biến thể sai</a:t>
            </a:r>
            <a:endParaRPr lang="en-US" sz="1700" dirty="0"/>
          </a:p>
          <a:p>
            <a:pPr marL="0" indent="0">
              <a:buNone/>
            </a:pPr>
            <a:r>
              <a:rPr lang="en-US" sz="1500" dirty="0">
                <a:solidFill>
                  <a:schemeClr val="tx2"/>
                </a:solidFill>
              </a:rPr>
              <a:t>Phát biểu Lean phải từ chối các phiên bản sai đã biết của đề</a:t>
            </a:r>
            <a:endParaRPr lang="en-US" sz="1700" dirty="0"/>
          </a:p>
        </p:txBody>
      </p:sp>
      <p:sp>
        <p:nvSpPr>
          <p:cNvPr id="12" name="num3"/>
          <p:cNvSpPr/>
          <p:nvPr/>
        </p:nvSpPr>
        <p:spPr>
          <a:xfrm>
            <a:off x="5120640" y="3749040"/>
            <a:ext cx="457200" cy="457200"/>
          </a:xfrm>
          <a:prstGeom prst="ellipse">
            <a:avLst/>
          </a:prstGeom>
          <a:solidFill>
            <a:srgbClr val="A86C0E"/>
          </a:solidFill>
          <a:ln w="12700">
            <a:solidFill>
              <a:srgbClr val="A86C0E"/>
            </a:solidFill>
            <a:prstDash val="solid"/>
          </a:ln>
        </p:spPr>
        <p:txBody>
          <a:bodyPr/>
          <a:lstStyle/>
          <a:p>
            <a:endParaRPr lang="en-US"/>
          </a:p>
        </p:txBody>
      </p:sp>
      <p:sp>
        <p:nvSpPr>
          <p:cNvPr id="13" name="Text 11"/>
          <p:cNvSpPr txBox="1"/>
          <p:nvPr/>
        </p:nvSpPr>
        <p:spPr>
          <a:xfrm>
            <a:off x="5120640" y="374904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Text 12"/>
          <p:cNvSpPr txBox="1"/>
          <p:nvPr/>
        </p:nvSpPr>
        <p:spPr>
          <a:xfrm>
            <a:off x="5760720" y="3657600"/>
            <a:ext cx="5852160" cy="1005840"/>
          </a:xfrm>
          <a:prstGeom prst="rect">
            <a:avLst/>
          </a:prstGeom>
          <a:noFill/>
          <a:ln/>
        </p:spPr>
        <p:txBody>
          <a:bodyPr wrap="square" lIns="0" tIns="0" rIns="0" bIns="0" rtlCol="0" anchor="t"/>
          <a:lstStyle/>
          <a:p>
            <a:pPr marL="0" indent="0">
              <a:buNone/>
            </a:pPr>
            <a:r>
              <a:rPr lang="en-US" sz="1700" b="1" dirty="0">
                <a:solidFill>
                  <a:schemeClr val="tx1"/>
                </a:solidFill>
              </a:rPr>
              <a:t>Nhãn tính lại, không ghi tay</a:t>
            </a:r>
            <a:endParaRPr lang="en-US" sz="1700" dirty="0"/>
          </a:p>
          <a:p>
            <a:pPr marL="0" indent="0">
              <a:buNone/>
            </a:pPr>
            <a:r>
              <a:rPr lang="en-US" sz="1500" dirty="0">
                <a:solidFill>
                  <a:schemeClr val="tx2"/>
                </a:solidFill>
              </a:rPr>
              <a:t>Nhật ký chỉ thêm; không ai tự nâng nhãn của mình</a:t>
            </a:r>
            <a:endParaRPr lang="en-US" sz="1700" dirty="0"/>
          </a:p>
        </p:txBody>
      </p:sp>
      <p:sp>
        <p:nvSpPr>
          <p:cNvPr id="15" name="num4"/>
          <p:cNvSpPr/>
          <p:nvPr/>
        </p:nvSpPr>
        <p:spPr>
          <a:xfrm>
            <a:off x="5120640" y="4892040"/>
            <a:ext cx="457200" cy="457200"/>
          </a:xfrm>
          <a:prstGeom prst="ellipse">
            <a:avLst/>
          </a:prstGeom>
          <a:solidFill>
            <a:srgbClr val="A86C0E"/>
          </a:solidFill>
          <a:ln w="12700">
            <a:solidFill>
              <a:srgbClr val="A86C0E"/>
            </a:solidFill>
            <a:prstDash val="solid"/>
          </a:ln>
        </p:spPr>
        <p:txBody>
          <a:bodyPr/>
          <a:lstStyle/>
          <a:p>
            <a:endParaRPr lang="en-US"/>
          </a:p>
        </p:txBody>
      </p:sp>
      <p:sp>
        <p:nvSpPr>
          <p:cNvPr id="16" name="Text 14"/>
          <p:cNvSpPr txBox="1"/>
          <p:nvPr/>
        </p:nvSpPr>
        <p:spPr>
          <a:xfrm>
            <a:off x="5120640" y="489204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5760720" y="4800600"/>
            <a:ext cx="5852160" cy="1005840"/>
          </a:xfrm>
          <a:prstGeom prst="rect">
            <a:avLst/>
          </a:prstGeom>
          <a:noFill/>
          <a:ln/>
        </p:spPr>
        <p:txBody>
          <a:bodyPr wrap="square" lIns="0" tIns="0" rIns="0" bIns="0" rtlCol="0" anchor="t"/>
          <a:lstStyle/>
          <a:p>
            <a:pPr marL="0" indent="0">
              <a:buNone/>
            </a:pPr>
            <a:r>
              <a:rPr lang="en-US" sz="1700" b="1" dirty="0">
                <a:solidFill>
                  <a:schemeClr val="tx1"/>
                </a:solidFill>
              </a:rPr>
              <a:t>Văn liệu là dữ liệu</a:t>
            </a:r>
            <a:endParaRPr lang="en-US" sz="1700" dirty="0"/>
          </a:p>
          <a:p>
            <a:pPr marL="0" indent="0">
              <a:buNone/>
            </a:pPr>
            <a:r>
              <a:rPr lang="en-US" sz="1500" dirty="0">
                <a:solidFill>
                  <a:schemeClr val="tx2"/>
                </a:solidFill>
              </a:rPr>
              <a:t>Bài báo tải về không phải lệnh; trích dẫn vào ở nhãn thấp nhất</a:t>
            </a:r>
            <a:endParaRPr lang="en-US" sz="17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10</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Nguồn gợi ý cho từng luật (chưa kiểm)</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206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rPr>
                        <a:t>Phát hiện</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Nguồn</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Thành luật</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1"/>
                          </a:solidFill>
                        </a:rPr>
                        <a:t>Đội nhỏ phá vỡ, đội lớn phát triển</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Wu, Wang, Evans 2019</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Hai pha: khám phá ít người, phát triển mới fan-out</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chemeClr val="tx1"/>
                          </a:solidFill>
                        </a:rPr>
                        <a:t>Nền quen thuộc + một chút lạ</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Uzzi và cộng sự 2013</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Ý xuyên ngành phải neo qua Số 10</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tx1"/>
                          </a:solidFill>
                        </a:rPr>
                        <a:t>Làm riêng thắng động não nhóm</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Diehl, Stroebe 1987</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Tự nộp ý trước khi xem ý người khác</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chemeClr val="tx1"/>
                          </a:solidFill>
                        </a:rPr>
                        <a:t>Thông tin riêng bị chôn</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Stasser, Titus 1985</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Chuyền điều chỉ mình biết</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chemeClr val="tx1"/>
                          </a:solidFill>
                        </a:rPr>
                        <a:t>Phản biện đóng vai thua bất đồng thật</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Nemeth 2001</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Hàng thủ khác họ model, khác công cụ</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chemeClr val="tx1"/>
                          </a:solidFill>
                        </a:rPr>
                        <a:t>LLM tranh luận đổi đúng thành sai</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Wynn và cộng sự 2025</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Không biểu quyết, chỉ bằng chứng</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8640">
                <a:tc>
                  <a:txBody>
                    <a:bodyPr/>
                    <a:lstStyle/>
                    <a:p>
                      <a:pPr marL="0" indent="0">
                        <a:buNone/>
                      </a:pPr>
                      <a:r>
                        <a:rPr lang="en-US" sz="1400" b="1" dirty="0">
                          <a:solidFill>
                            <a:schemeClr val="tx1"/>
                          </a:solidFill>
                        </a:rPr>
                        <a:t>Đa agent tụt 39–70% ở bài tuần tự</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Kim và cộng sự 2025</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Chứng minh giữ 1–2 agent</a:t>
                      </a:r>
                      <a:endParaRPr lang="en-US" sz="1400" dirty="0"/>
                    </a:p>
                  </a:txBody>
                  <a:tcPr marL="109728" marR="109728" marT="54864" marB="54864">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
        <p:nvSpPr>
          <p:cNvPr id="900" name="Caption unverified"/>
          <p:cNvSpPr txBox="1"/>
          <p:nvPr/>
        </p:nvSpPr>
        <p:spPr>
          <a:xfrm>
            <a:off x="548640" y="598932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Giả thuyết thiết kế, chưa phải bằng chứng đội hình hiệu quả; chưa nguồn nào được đối chiếu bản gốc. Wynn 2025, Kim 2025 chưa xác nhận.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Phần 2: Đội coding</a:t>
            </a:r>
          </a:p>
        </p:txBody>
      </p:sp>
      <p:sp>
        <p:nvSpPr>
          <p:cNvPr id="3" name="Text Placeholder 2"/>
          <p:cNvSpPr>
            <a:spLocks noGrp="1"/>
          </p:cNvSpPr>
          <p:nvPr>
            <p:ph type="body" idx="101"/>
          </p:nvPr>
        </p:nvSpPr>
        <p:spPr/>
        <p:txBody>
          <a:bodyPr/>
          <a:lstStyle/>
          <a:p>
            <a:r>
              <a:t>Cùng khung đội hình, đổi bộ chấm: Lean thay bằng test, CI và benchmark.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Đội coding trên một sân: đọc theo số 1 đến 6</a:t>
            </a:r>
          </a:p>
        </p:txBody>
      </p:sp>
      <p:sp>
        <p:nvSpPr>
          <p:cNvPr id="3" name="Rectangle 2"/>
          <p:cNvSpPr/>
          <p:nvPr/>
        </p:nvSpPr>
        <p:spPr>
          <a:xfrm>
            <a:off x="365760" y="1143000"/>
            <a:ext cx="9829800" cy="1548993"/>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11480" y="1188720"/>
            <a:ext cx="91440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365760" y="2691993"/>
            <a:ext cx="9829800" cy="1903049"/>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2737713"/>
            <a:ext cx="91440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365760" y="4595042"/>
            <a:ext cx="9829800" cy="2035820"/>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80" y="4640762"/>
            <a:ext cx="91440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cxnSp>
        <p:nvCxnSpPr>
          <p:cNvPr id="9" name="Connector 8"/>
          <p:cNvCxnSpPr/>
          <p:nvPr/>
        </p:nvCxnSpPr>
        <p:spPr>
          <a:xfrm>
            <a:off x="365760" y="2293680"/>
            <a:ext cx="9829800" cy="0"/>
          </a:xfrm>
          <a:prstGeom prst="line">
            <a:avLst/>
          </a:prstGeom>
          <a:ln w="22225">
            <a:solidFill>
              <a:srgbClr val="C93A2A"/>
            </a:solidFill>
            <a:prstDash val="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23760" y="2147376"/>
            <a:ext cx="2926080" cy="292608"/>
          </a:xfrm>
          <a:prstGeom prst="roundRect">
            <a:avLst/>
          </a:prstGeom>
          <a:solidFill>
            <a:srgbClr val="FFFFFF"/>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60" y="2147376"/>
            <a:ext cx="2926080" cy="292608"/>
          </a:xfrm>
          <a:prstGeom prst="rect">
            <a:avLst/>
          </a:prstGeom>
          <a:noFill/>
        </p:spPr>
        <p:txBody>
          <a:bodyPr wrap="square" lIns="0" rIns="0" tIns="0" bIns="0" anchor="ctr">
            <a:spAutoFit/>
          </a:bodyPr>
          <a:lstStyle/>
          <a:p>
            <a:pPr algn="ctr"/>
            <a:r>
              <a:rPr sz="1100" b="1" i="0">
                <a:solidFill>
                  <a:srgbClr val="C93A2A"/>
                </a:solidFill>
                <a:latin typeface="Calibri"/>
              </a:rPr>
              <a:t>Không sửa test, CI, contract test</a:t>
            </a:r>
          </a:p>
        </p:txBody>
      </p:sp>
      <p:cxnSp>
        <p:nvCxnSpPr>
          <p:cNvPr id="12" name="Connector 11"/>
          <p:cNvCxnSpPr/>
          <p:nvPr/>
        </p:nvCxnSpPr>
        <p:spPr>
          <a:xfrm flipH="1" flipV="1">
            <a:off x="2468879" y="1977298"/>
            <a:ext cx="1783081" cy="935980"/>
          </a:xfrm>
          <a:prstGeom prst="line">
            <a:avLst/>
          </a:prstGeom>
          <a:ln w="190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63039" y="1977298"/>
            <a:ext cx="0" cy="1075334"/>
          </a:xfrm>
          <a:prstGeom prst="line">
            <a:avLst/>
          </a:prstGeom>
          <a:ln w="15875">
            <a:solidFill>
              <a:srgbClr val="2B59D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536191" y="2576925"/>
            <a:ext cx="1188720" cy="219456"/>
          </a:xfrm>
          <a:prstGeom prst="rect">
            <a:avLst/>
          </a:prstGeom>
          <a:noFill/>
        </p:spPr>
        <p:txBody>
          <a:bodyPr wrap="square" lIns="0" rIns="0" tIns="0" bIns="0" anchor="t">
            <a:spAutoFit/>
          </a:bodyPr>
          <a:lstStyle/>
          <a:p>
            <a:pPr algn="l"/>
            <a:r>
              <a:rPr sz="1000" b="1" i="0">
                <a:solidFill>
                  <a:srgbClr val="2B59D9"/>
                </a:solidFill>
                <a:latin typeface="Calibri"/>
              </a:rPr>
              <a:t>hợp đồng API</a:t>
            </a:r>
          </a:p>
        </p:txBody>
      </p:sp>
      <p:cxnSp>
        <p:nvCxnSpPr>
          <p:cNvPr id="15" name="Connector 14"/>
          <p:cNvCxnSpPr/>
          <p:nvPr/>
        </p:nvCxnSpPr>
        <p:spPr>
          <a:xfrm flipH="1">
            <a:off x="6720840" y="1977298"/>
            <a:ext cx="2148840" cy="980237"/>
          </a:xfrm>
          <a:prstGeom prst="line">
            <a:avLst/>
          </a:prstGeom>
          <a:ln w="15875">
            <a:solidFill>
              <a:srgbClr val="2B59D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651760" y="1806854"/>
            <a:ext cx="1600200" cy="1245778"/>
          </a:xfrm>
          <a:prstGeom prst="line">
            <a:avLst/>
          </a:prstGeom>
          <a:ln w="15875">
            <a:solidFill>
              <a:srgbClr val="2B59D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6720840" y="1806854"/>
            <a:ext cx="2148840" cy="1245778"/>
          </a:xfrm>
          <a:prstGeom prst="line">
            <a:avLst/>
          </a:prstGeom>
          <a:ln w="12700">
            <a:solidFill>
              <a:srgbClr val="2B59D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108960" y="4240987"/>
            <a:ext cx="1143000" cy="626181"/>
          </a:xfrm>
          <a:prstGeom prst="line">
            <a:avLst/>
          </a:prstGeom>
          <a:ln w="12700">
            <a:solidFill>
              <a:srgbClr val="157A5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69680" y="5562112"/>
            <a:ext cx="0" cy="360639"/>
          </a:xfrm>
          <a:prstGeom prst="line">
            <a:avLst/>
          </a:prstGeom>
          <a:ln w="15875">
            <a:solidFill>
              <a:srgbClr val="A86C0E"/>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720840" y="5922751"/>
            <a:ext cx="2148840" cy="0"/>
          </a:xfrm>
          <a:prstGeom prst="line">
            <a:avLst/>
          </a:prstGeom>
          <a:ln w="15875">
            <a:solidFill>
              <a:srgbClr val="A86C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1119" y="5648431"/>
            <a:ext cx="1828800" cy="219456"/>
          </a:xfrm>
          <a:prstGeom prst="rect">
            <a:avLst/>
          </a:prstGeom>
          <a:noFill/>
        </p:spPr>
        <p:txBody>
          <a:bodyPr wrap="square" lIns="0" rIns="0" tIns="0" bIns="0" anchor="t">
            <a:spAutoFit/>
          </a:bodyPr>
          <a:lstStyle/>
          <a:p>
            <a:pPr algn="l"/>
            <a:r>
              <a:rPr sz="1000" b="1" i="0">
                <a:solidFill>
                  <a:srgbClr val="A86C0E"/>
                </a:solidFill>
                <a:latin typeface="Calibri"/>
              </a:rPr>
              <a:t>cùng khoá test chấp nhận</a:t>
            </a:r>
          </a:p>
        </p:txBody>
      </p:sp>
      <p:cxnSp>
        <p:nvCxnSpPr>
          <p:cNvPr id="22" name="Connector 21"/>
          <p:cNvCxnSpPr/>
          <p:nvPr/>
        </p:nvCxnSpPr>
        <p:spPr>
          <a:xfrm flipV="1">
            <a:off x="5486400" y="3305007"/>
            <a:ext cx="0" cy="411480"/>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623560" y="3359725"/>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23560" y="3359725"/>
            <a:ext cx="310896" cy="310896"/>
          </a:xfrm>
          <a:prstGeom prst="rect">
            <a:avLst/>
          </a:prstGeom>
          <a:noFill/>
        </p:spPr>
        <p:txBody>
          <a:bodyPr wrap="square" lIns="0" rIns="0" tIns="0" bIns="0" anchor="ctr">
            <a:spAutoFit/>
          </a:bodyPr>
          <a:lstStyle/>
          <a:p>
            <a:pPr algn="ctr"/>
            <a:r>
              <a:rPr sz="1200" b="1" i="0">
                <a:solidFill>
                  <a:srgbClr val="FFFFFF"/>
                </a:solidFill>
                <a:latin typeface="Calibri"/>
              </a:rPr>
              <a:t>2</a:t>
            </a:r>
          </a:p>
        </p:txBody>
      </p:sp>
      <p:sp>
        <p:nvSpPr>
          <p:cNvPr id="25" name="TextBox 24"/>
          <p:cNvSpPr txBox="1"/>
          <p:nvPr/>
        </p:nvSpPr>
        <p:spPr>
          <a:xfrm>
            <a:off x="5989320" y="3396301"/>
            <a:ext cx="1097280" cy="237744"/>
          </a:xfrm>
          <a:prstGeom prst="rect">
            <a:avLst/>
          </a:prstGeom>
          <a:noFill/>
        </p:spPr>
        <p:txBody>
          <a:bodyPr wrap="square" lIns="0" rIns="0" tIns="0" bIns="0" anchor="t">
            <a:spAutoFit/>
          </a:bodyPr>
          <a:lstStyle/>
          <a:p>
            <a:pPr algn="l"/>
            <a:r>
              <a:rPr sz="1200" b="1" i="0">
                <a:solidFill>
                  <a:srgbClr val="1C2333"/>
                </a:solidFill>
                <a:latin typeface="Calibri"/>
              </a:rPr>
              <a:t>giao việc</a:t>
            </a:r>
          </a:p>
        </p:txBody>
      </p:sp>
      <p:cxnSp>
        <p:nvCxnSpPr>
          <p:cNvPr id="26" name="Connector 25"/>
          <p:cNvCxnSpPr/>
          <p:nvPr/>
        </p:nvCxnSpPr>
        <p:spPr>
          <a:xfrm flipV="1">
            <a:off x="5486400" y="1977298"/>
            <a:ext cx="0" cy="632765"/>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623560" y="1978907"/>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23560" y="1978907"/>
            <a:ext cx="310896" cy="310896"/>
          </a:xfrm>
          <a:prstGeom prst="rect">
            <a:avLst/>
          </a:prstGeom>
          <a:noFill/>
        </p:spPr>
        <p:txBody>
          <a:bodyPr wrap="square" lIns="0" rIns="0" tIns="0" bIns="0" anchor="ctr">
            <a:spAutoFit/>
          </a:bodyPr>
          <a:lstStyle/>
          <a:p>
            <a:pPr algn="ctr"/>
            <a:r>
              <a:rPr sz="1200" b="1" i="0">
                <a:solidFill>
                  <a:srgbClr val="FFFFFF"/>
                </a:solidFill>
                <a:latin typeface="Calibri"/>
              </a:rPr>
              <a:t>3</a:t>
            </a:r>
          </a:p>
        </p:txBody>
      </p:sp>
      <p:sp>
        <p:nvSpPr>
          <p:cNvPr id="29" name="TextBox 28"/>
          <p:cNvSpPr txBox="1"/>
          <p:nvPr/>
        </p:nvSpPr>
        <p:spPr>
          <a:xfrm>
            <a:off x="5989320" y="2015483"/>
            <a:ext cx="1280160" cy="237744"/>
          </a:xfrm>
          <a:prstGeom prst="rect">
            <a:avLst/>
          </a:prstGeom>
          <a:noFill/>
        </p:spPr>
        <p:txBody>
          <a:bodyPr wrap="square" lIns="0" rIns="0" tIns="0" bIns="0" anchor="t">
            <a:spAutoFit/>
          </a:bodyPr>
          <a:lstStyle/>
          <a:p>
            <a:pPr algn="l"/>
            <a:r>
              <a:rPr sz="1200" b="1" i="0">
                <a:solidFill>
                  <a:srgbClr val="1C2333"/>
                </a:solidFill>
                <a:latin typeface="Calibri"/>
              </a:rPr>
              <a:t>chỗ cần sửa</a:t>
            </a:r>
          </a:p>
        </p:txBody>
      </p:sp>
      <p:cxnSp>
        <p:nvCxnSpPr>
          <p:cNvPr id="30" name="Connector 29"/>
          <p:cNvCxnSpPr/>
          <p:nvPr/>
        </p:nvCxnSpPr>
        <p:spPr>
          <a:xfrm>
            <a:off x="6720840" y="1629826"/>
            <a:ext cx="457200" cy="0"/>
          </a:xfrm>
          <a:prstGeom prst="line">
            <a:avLst/>
          </a:prstGeom>
          <a:ln w="28575">
            <a:solidFill>
              <a:srgbClr val="1C233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178040" y="1629826"/>
            <a:ext cx="0" cy="3584814"/>
          </a:xfrm>
          <a:prstGeom prst="line">
            <a:avLst/>
          </a:prstGeom>
          <a:ln w="28575">
            <a:solidFill>
              <a:srgbClr val="1C233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720840" y="5214640"/>
            <a:ext cx="457200" cy="0"/>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022592" y="3111886"/>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022592" y="3111886"/>
            <a:ext cx="310896" cy="310896"/>
          </a:xfrm>
          <a:prstGeom prst="rect">
            <a:avLst/>
          </a:prstGeom>
          <a:noFill/>
        </p:spPr>
        <p:txBody>
          <a:bodyPr wrap="square" lIns="0" rIns="0" tIns="0" bIns="0" anchor="ctr">
            <a:spAutoFit/>
          </a:bodyPr>
          <a:lstStyle/>
          <a:p>
            <a:pPr algn="ctr"/>
            <a:r>
              <a:rPr sz="1200" b="1" i="0">
                <a:solidFill>
                  <a:srgbClr val="FFFFFF"/>
                </a:solidFill>
                <a:latin typeface="Calibri"/>
              </a:rPr>
              <a:t>4</a:t>
            </a:r>
          </a:p>
        </p:txBody>
      </p:sp>
      <p:sp>
        <p:nvSpPr>
          <p:cNvPr id="35" name="TextBox 34"/>
          <p:cNvSpPr txBox="1"/>
          <p:nvPr/>
        </p:nvSpPr>
        <p:spPr>
          <a:xfrm>
            <a:off x="6812280" y="3450214"/>
            <a:ext cx="822960" cy="237744"/>
          </a:xfrm>
          <a:prstGeom prst="rect">
            <a:avLst/>
          </a:prstGeom>
          <a:noFill/>
        </p:spPr>
        <p:txBody>
          <a:bodyPr wrap="square" lIns="0" rIns="0" tIns="0" bIns="0" anchor="t">
            <a:spAutoFit/>
          </a:bodyPr>
          <a:lstStyle/>
          <a:p>
            <a:pPr algn="ctr"/>
            <a:r>
              <a:rPr sz="1200" b="1" i="0">
                <a:solidFill>
                  <a:srgbClr val="1C2333"/>
                </a:solidFill>
                <a:latin typeface="Calibri"/>
              </a:rPr>
              <a:t>PR</a:t>
            </a:r>
          </a:p>
        </p:txBody>
      </p:sp>
      <p:cxnSp>
        <p:nvCxnSpPr>
          <p:cNvPr id="36" name="Connector 35"/>
          <p:cNvCxnSpPr/>
          <p:nvPr/>
        </p:nvCxnSpPr>
        <p:spPr>
          <a:xfrm>
            <a:off x="6720840" y="5391668"/>
            <a:ext cx="228600" cy="0"/>
          </a:xfrm>
          <a:prstGeom prst="line">
            <a:avLst/>
          </a:prstGeom>
          <a:ln w="19050">
            <a:solidFill>
              <a:srgbClr val="C93A2A"/>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949440" y="1806854"/>
            <a:ext cx="0" cy="3584814"/>
          </a:xfrm>
          <a:prstGeom prst="line">
            <a:avLst/>
          </a:prstGeom>
          <a:ln w="19050">
            <a:solidFill>
              <a:srgbClr val="C93A2A"/>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720840" y="1806854"/>
            <a:ext cx="228600" cy="0"/>
          </a:xfrm>
          <a:prstGeom prst="line">
            <a:avLst/>
          </a:prstGeom>
          <a:ln w="19050">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406640" y="2559222"/>
            <a:ext cx="1371600" cy="237744"/>
          </a:xfrm>
          <a:prstGeom prst="rect">
            <a:avLst/>
          </a:prstGeom>
          <a:noFill/>
        </p:spPr>
        <p:txBody>
          <a:bodyPr wrap="square" lIns="0" rIns="0" tIns="0" bIns="0" anchor="t">
            <a:spAutoFit/>
          </a:bodyPr>
          <a:lstStyle/>
          <a:p>
            <a:pPr algn="l"/>
            <a:r>
              <a:rPr sz="1200" b="1" i="0">
                <a:solidFill>
                  <a:srgbClr val="C93A2A"/>
                </a:solidFill>
                <a:latin typeface="Calibri"/>
              </a:rPr>
              <a:t>đỏ: sửa lại</a:t>
            </a:r>
          </a:p>
        </p:txBody>
      </p:sp>
      <p:cxnSp>
        <p:nvCxnSpPr>
          <p:cNvPr id="40" name="Connector 39"/>
          <p:cNvCxnSpPr/>
          <p:nvPr/>
        </p:nvCxnSpPr>
        <p:spPr>
          <a:xfrm>
            <a:off x="5486400" y="5562112"/>
            <a:ext cx="0" cy="322966"/>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5623560" y="5563721"/>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623560" y="5563721"/>
            <a:ext cx="310896" cy="310896"/>
          </a:xfrm>
          <a:prstGeom prst="rect">
            <a:avLst/>
          </a:prstGeom>
          <a:noFill/>
        </p:spPr>
        <p:txBody>
          <a:bodyPr wrap="square" lIns="0" rIns="0" tIns="0" bIns="0" anchor="ctr">
            <a:spAutoFit/>
          </a:bodyPr>
          <a:lstStyle/>
          <a:p>
            <a:pPr algn="ctr"/>
            <a:r>
              <a:rPr sz="1200" b="1" i="0">
                <a:solidFill>
                  <a:srgbClr val="FFFFFF"/>
                </a:solidFill>
                <a:latin typeface="Calibri"/>
              </a:rPr>
              <a:t>5</a:t>
            </a:r>
          </a:p>
        </p:txBody>
      </p:sp>
      <p:sp>
        <p:nvSpPr>
          <p:cNvPr id="43" name="TextBox 42"/>
          <p:cNvSpPr txBox="1"/>
          <p:nvPr/>
        </p:nvSpPr>
        <p:spPr>
          <a:xfrm>
            <a:off x="5989320" y="5600297"/>
            <a:ext cx="1645920" cy="237744"/>
          </a:xfrm>
          <a:prstGeom prst="rect">
            <a:avLst/>
          </a:prstGeom>
          <a:noFill/>
        </p:spPr>
        <p:txBody>
          <a:bodyPr wrap="square" lIns="0" rIns="0" tIns="0" bIns="0" anchor="t">
            <a:spAutoFit/>
          </a:bodyPr>
          <a:lstStyle/>
          <a:p>
            <a:pPr algn="l"/>
            <a:r>
              <a:rPr sz="1200" b="1" i="0">
                <a:solidFill>
                  <a:srgbClr val="1C2333"/>
                </a:solidFill>
                <a:latin typeface="Calibri"/>
              </a:rPr>
              <a:t>không phá được</a:t>
            </a:r>
          </a:p>
        </p:txBody>
      </p:sp>
      <p:cxnSp>
        <p:nvCxnSpPr>
          <p:cNvPr id="44" name="Connector 43"/>
          <p:cNvCxnSpPr/>
          <p:nvPr/>
        </p:nvCxnSpPr>
        <p:spPr>
          <a:xfrm flipH="1">
            <a:off x="3931920" y="6232550"/>
            <a:ext cx="320040" cy="0"/>
          </a:xfrm>
          <a:prstGeom prst="line">
            <a:avLst/>
          </a:prstGeom>
          <a:ln w="28575">
            <a:solidFill>
              <a:srgbClr val="157A5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931920" y="4063959"/>
            <a:ext cx="0" cy="2168591"/>
          </a:xfrm>
          <a:prstGeom prst="line">
            <a:avLst/>
          </a:prstGeom>
          <a:ln w="28575">
            <a:solidFill>
              <a:srgbClr val="157A5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931920" y="4063959"/>
            <a:ext cx="320040" cy="0"/>
          </a:xfrm>
          <a:prstGeom prst="line">
            <a:avLst/>
          </a:prstGeom>
          <a:ln w="28575">
            <a:solidFill>
              <a:srgbClr val="157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776472" y="5059192"/>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776472" y="5059192"/>
            <a:ext cx="310896" cy="310896"/>
          </a:xfrm>
          <a:prstGeom prst="rect">
            <a:avLst/>
          </a:prstGeom>
          <a:noFill/>
        </p:spPr>
        <p:txBody>
          <a:bodyPr wrap="square" lIns="0" rIns="0" tIns="0" bIns="0" anchor="ctr">
            <a:spAutoFit/>
          </a:bodyPr>
          <a:lstStyle/>
          <a:p>
            <a:pPr algn="ctr"/>
            <a:r>
              <a:rPr sz="1200" b="1" i="0">
                <a:solidFill>
                  <a:srgbClr val="FFFFFF"/>
                </a:solidFill>
                <a:latin typeface="Calibri"/>
              </a:rPr>
              <a:t>6</a:t>
            </a:r>
          </a:p>
        </p:txBody>
      </p:sp>
      <p:sp>
        <p:nvSpPr>
          <p:cNvPr id="49" name="TextBox 48"/>
          <p:cNvSpPr txBox="1"/>
          <p:nvPr/>
        </p:nvSpPr>
        <p:spPr>
          <a:xfrm>
            <a:off x="2743200" y="4547859"/>
            <a:ext cx="1097280" cy="237744"/>
          </a:xfrm>
          <a:prstGeom prst="rect">
            <a:avLst/>
          </a:prstGeom>
          <a:noFill/>
        </p:spPr>
        <p:txBody>
          <a:bodyPr wrap="square" lIns="0" rIns="0" tIns="0" bIns="0" anchor="t">
            <a:spAutoFit/>
          </a:bodyPr>
          <a:lstStyle/>
          <a:p>
            <a:pPr algn="r"/>
            <a:r>
              <a:rPr sz="1100" b="1" i="0">
                <a:solidFill>
                  <a:srgbClr val="157A55"/>
                </a:solidFill>
                <a:latin typeface="Calibri"/>
              </a:rPr>
              <a:t>xanh: báo</a:t>
            </a:r>
          </a:p>
        </p:txBody>
      </p:sp>
      <p:cxnSp>
        <p:nvCxnSpPr>
          <p:cNvPr id="50" name="Connector 49"/>
          <p:cNvCxnSpPr/>
          <p:nvPr/>
        </p:nvCxnSpPr>
        <p:spPr>
          <a:xfrm flipH="1">
            <a:off x="6720840" y="3975445"/>
            <a:ext cx="3749040" cy="0"/>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8439912" y="3819997"/>
            <a:ext cx="310896" cy="310896"/>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439912" y="3819997"/>
            <a:ext cx="310896" cy="310896"/>
          </a:xfrm>
          <a:prstGeom prst="rect">
            <a:avLst/>
          </a:prstGeom>
          <a:noFill/>
        </p:spPr>
        <p:txBody>
          <a:bodyPr wrap="square" lIns="0" rIns="0" tIns="0" bIns="0" anchor="ctr">
            <a:spAutoFit/>
          </a:bodyPr>
          <a:lstStyle/>
          <a:p>
            <a:pPr algn="ctr"/>
            <a:r>
              <a:rPr sz="1200" b="1" i="0">
                <a:solidFill>
                  <a:srgbClr val="FFFFFF"/>
                </a:solidFill>
                <a:latin typeface="Calibri"/>
              </a:rPr>
              <a:t>1</a:t>
            </a:r>
          </a:p>
        </p:txBody>
      </p:sp>
      <p:cxnSp>
        <p:nvCxnSpPr>
          <p:cNvPr id="53" name="Connector 52"/>
          <p:cNvCxnSpPr/>
          <p:nvPr/>
        </p:nvCxnSpPr>
        <p:spPr>
          <a:xfrm>
            <a:off x="6720840" y="4196730"/>
            <a:ext cx="3749040" cy="0"/>
          </a:xfrm>
          <a:prstGeom prst="line">
            <a:avLst/>
          </a:prstGeom>
          <a:ln w="15875">
            <a:solidFill>
              <a:srgbClr val="1C2333"/>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20840" y="6409578"/>
            <a:ext cx="3749040" cy="0"/>
          </a:xfrm>
          <a:prstGeom prst="line">
            <a:avLst/>
          </a:prstGeom>
          <a:ln w="22225">
            <a:solidFill>
              <a:srgbClr val="157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315200" y="6153546"/>
            <a:ext cx="1463040" cy="219456"/>
          </a:xfrm>
          <a:prstGeom prst="rect">
            <a:avLst/>
          </a:prstGeom>
          <a:noFill/>
        </p:spPr>
        <p:txBody>
          <a:bodyPr wrap="square" lIns="0" rIns="0" tIns="0" bIns="0" anchor="t">
            <a:spAutoFit/>
          </a:bodyPr>
          <a:lstStyle/>
          <a:p>
            <a:pPr algn="l"/>
            <a:r>
              <a:rPr sz="1000" b="1" i="0">
                <a:solidFill>
                  <a:srgbClr val="157A55"/>
                </a:solidFill>
                <a:latin typeface="Calibri"/>
              </a:rPr>
              <a:t>xanh: merge</a:t>
            </a:r>
          </a:p>
        </p:txBody>
      </p:sp>
      <p:cxnSp>
        <p:nvCxnSpPr>
          <p:cNvPr id="56" name="Connector 55"/>
          <p:cNvCxnSpPr/>
          <p:nvPr/>
        </p:nvCxnSpPr>
        <p:spPr>
          <a:xfrm flipH="1">
            <a:off x="3017520" y="4196730"/>
            <a:ext cx="1234440" cy="0"/>
          </a:xfrm>
          <a:prstGeom prst="line">
            <a:avLst/>
          </a:prstGeom>
          <a:ln w="12700">
            <a:solidFill>
              <a:srgbClr val="1C23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68679" y="1273210"/>
            <a:ext cx="2468880" cy="713232"/>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978407" y="1364650"/>
            <a:ext cx="310896" cy="310896"/>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78407" y="1364650"/>
            <a:ext cx="310896" cy="310896"/>
          </a:xfrm>
          <a:prstGeom prst="rect">
            <a:avLst/>
          </a:prstGeom>
          <a:noFill/>
        </p:spPr>
        <p:txBody>
          <a:bodyPr wrap="square" lIns="0" rIns="0" tIns="0" bIns="0" anchor="ctr">
            <a:spAutoFit/>
          </a:bodyPr>
          <a:lstStyle/>
          <a:p>
            <a:pPr algn="ctr"/>
            <a:r>
              <a:rPr sz="1000" b="1" i="0">
                <a:solidFill>
                  <a:srgbClr val="FFFFFF"/>
                </a:solidFill>
                <a:latin typeface="Calibri"/>
              </a:rPr>
              <a:t>11</a:t>
            </a:r>
          </a:p>
        </p:txBody>
      </p:sp>
      <p:sp>
        <p:nvSpPr>
          <p:cNvPr id="60" name="TextBox 59"/>
          <p:cNvSpPr txBox="1"/>
          <p:nvPr/>
        </p:nvSpPr>
        <p:spPr>
          <a:xfrm>
            <a:off x="1344167" y="1346362"/>
            <a:ext cx="1920240" cy="347472"/>
          </a:xfrm>
          <a:prstGeom prst="rect">
            <a:avLst/>
          </a:prstGeom>
          <a:noFill/>
        </p:spPr>
        <p:txBody>
          <a:bodyPr wrap="square" lIns="0" rIns="0" tIns="0" bIns="0" anchor="ctr">
            <a:spAutoFit/>
          </a:bodyPr>
          <a:lstStyle/>
          <a:p>
            <a:pPr algn="l"/>
            <a:r>
              <a:rPr sz="1500" b="1" i="0">
                <a:solidFill>
                  <a:srgbClr val="1C2333"/>
                </a:solidFill>
                <a:latin typeface="Calibri"/>
              </a:rPr>
              <a:t>FE</a:t>
            </a:r>
          </a:p>
        </p:txBody>
      </p:sp>
      <p:sp>
        <p:nvSpPr>
          <p:cNvPr id="61" name="TextBox 60"/>
          <p:cNvSpPr txBox="1"/>
          <p:nvPr/>
        </p:nvSpPr>
        <p:spPr>
          <a:xfrm>
            <a:off x="941831" y="1712122"/>
            <a:ext cx="2322576" cy="237744"/>
          </a:xfrm>
          <a:prstGeom prst="rect">
            <a:avLst/>
          </a:prstGeom>
          <a:noFill/>
        </p:spPr>
        <p:txBody>
          <a:bodyPr wrap="square" lIns="0" rIns="0" tIns="0" bIns="0" anchor="ctr">
            <a:spAutoFit/>
          </a:bodyPr>
          <a:lstStyle/>
          <a:p>
            <a:pPr algn="ctr"/>
            <a:r>
              <a:rPr sz="1100" b="0" i="0">
                <a:solidFill>
                  <a:srgbClr val="394152"/>
                </a:solidFill>
                <a:latin typeface="Calibri"/>
              </a:rPr>
              <a:t>giao diện, mỗi màn hình một chủ</a:t>
            </a:r>
          </a:p>
        </p:txBody>
      </p:sp>
      <p:sp>
        <p:nvSpPr>
          <p:cNvPr id="62" name="Rounded Rectangle 61"/>
          <p:cNvSpPr/>
          <p:nvPr/>
        </p:nvSpPr>
        <p:spPr>
          <a:xfrm>
            <a:off x="4251960" y="1273210"/>
            <a:ext cx="2468880" cy="713232"/>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4361688" y="1364650"/>
            <a:ext cx="310896" cy="310896"/>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4361688" y="1364650"/>
            <a:ext cx="310896" cy="310896"/>
          </a:xfrm>
          <a:prstGeom prst="rect">
            <a:avLst/>
          </a:prstGeom>
          <a:noFill/>
        </p:spPr>
        <p:txBody>
          <a:bodyPr wrap="square" lIns="0" rIns="0" tIns="0" bIns="0" anchor="ctr">
            <a:spAutoFit/>
          </a:bodyPr>
          <a:lstStyle/>
          <a:p>
            <a:pPr algn="ctr"/>
            <a:r>
              <a:rPr sz="1000" b="1" i="0">
                <a:solidFill>
                  <a:srgbClr val="FFFFFF"/>
                </a:solidFill>
                <a:latin typeface="Calibri"/>
              </a:rPr>
              <a:t>9</a:t>
            </a:r>
          </a:p>
        </p:txBody>
      </p:sp>
      <p:sp>
        <p:nvSpPr>
          <p:cNvPr id="65" name="TextBox 64"/>
          <p:cNvSpPr txBox="1"/>
          <p:nvPr/>
        </p:nvSpPr>
        <p:spPr>
          <a:xfrm>
            <a:off x="4727448" y="1346362"/>
            <a:ext cx="1920240" cy="347472"/>
          </a:xfrm>
          <a:prstGeom prst="rect">
            <a:avLst/>
          </a:prstGeom>
          <a:noFill/>
        </p:spPr>
        <p:txBody>
          <a:bodyPr wrap="square" lIns="0" rIns="0" tIns="0" bIns="0" anchor="ctr">
            <a:spAutoFit/>
          </a:bodyPr>
          <a:lstStyle/>
          <a:p>
            <a:pPr algn="l"/>
            <a:r>
              <a:rPr sz="1500" b="1" i="0">
                <a:solidFill>
                  <a:srgbClr val="1C2333"/>
                </a:solidFill>
                <a:latin typeface="Calibri"/>
              </a:rPr>
              <a:t>BE</a:t>
            </a:r>
          </a:p>
        </p:txBody>
      </p:sp>
      <p:sp>
        <p:nvSpPr>
          <p:cNvPr id="66" name="TextBox 65"/>
          <p:cNvSpPr txBox="1"/>
          <p:nvPr/>
        </p:nvSpPr>
        <p:spPr>
          <a:xfrm>
            <a:off x="4325112" y="1712122"/>
            <a:ext cx="2322576" cy="237744"/>
          </a:xfrm>
          <a:prstGeom prst="rect">
            <a:avLst/>
          </a:prstGeom>
          <a:noFill/>
        </p:spPr>
        <p:txBody>
          <a:bodyPr wrap="square" lIns="0" rIns="0" tIns="0" bIns="0" anchor="ctr">
            <a:spAutoFit/>
          </a:bodyPr>
          <a:lstStyle/>
          <a:p>
            <a:pPr algn="ctr"/>
            <a:r>
              <a:rPr sz="1100" b="0" i="0">
                <a:solidFill>
                  <a:srgbClr val="394152"/>
                </a:solidFill>
                <a:latin typeface="Calibri"/>
              </a:rPr>
              <a:t>API, nghiệp vụ, dữ liệu</a:t>
            </a:r>
          </a:p>
        </p:txBody>
      </p:sp>
      <p:sp>
        <p:nvSpPr>
          <p:cNvPr id="67" name="Rounded Rectangle 66"/>
          <p:cNvSpPr/>
          <p:nvPr/>
        </p:nvSpPr>
        <p:spPr>
          <a:xfrm>
            <a:off x="7635240" y="1273210"/>
            <a:ext cx="2468880" cy="713232"/>
          </a:xfrm>
          <a:prstGeom prst="roundRect">
            <a:avLst/>
          </a:prstGeom>
          <a:solidFill>
            <a:srgbClr val="FFFFFF"/>
          </a:solidFill>
          <a:ln w="15875">
            <a:solidFill>
              <a:srgbClr val="2B59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7744967" y="1364650"/>
            <a:ext cx="310896" cy="310896"/>
          </a:xfrm>
          <a:prstGeom prst="ellipse">
            <a:avLst/>
          </a:prstGeom>
          <a:solidFill>
            <a:srgbClr val="FFFFFF"/>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744967" y="1364650"/>
            <a:ext cx="310896" cy="310896"/>
          </a:xfrm>
          <a:prstGeom prst="rect">
            <a:avLst/>
          </a:prstGeom>
          <a:noFill/>
        </p:spPr>
        <p:txBody>
          <a:bodyPr wrap="square" lIns="0" rIns="0" tIns="0" bIns="0" anchor="ctr">
            <a:spAutoFit/>
          </a:bodyPr>
          <a:lstStyle/>
          <a:p>
            <a:pPr algn="ctr"/>
            <a:r>
              <a:rPr sz="1000" b="1" i="0">
                <a:solidFill>
                  <a:srgbClr val="2B59D9"/>
                </a:solidFill>
                <a:latin typeface="Calibri"/>
              </a:rPr>
              <a:t>7</a:t>
            </a:r>
          </a:p>
        </p:txBody>
      </p:sp>
      <p:sp>
        <p:nvSpPr>
          <p:cNvPr id="70" name="TextBox 69"/>
          <p:cNvSpPr txBox="1"/>
          <p:nvPr/>
        </p:nvSpPr>
        <p:spPr>
          <a:xfrm>
            <a:off x="8110727" y="1346362"/>
            <a:ext cx="1920240" cy="347472"/>
          </a:xfrm>
          <a:prstGeom prst="rect">
            <a:avLst/>
          </a:prstGeom>
          <a:noFill/>
        </p:spPr>
        <p:txBody>
          <a:bodyPr wrap="square" lIns="0" rIns="0" tIns="0" bIns="0" anchor="ctr">
            <a:spAutoFit/>
          </a:bodyPr>
          <a:lstStyle/>
          <a:p>
            <a:pPr algn="l"/>
            <a:r>
              <a:rPr sz="1500" b="1" i="0">
                <a:solidFill>
                  <a:srgbClr val="1C2333"/>
                </a:solidFill>
                <a:latin typeface="Calibri"/>
              </a:rPr>
              <a:t>Mobile / Data / Infra</a:t>
            </a:r>
          </a:p>
        </p:txBody>
      </p:sp>
      <p:sp>
        <p:nvSpPr>
          <p:cNvPr id="71" name="TextBox 70"/>
          <p:cNvSpPr txBox="1"/>
          <p:nvPr/>
        </p:nvSpPr>
        <p:spPr>
          <a:xfrm>
            <a:off x="7708392" y="1712122"/>
            <a:ext cx="2322576" cy="237744"/>
          </a:xfrm>
          <a:prstGeom prst="rect">
            <a:avLst/>
          </a:prstGeom>
          <a:noFill/>
        </p:spPr>
        <p:txBody>
          <a:bodyPr wrap="square" lIns="0" rIns="0" tIns="0" bIns="0" anchor="ctr">
            <a:spAutoFit/>
          </a:bodyPr>
          <a:lstStyle/>
          <a:p>
            <a:pPr algn="ctr"/>
            <a:r>
              <a:rPr sz="1100" b="0" i="0">
                <a:solidFill>
                  <a:srgbClr val="394152"/>
                </a:solidFill>
                <a:latin typeface="Calibri"/>
              </a:rPr>
              <a:t>tuỳ dự án</a:t>
            </a:r>
          </a:p>
        </p:txBody>
      </p:sp>
      <p:sp>
        <p:nvSpPr>
          <p:cNvPr id="72" name="Rounded Rectangle 71"/>
          <p:cNvSpPr/>
          <p:nvPr/>
        </p:nvSpPr>
        <p:spPr>
          <a:xfrm>
            <a:off x="4251960" y="2600919"/>
            <a:ext cx="2468880" cy="713232"/>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4361688" y="2692359"/>
            <a:ext cx="310896" cy="310896"/>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4361688" y="2692359"/>
            <a:ext cx="310896" cy="310896"/>
          </a:xfrm>
          <a:prstGeom prst="rect">
            <a:avLst/>
          </a:prstGeom>
          <a:noFill/>
        </p:spPr>
        <p:txBody>
          <a:bodyPr wrap="square" lIns="0" rIns="0" tIns="0" bIns="0" anchor="ctr">
            <a:spAutoFit/>
          </a:bodyPr>
          <a:lstStyle/>
          <a:p>
            <a:pPr algn="ctr"/>
            <a:r>
              <a:rPr sz="1000" b="1" i="0">
                <a:solidFill>
                  <a:srgbClr val="FFFFFF"/>
                </a:solidFill>
                <a:latin typeface="Calibri"/>
              </a:rPr>
              <a:t>10</a:t>
            </a:r>
          </a:p>
        </p:txBody>
      </p:sp>
      <p:sp>
        <p:nvSpPr>
          <p:cNvPr id="75" name="TextBox 74"/>
          <p:cNvSpPr txBox="1"/>
          <p:nvPr/>
        </p:nvSpPr>
        <p:spPr>
          <a:xfrm>
            <a:off x="4727448" y="2674071"/>
            <a:ext cx="1920240" cy="347472"/>
          </a:xfrm>
          <a:prstGeom prst="rect">
            <a:avLst/>
          </a:prstGeom>
          <a:noFill/>
        </p:spPr>
        <p:txBody>
          <a:bodyPr wrap="square" lIns="0" rIns="0" tIns="0" bIns="0" anchor="ctr">
            <a:spAutoFit/>
          </a:bodyPr>
          <a:lstStyle/>
          <a:p>
            <a:pPr algn="l"/>
            <a:r>
              <a:rPr sz="1500" b="1" i="0">
                <a:solidFill>
                  <a:srgbClr val="1C2333"/>
                </a:solidFill>
                <a:latin typeface="Calibri"/>
              </a:rPr>
              <a:t>Đọc codebase</a:t>
            </a:r>
          </a:p>
        </p:txBody>
      </p:sp>
      <p:sp>
        <p:nvSpPr>
          <p:cNvPr id="76" name="TextBox 75"/>
          <p:cNvSpPr txBox="1"/>
          <p:nvPr/>
        </p:nvSpPr>
        <p:spPr>
          <a:xfrm>
            <a:off x="4325112" y="3039831"/>
            <a:ext cx="2322576" cy="237744"/>
          </a:xfrm>
          <a:prstGeom prst="rect">
            <a:avLst/>
          </a:prstGeom>
          <a:noFill/>
        </p:spPr>
        <p:txBody>
          <a:bodyPr wrap="square" lIns="0" rIns="0" tIns="0" bIns="0" anchor="ctr">
            <a:spAutoFit/>
          </a:bodyPr>
          <a:lstStyle/>
          <a:p>
            <a:pPr algn="ctr"/>
            <a:r>
              <a:rPr sz="1100" b="0" i="0">
                <a:solidFill>
                  <a:srgbClr val="394152"/>
                </a:solidFill>
                <a:latin typeface="Calibri"/>
              </a:rPr>
              <a:t>code, tài liệu, thư viện</a:t>
            </a:r>
          </a:p>
        </p:txBody>
      </p:sp>
      <p:sp>
        <p:nvSpPr>
          <p:cNvPr id="77" name="Rounded Rectangle 76"/>
          <p:cNvSpPr/>
          <p:nvPr/>
        </p:nvSpPr>
        <p:spPr>
          <a:xfrm>
            <a:off x="868679" y="3043488"/>
            <a:ext cx="2468880" cy="713232"/>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978407" y="3134928"/>
            <a:ext cx="310896" cy="310896"/>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978407" y="3134928"/>
            <a:ext cx="310896" cy="310896"/>
          </a:xfrm>
          <a:prstGeom prst="rect">
            <a:avLst/>
          </a:prstGeom>
          <a:noFill/>
        </p:spPr>
        <p:txBody>
          <a:bodyPr wrap="square" lIns="0" rIns="0" tIns="0" bIns="0" anchor="ctr">
            <a:spAutoFit/>
          </a:bodyPr>
          <a:lstStyle/>
          <a:p>
            <a:pPr algn="ctr"/>
            <a:r>
              <a:rPr sz="1000" b="1" i="0">
                <a:solidFill>
                  <a:srgbClr val="FFFFFF"/>
                </a:solidFill>
                <a:latin typeface="Calibri"/>
              </a:rPr>
              <a:t>8</a:t>
            </a:r>
          </a:p>
        </p:txBody>
      </p:sp>
      <p:sp>
        <p:nvSpPr>
          <p:cNvPr id="80" name="TextBox 79"/>
          <p:cNvSpPr txBox="1"/>
          <p:nvPr/>
        </p:nvSpPr>
        <p:spPr>
          <a:xfrm>
            <a:off x="1344167" y="3116640"/>
            <a:ext cx="1920240" cy="347472"/>
          </a:xfrm>
          <a:prstGeom prst="rect">
            <a:avLst/>
          </a:prstGeom>
          <a:noFill/>
        </p:spPr>
        <p:txBody>
          <a:bodyPr wrap="square" lIns="0" rIns="0" tIns="0" bIns="0" anchor="ctr">
            <a:spAutoFit/>
          </a:bodyPr>
          <a:lstStyle/>
          <a:p>
            <a:pPr algn="l"/>
            <a:r>
              <a:rPr sz="1500" b="1" i="0">
                <a:solidFill>
                  <a:srgbClr val="1C2333"/>
                </a:solidFill>
                <a:latin typeface="Calibri"/>
              </a:rPr>
              <a:t>SA</a:t>
            </a:r>
          </a:p>
        </p:txBody>
      </p:sp>
      <p:sp>
        <p:nvSpPr>
          <p:cNvPr id="81" name="TextBox 80"/>
          <p:cNvSpPr txBox="1"/>
          <p:nvPr/>
        </p:nvSpPr>
        <p:spPr>
          <a:xfrm>
            <a:off x="941831" y="3482400"/>
            <a:ext cx="2322576" cy="237744"/>
          </a:xfrm>
          <a:prstGeom prst="rect">
            <a:avLst/>
          </a:prstGeom>
          <a:noFill/>
        </p:spPr>
        <p:txBody>
          <a:bodyPr wrap="square" lIns="0" rIns="0" tIns="0" bIns="0" anchor="ctr">
            <a:spAutoFit/>
          </a:bodyPr>
          <a:lstStyle/>
          <a:p>
            <a:pPr algn="ctr"/>
            <a:r>
              <a:rPr sz="1100" b="0" i="0">
                <a:solidFill>
                  <a:srgbClr val="394152"/>
                </a:solidFill>
                <a:latin typeface="Calibri"/>
              </a:rPr>
              <a:t>hợp đồng API, đóng băng</a:t>
            </a:r>
          </a:p>
        </p:txBody>
      </p:sp>
      <p:sp>
        <p:nvSpPr>
          <p:cNvPr id="82" name="Rounded Rectangle 81"/>
          <p:cNvSpPr/>
          <p:nvPr/>
        </p:nvSpPr>
        <p:spPr>
          <a:xfrm>
            <a:off x="7635240" y="3043488"/>
            <a:ext cx="2468880" cy="713232"/>
          </a:xfrm>
          <a:prstGeom prst="roundRect">
            <a:avLst/>
          </a:prstGeom>
          <a:solidFill>
            <a:srgbClr val="FFFFFF"/>
          </a:solidFill>
          <a:ln w="15875">
            <a:solidFill>
              <a:srgbClr val="2B59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7744967" y="3134928"/>
            <a:ext cx="310896" cy="310896"/>
          </a:xfrm>
          <a:prstGeom prst="ellipse">
            <a:avLst/>
          </a:prstGeom>
          <a:solidFill>
            <a:srgbClr val="FFFFFF"/>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7744967" y="3134928"/>
            <a:ext cx="310896" cy="310896"/>
          </a:xfrm>
          <a:prstGeom prst="rect">
            <a:avLst/>
          </a:prstGeom>
          <a:noFill/>
        </p:spPr>
        <p:txBody>
          <a:bodyPr wrap="square" lIns="0" rIns="0" tIns="0" bIns="0" anchor="ctr">
            <a:spAutoFit/>
          </a:bodyPr>
          <a:lstStyle/>
          <a:p>
            <a:pPr algn="ctr"/>
            <a:r>
              <a:rPr sz="1000" b="1" i="0">
                <a:solidFill>
                  <a:srgbClr val="2B59D9"/>
                </a:solidFill>
                <a:latin typeface="Calibri"/>
              </a:rPr>
              <a:t>14</a:t>
            </a:r>
          </a:p>
        </p:txBody>
      </p:sp>
      <p:sp>
        <p:nvSpPr>
          <p:cNvPr id="85" name="TextBox 84"/>
          <p:cNvSpPr txBox="1"/>
          <p:nvPr/>
        </p:nvSpPr>
        <p:spPr>
          <a:xfrm>
            <a:off x="8110727" y="3116640"/>
            <a:ext cx="1920240" cy="347472"/>
          </a:xfrm>
          <a:prstGeom prst="rect">
            <a:avLst/>
          </a:prstGeom>
          <a:noFill/>
        </p:spPr>
        <p:txBody>
          <a:bodyPr wrap="square" lIns="0" rIns="0" tIns="0" bIns="0" anchor="ctr">
            <a:spAutoFit/>
          </a:bodyPr>
          <a:lstStyle/>
          <a:p>
            <a:pPr algn="l"/>
            <a:r>
              <a:rPr sz="1500" b="1" i="0">
                <a:solidFill>
                  <a:srgbClr val="1C2333"/>
                </a:solidFill>
                <a:latin typeface="Calibri"/>
              </a:rPr>
              <a:t>Benchmark</a:t>
            </a:r>
          </a:p>
        </p:txBody>
      </p:sp>
      <p:sp>
        <p:nvSpPr>
          <p:cNvPr id="86" name="TextBox 85"/>
          <p:cNvSpPr txBox="1"/>
          <p:nvPr/>
        </p:nvSpPr>
        <p:spPr>
          <a:xfrm>
            <a:off x="7708392" y="3482400"/>
            <a:ext cx="2322576" cy="237744"/>
          </a:xfrm>
          <a:prstGeom prst="rect">
            <a:avLst/>
          </a:prstGeom>
          <a:noFill/>
        </p:spPr>
        <p:txBody>
          <a:bodyPr wrap="square" lIns="0" rIns="0" tIns="0" bIns="0" anchor="ctr">
            <a:spAutoFit/>
          </a:bodyPr>
          <a:lstStyle/>
          <a:p>
            <a:pPr algn="ctr"/>
            <a:r>
              <a:rPr sz="1100" b="0" i="0">
                <a:solidFill>
                  <a:srgbClr val="394152"/>
                </a:solidFill>
                <a:latin typeface="Calibri"/>
              </a:rPr>
              <a:t>đo, profiling</a:t>
            </a:r>
          </a:p>
        </p:txBody>
      </p:sp>
      <p:sp>
        <p:nvSpPr>
          <p:cNvPr id="87" name="Rounded Rectangle 86"/>
          <p:cNvSpPr/>
          <p:nvPr/>
        </p:nvSpPr>
        <p:spPr>
          <a:xfrm>
            <a:off x="4251960" y="3707343"/>
            <a:ext cx="2468880" cy="713232"/>
          </a:xfrm>
          <a:prstGeom prst="roundRect">
            <a:avLst/>
          </a:prstGeom>
          <a:solidFill>
            <a:srgbClr val="FFFFFF"/>
          </a:solidFill>
          <a:ln w="2540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4361688" y="3798783"/>
            <a:ext cx="310896" cy="310896"/>
          </a:xfrm>
          <a:prstGeom prst="ellipse">
            <a:avLst/>
          </a:prstGeom>
          <a:solidFill>
            <a:srgbClr val="1C2333"/>
          </a:solidFill>
          <a:ln w="15875">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4361688" y="3798783"/>
            <a:ext cx="310896" cy="310896"/>
          </a:xfrm>
          <a:prstGeom prst="rect">
            <a:avLst/>
          </a:prstGeom>
          <a:noFill/>
        </p:spPr>
        <p:txBody>
          <a:bodyPr wrap="square" lIns="0" rIns="0" tIns="0" bIns="0" anchor="ctr">
            <a:spAutoFit/>
          </a:bodyPr>
          <a:lstStyle/>
          <a:p>
            <a:pPr algn="ctr"/>
            <a:r>
              <a:rPr sz="1000" b="1" i="0">
                <a:solidFill>
                  <a:srgbClr val="FFFFFF"/>
                </a:solidFill>
                <a:latin typeface="Calibri"/>
              </a:rPr>
              <a:t>6</a:t>
            </a:r>
          </a:p>
        </p:txBody>
      </p:sp>
      <p:sp>
        <p:nvSpPr>
          <p:cNvPr id="90" name="TextBox 89"/>
          <p:cNvSpPr txBox="1"/>
          <p:nvPr/>
        </p:nvSpPr>
        <p:spPr>
          <a:xfrm>
            <a:off x="4727448" y="3780495"/>
            <a:ext cx="1920240" cy="347472"/>
          </a:xfrm>
          <a:prstGeom prst="rect">
            <a:avLst/>
          </a:prstGeom>
          <a:noFill/>
        </p:spPr>
        <p:txBody>
          <a:bodyPr wrap="square" lIns="0" rIns="0" tIns="0" bIns="0" anchor="ctr">
            <a:spAutoFit/>
          </a:bodyPr>
          <a:lstStyle/>
          <a:p>
            <a:pPr algn="l"/>
            <a:r>
              <a:rPr sz="1500" b="1" i="0">
                <a:solidFill>
                  <a:srgbClr val="1C2333"/>
                </a:solidFill>
                <a:latin typeface="Calibri"/>
              </a:rPr>
              <a:t>Điều phối</a:t>
            </a:r>
          </a:p>
        </p:txBody>
      </p:sp>
      <p:sp>
        <p:nvSpPr>
          <p:cNvPr id="91" name="TextBox 90"/>
          <p:cNvSpPr txBox="1"/>
          <p:nvPr/>
        </p:nvSpPr>
        <p:spPr>
          <a:xfrm>
            <a:off x="4325112" y="4146255"/>
            <a:ext cx="2322576" cy="237744"/>
          </a:xfrm>
          <a:prstGeom prst="rect">
            <a:avLst/>
          </a:prstGeom>
          <a:noFill/>
        </p:spPr>
        <p:txBody>
          <a:bodyPr wrap="square" lIns="0" rIns="0" tIns="0" bIns="0" anchor="ctr">
            <a:spAutoFit/>
          </a:bodyPr>
          <a:lstStyle/>
          <a:p>
            <a:pPr algn="ctr"/>
            <a:r>
              <a:rPr sz="1100" b="0" i="0">
                <a:solidFill>
                  <a:srgbClr val="394152"/>
                </a:solidFill>
                <a:latin typeface="Calibri"/>
              </a:rPr>
              <a:t>Tech lead / PM, issue tracker</a:t>
            </a:r>
          </a:p>
        </p:txBody>
      </p:sp>
      <p:sp>
        <p:nvSpPr>
          <p:cNvPr id="92" name="Rounded Rectangle 91"/>
          <p:cNvSpPr/>
          <p:nvPr/>
        </p:nvSpPr>
        <p:spPr>
          <a:xfrm>
            <a:off x="868680" y="3840114"/>
            <a:ext cx="2148840" cy="713232"/>
          </a:xfrm>
          <a:prstGeom prst="roundRect">
            <a:avLst/>
          </a:prstGeom>
          <a:solidFill>
            <a:srgbClr val="FFFFFF"/>
          </a:solidFill>
          <a:ln w="15875">
            <a:solidFill>
              <a:srgbClr val="5F6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960120" y="3913266"/>
            <a:ext cx="1600200" cy="347472"/>
          </a:xfrm>
          <a:prstGeom prst="rect">
            <a:avLst/>
          </a:prstGeom>
          <a:noFill/>
        </p:spPr>
        <p:txBody>
          <a:bodyPr wrap="square" lIns="0" rIns="0" tIns="0" bIns="0" anchor="ctr">
            <a:spAutoFit/>
          </a:bodyPr>
          <a:lstStyle/>
          <a:p>
            <a:pPr algn="ctr"/>
            <a:r>
              <a:rPr sz="1500" b="1" i="0">
                <a:solidFill>
                  <a:srgbClr val="1C2333"/>
                </a:solidFill>
                <a:latin typeface="Calibri"/>
              </a:rPr>
              <a:t>Dự bị</a:t>
            </a:r>
          </a:p>
        </p:txBody>
      </p:sp>
      <p:sp>
        <p:nvSpPr>
          <p:cNvPr id="94" name="TextBox 93"/>
          <p:cNvSpPr txBox="1"/>
          <p:nvPr/>
        </p:nvSpPr>
        <p:spPr>
          <a:xfrm>
            <a:off x="941832" y="4279026"/>
            <a:ext cx="2002536" cy="237744"/>
          </a:xfrm>
          <a:prstGeom prst="rect">
            <a:avLst/>
          </a:prstGeom>
          <a:noFill/>
        </p:spPr>
        <p:txBody>
          <a:bodyPr wrap="square" lIns="0" rIns="0" tIns="0" bIns="0" anchor="ctr">
            <a:spAutoFit/>
          </a:bodyPr>
          <a:lstStyle/>
          <a:p>
            <a:pPr algn="ctr"/>
            <a:r>
              <a:rPr sz="1100" b="0" i="0">
                <a:solidFill>
                  <a:srgbClr val="394152"/>
                </a:solidFill>
                <a:latin typeface="Calibri"/>
              </a:rPr>
              <a:t>thay khi ngữ cảnh ≥ 50%</a:t>
            </a:r>
          </a:p>
        </p:txBody>
      </p:sp>
      <p:sp>
        <p:nvSpPr>
          <p:cNvPr id="95" name="Rounded Rectangle 94"/>
          <p:cNvSpPr/>
          <p:nvPr/>
        </p:nvSpPr>
        <p:spPr>
          <a:xfrm>
            <a:off x="868679" y="4858024"/>
            <a:ext cx="2468880" cy="713232"/>
          </a:xfrm>
          <a:prstGeom prst="roundRect">
            <a:avLst/>
          </a:prstGeom>
          <a:solidFill>
            <a:srgbClr val="FFFFFF"/>
          </a:solidFill>
          <a:ln w="15875">
            <a:solidFill>
              <a:srgbClr val="C93A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978407" y="4949464"/>
            <a:ext cx="310896" cy="310896"/>
          </a:xfrm>
          <a:prstGeom prst="ellipse">
            <a:avLst/>
          </a:prstGeom>
          <a:solidFill>
            <a:srgbClr val="FFFFFF"/>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978407" y="4949464"/>
            <a:ext cx="310896" cy="310896"/>
          </a:xfrm>
          <a:prstGeom prst="rect">
            <a:avLst/>
          </a:prstGeom>
          <a:noFill/>
        </p:spPr>
        <p:txBody>
          <a:bodyPr wrap="square" lIns="0" rIns="0" tIns="0" bIns="0" anchor="ctr">
            <a:spAutoFit/>
          </a:bodyPr>
          <a:lstStyle/>
          <a:p>
            <a:pPr algn="ctr"/>
            <a:r>
              <a:rPr sz="1000" b="1" i="0">
                <a:solidFill>
                  <a:srgbClr val="C93A2A"/>
                </a:solidFill>
                <a:latin typeface="Calibri"/>
              </a:rPr>
              <a:t>3</a:t>
            </a:r>
          </a:p>
        </p:txBody>
      </p:sp>
      <p:sp>
        <p:nvSpPr>
          <p:cNvPr id="98" name="TextBox 97"/>
          <p:cNvSpPr txBox="1"/>
          <p:nvPr/>
        </p:nvSpPr>
        <p:spPr>
          <a:xfrm>
            <a:off x="1344167" y="4931176"/>
            <a:ext cx="1920240" cy="347472"/>
          </a:xfrm>
          <a:prstGeom prst="rect">
            <a:avLst/>
          </a:prstGeom>
          <a:noFill/>
        </p:spPr>
        <p:txBody>
          <a:bodyPr wrap="square" lIns="0" rIns="0" tIns="0" bIns="0" anchor="ctr">
            <a:spAutoFit/>
          </a:bodyPr>
          <a:lstStyle/>
          <a:p>
            <a:pPr algn="l"/>
            <a:r>
              <a:rPr sz="1500" b="1" i="0">
                <a:solidFill>
                  <a:srgbClr val="1C2333"/>
                </a:solidFill>
                <a:latin typeface="Calibri"/>
              </a:rPr>
              <a:t>Phụ thuộc</a:t>
            </a:r>
          </a:p>
        </p:txBody>
      </p:sp>
      <p:sp>
        <p:nvSpPr>
          <p:cNvPr id="99" name="TextBox 98"/>
          <p:cNvSpPr txBox="1"/>
          <p:nvPr/>
        </p:nvSpPr>
        <p:spPr>
          <a:xfrm>
            <a:off x="941831" y="5296936"/>
            <a:ext cx="2322576" cy="237744"/>
          </a:xfrm>
          <a:prstGeom prst="rect">
            <a:avLst/>
          </a:prstGeom>
          <a:noFill/>
        </p:spPr>
        <p:txBody>
          <a:bodyPr wrap="square" lIns="0" rIns="0" tIns="0" bIns="0" anchor="ctr">
            <a:spAutoFit/>
          </a:bodyPr>
          <a:lstStyle/>
          <a:p>
            <a:pPr algn="ctr"/>
            <a:r>
              <a:rPr sz="1100" b="0" i="0">
                <a:solidFill>
                  <a:srgbClr val="394152"/>
                </a:solidFill>
                <a:latin typeface="Calibri"/>
              </a:rPr>
              <a:t>thư viện, giấy phép, lỗ hổng</a:t>
            </a:r>
          </a:p>
        </p:txBody>
      </p:sp>
      <p:sp>
        <p:nvSpPr>
          <p:cNvPr id="100" name="Rounded Rectangle 99"/>
          <p:cNvSpPr/>
          <p:nvPr/>
        </p:nvSpPr>
        <p:spPr>
          <a:xfrm>
            <a:off x="4251960" y="4858024"/>
            <a:ext cx="2468880" cy="713232"/>
          </a:xfrm>
          <a:prstGeom prst="roundRect">
            <a:avLst/>
          </a:prstGeom>
          <a:solidFill>
            <a:srgbClr val="FFFFFF"/>
          </a:solidFill>
          <a:ln w="2540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4361688" y="4949464"/>
            <a:ext cx="310896" cy="310896"/>
          </a:xfrm>
          <a:prstGeom prst="ellipse">
            <a:avLst/>
          </a:prstGeom>
          <a:solidFill>
            <a:srgbClr val="C93A2A"/>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4361688" y="4949464"/>
            <a:ext cx="310896" cy="310896"/>
          </a:xfrm>
          <a:prstGeom prst="rect">
            <a:avLst/>
          </a:prstGeom>
          <a:noFill/>
        </p:spPr>
        <p:txBody>
          <a:bodyPr wrap="square" lIns="0" rIns="0" tIns="0" bIns="0" anchor="ctr">
            <a:spAutoFit/>
          </a:bodyPr>
          <a:lstStyle/>
          <a:p>
            <a:pPr algn="ctr"/>
            <a:r>
              <a:rPr sz="1000" b="1" i="0">
                <a:solidFill>
                  <a:srgbClr val="FFFFFF"/>
                </a:solidFill>
                <a:latin typeface="Calibri"/>
              </a:rPr>
              <a:t>4</a:t>
            </a:r>
          </a:p>
        </p:txBody>
      </p:sp>
      <p:sp>
        <p:nvSpPr>
          <p:cNvPr id="103" name="TextBox 102"/>
          <p:cNvSpPr txBox="1"/>
          <p:nvPr/>
        </p:nvSpPr>
        <p:spPr>
          <a:xfrm>
            <a:off x="4727448" y="4931176"/>
            <a:ext cx="1920240" cy="347472"/>
          </a:xfrm>
          <a:prstGeom prst="rect">
            <a:avLst/>
          </a:prstGeom>
          <a:noFill/>
        </p:spPr>
        <p:txBody>
          <a:bodyPr wrap="square" lIns="0" rIns="0" tIns="0" bIns="0" anchor="ctr">
            <a:spAutoFit/>
          </a:bodyPr>
          <a:lstStyle/>
          <a:p>
            <a:pPr algn="l"/>
            <a:r>
              <a:rPr sz="1500" b="1" i="0">
                <a:solidFill>
                  <a:srgbClr val="1C2333"/>
                </a:solidFill>
                <a:latin typeface="Calibri"/>
              </a:rPr>
              <a:t>Phá (QA)</a:t>
            </a:r>
          </a:p>
        </p:txBody>
      </p:sp>
      <p:sp>
        <p:nvSpPr>
          <p:cNvPr id="104" name="TextBox 103"/>
          <p:cNvSpPr txBox="1"/>
          <p:nvPr/>
        </p:nvSpPr>
        <p:spPr>
          <a:xfrm>
            <a:off x="4325112" y="5296936"/>
            <a:ext cx="2322576" cy="237744"/>
          </a:xfrm>
          <a:prstGeom prst="rect">
            <a:avLst/>
          </a:prstGeom>
          <a:noFill/>
        </p:spPr>
        <p:txBody>
          <a:bodyPr wrap="square" lIns="0" rIns="0" tIns="0" bIns="0" anchor="ctr">
            <a:spAutoFit/>
          </a:bodyPr>
          <a:lstStyle/>
          <a:p>
            <a:pPr algn="ctr"/>
            <a:r>
              <a:rPr sz="1100" b="0" i="0">
                <a:solidFill>
                  <a:srgbClr val="394152"/>
                </a:solidFill>
                <a:latin typeface="Calibri"/>
              </a:rPr>
              <a:t>sinh test, fuzzing, test ẩn</a:t>
            </a:r>
          </a:p>
        </p:txBody>
      </p:sp>
      <p:sp>
        <p:nvSpPr>
          <p:cNvPr id="105" name="Rounded Rectangle 104"/>
          <p:cNvSpPr/>
          <p:nvPr/>
        </p:nvSpPr>
        <p:spPr>
          <a:xfrm>
            <a:off x="7635240" y="4858024"/>
            <a:ext cx="2468880" cy="713232"/>
          </a:xfrm>
          <a:prstGeom prst="roundRect">
            <a:avLst/>
          </a:prstGeom>
          <a:solidFill>
            <a:srgbClr val="FFFFFF"/>
          </a:solidFill>
          <a:ln w="15875">
            <a:solidFill>
              <a:srgbClr val="C93A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7744967" y="4949464"/>
            <a:ext cx="310896" cy="310896"/>
          </a:xfrm>
          <a:prstGeom prst="ellipse">
            <a:avLst/>
          </a:prstGeom>
          <a:solidFill>
            <a:srgbClr val="FFFFFF"/>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7744967" y="4949464"/>
            <a:ext cx="310896" cy="310896"/>
          </a:xfrm>
          <a:prstGeom prst="rect">
            <a:avLst/>
          </a:prstGeom>
          <a:noFill/>
        </p:spPr>
        <p:txBody>
          <a:bodyPr wrap="square" lIns="0" rIns="0" tIns="0" bIns="0" anchor="ctr">
            <a:spAutoFit/>
          </a:bodyPr>
          <a:lstStyle/>
          <a:p>
            <a:pPr algn="ctr"/>
            <a:r>
              <a:rPr sz="1000" b="1" i="0">
                <a:solidFill>
                  <a:srgbClr val="C93A2A"/>
                </a:solidFill>
                <a:latin typeface="Calibri"/>
              </a:rPr>
              <a:t>2</a:t>
            </a:r>
          </a:p>
        </p:txBody>
      </p:sp>
      <p:sp>
        <p:nvSpPr>
          <p:cNvPr id="108" name="TextBox 107"/>
          <p:cNvSpPr txBox="1"/>
          <p:nvPr/>
        </p:nvSpPr>
        <p:spPr>
          <a:xfrm>
            <a:off x="8110727" y="4931176"/>
            <a:ext cx="1920240" cy="347472"/>
          </a:xfrm>
          <a:prstGeom prst="rect">
            <a:avLst/>
          </a:prstGeom>
          <a:noFill/>
        </p:spPr>
        <p:txBody>
          <a:bodyPr wrap="square" lIns="0" rIns="0" tIns="0" bIns="0" anchor="ctr">
            <a:spAutoFit/>
          </a:bodyPr>
          <a:lstStyle/>
          <a:p>
            <a:pPr algn="l"/>
            <a:r>
              <a:rPr sz="1500" b="1" i="0">
                <a:solidFill>
                  <a:srgbClr val="1C2333"/>
                </a:solidFill>
                <a:latin typeface="Calibri"/>
              </a:rPr>
              <a:t>Review (QA)</a:t>
            </a:r>
          </a:p>
        </p:txBody>
      </p:sp>
      <p:sp>
        <p:nvSpPr>
          <p:cNvPr id="109" name="TextBox 108"/>
          <p:cNvSpPr txBox="1"/>
          <p:nvPr/>
        </p:nvSpPr>
        <p:spPr>
          <a:xfrm>
            <a:off x="7708392" y="5296936"/>
            <a:ext cx="2322576" cy="237744"/>
          </a:xfrm>
          <a:prstGeom prst="rect">
            <a:avLst/>
          </a:prstGeom>
          <a:noFill/>
        </p:spPr>
        <p:txBody>
          <a:bodyPr wrap="square" lIns="0" rIns="0" tIns="0" bIns="0" anchor="ctr">
            <a:spAutoFit/>
          </a:bodyPr>
          <a:lstStyle/>
          <a:p>
            <a:pPr algn="ctr"/>
            <a:r>
              <a:rPr sz="1100" b="0" i="0">
                <a:solidFill>
                  <a:srgbClr val="394152"/>
                </a:solidFill>
                <a:latin typeface="Calibri"/>
              </a:rPr>
              <a:t>đọc diff, model khác họ</a:t>
            </a:r>
          </a:p>
        </p:txBody>
      </p:sp>
      <p:sp>
        <p:nvSpPr>
          <p:cNvPr id="110" name="Rounded Rectangle 109"/>
          <p:cNvSpPr/>
          <p:nvPr/>
        </p:nvSpPr>
        <p:spPr>
          <a:xfrm>
            <a:off x="4251960" y="5875934"/>
            <a:ext cx="2468880" cy="713232"/>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Oval 110"/>
          <p:cNvSpPr/>
          <p:nvPr/>
        </p:nvSpPr>
        <p:spPr>
          <a:xfrm>
            <a:off x="4361688" y="5967374"/>
            <a:ext cx="310896" cy="310896"/>
          </a:xfrm>
          <a:prstGeom prst="ellipse">
            <a:avLst/>
          </a:prstGeom>
          <a:solidFill>
            <a:srgbClr val="A86C0E"/>
          </a:solidFill>
          <a:ln w="15875">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4361688" y="5967374"/>
            <a:ext cx="310896" cy="310896"/>
          </a:xfrm>
          <a:prstGeom prst="rect">
            <a:avLst/>
          </a:prstGeom>
          <a:noFill/>
        </p:spPr>
        <p:txBody>
          <a:bodyPr wrap="square" lIns="0" rIns="0" tIns="0" bIns="0" anchor="ctr">
            <a:spAutoFit/>
          </a:bodyPr>
          <a:lstStyle/>
          <a:p>
            <a:pPr algn="ctr"/>
            <a:r>
              <a:rPr sz="1000" b="1" i="0">
                <a:solidFill>
                  <a:srgbClr val="FFFFFF"/>
                </a:solidFill>
                <a:latin typeface="Calibri"/>
              </a:rPr>
              <a:t>1</a:t>
            </a:r>
          </a:p>
        </p:txBody>
      </p:sp>
      <p:sp>
        <p:nvSpPr>
          <p:cNvPr id="113" name="TextBox 112"/>
          <p:cNvSpPr txBox="1"/>
          <p:nvPr/>
        </p:nvSpPr>
        <p:spPr>
          <a:xfrm>
            <a:off x="4727448" y="5949086"/>
            <a:ext cx="1920240" cy="347472"/>
          </a:xfrm>
          <a:prstGeom prst="rect">
            <a:avLst/>
          </a:prstGeom>
          <a:noFill/>
        </p:spPr>
        <p:txBody>
          <a:bodyPr wrap="square" lIns="0" rIns="0" tIns="0" bIns="0" anchor="ctr">
            <a:spAutoFit/>
          </a:bodyPr>
          <a:lstStyle/>
          <a:p>
            <a:pPr algn="l"/>
            <a:r>
              <a:rPr sz="1500" b="1" i="0">
                <a:solidFill>
                  <a:srgbClr val="1C2333"/>
                </a:solidFill>
                <a:latin typeface="Calibri"/>
              </a:rPr>
              <a:t>CI (DevOps)</a:t>
            </a:r>
          </a:p>
        </p:txBody>
      </p:sp>
      <p:sp>
        <p:nvSpPr>
          <p:cNvPr id="114" name="TextBox 113"/>
          <p:cNvSpPr txBox="1"/>
          <p:nvPr/>
        </p:nvSpPr>
        <p:spPr>
          <a:xfrm>
            <a:off x="4325112" y="6314846"/>
            <a:ext cx="2322576" cy="237744"/>
          </a:xfrm>
          <a:prstGeom prst="rect">
            <a:avLst/>
          </a:prstGeom>
          <a:noFill/>
        </p:spPr>
        <p:txBody>
          <a:bodyPr wrap="square" lIns="0" rIns="0" tIns="0" bIns="0" anchor="ctr">
            <a:spAutoFit/>
          </a:bodyPr>
          <a:lstStyle/>
          <a:p>
            <a:pPr algn="ctr"/>
            <a:r>
              <a:rPr sz="1100" b="0" i="0">
                <a:solidFill>
                  <a:srgbClr val="394152"/>
                </a:solidFill>
                <a:latin typeface="Calibri"/>
              </a:rPr>
              <a:t>pipeline, môi trường, bộ đếm</a:t>
            </a:r>
          </a:p>
        </p:txBody>
      </p:sp>
      <p:sp>
        <p:nvSpPr>
          <p:cNvPr id="115" name="Rounded Rectangle 114"/>
          <p:cNvSpPr/>
          <p:nvPr/>
        </p:nvSpPr>
        <p:spPr>
          <a:xfrm>
            <a:off x="10469880" y="3518245"/>
            <a:ext cx="1325880" cy="914400"/>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10469880" y="3563965"/>
            <a:ext cx="1325880" cy="822960"/>
          </a:xfrm>
          <a:prstGeom prst="rect">
            <a:avLst/>
          </a:prstGeom>
          <a:noFill/>
        </p:spPr>
        <p:txBody>
          <a:bodyPr wrap="square" lIns="0" rIns="0" tIns="0" bIns="0" anchor="ctr">
            <a:spAutoFit/>
          </a:bodyPr>
          <a:lstStyle/>
          <a:p>
            <a:pPr algn="ctr"/>
            <a:r>
              <a:rPr sz="1300" b="1" i="0">
                <a:solidFill>
                  <a:srgbClr val="FFFFFF"/>
                </a:solidFill>
                <a:latin typeface="Calibri"/>
              </a:rPr>
              <a:t>HLV (bạn)</a:t>
            </a:r>
          </a:p>
          <a:p>
            <a:pPr algn="ctr"/>
            <a:r>
              <a:rPr sz="1100" b="1" i="0">
                <a:solidFill>
                  <a:srgbClr val="FFFFFF"/>
                </a:solidFill>
                <a:latin typeface="Calibri"/>
              </a:rPr>
              <a:t>+ ChatGPT</a:t>
            </a:r>
          </a:p>
          <a:p>
            <a:pPr algn="ctr"/>
            <a:r>
              <a:rPr sz="1000" b="0" i="0">
                <a:solidFill>
                  <a:srgbClr val="E6E8EC"/>
                </a:solidFill>
                <a:latin typeface="Calibri"/>
              </a:rPr>
              <a:t>PO/BA: đặc tả</a:t>
            </a:r>
          </a:p>
        </p:txBody>
      </p:sp>
      <p:sp>
        <p:nvSpPr>
          <p:cNvPr id="117" name="Rounded Rectangle 116"/>
          <p:cNvSpPr/>
          <p:nvPr/>
        </p:nvSpPr>
        <p:spPr>
          <a:xfrm>
            <a:off x="10469880" y="6025530"/>
            <a:ext cx="1325880" cy="768096"/>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10469880" y="6043818"/>
            <a:ext cx="1325880" cy="731520"/>
          </a:xfrm>
          <a:prstGeom prst="rect">
            <a:avLst/>
          </a:prstGeom>
          <a:noFill/>
        </p:spPr>
        <p:txBody>
          <a:bodyPr wrap="square" lIns="0" rIns="0" tIns="0" bIns="0" anchor="ctr">
            <a:spAutoFit/>
          </a:bodyPr>
          <a:lstStyle/>
          <a:p>
            <a:pPr algn="ctr"/>
            <a:r>
              <a:rPr sz="1300" b="1" i="0">
                <a:solidFill>
                  <a:srgbClr val="1C2333"/>
                </a:solidFill>
                <a:latin typeface="Calibri"/>
              </a:rPr>
              <a:t>Nhánh main</a:t>
            </a:r>
          </a:p>
          <a:p>
            <a:pPr algn="ctr"/>
            <a:r>
              <a:rPr sz="1000" b="0" i="0">
                <a:solidFill>
                  <a:srgbClr val="394152"/>
                </a:solidFill>
                <a:latin typeface="Calibri"/>
              </a:rPr>
              <a:t>chỉ CI được merge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Đổi vai: từ đội toán sang đội coding</a:t>
            </a:r>
          </a:p>
        </p:txBody>
      </p:sp>
      <p:graphicFrame>
        <p:nvGraphicFramePr>
          <p:cNvPr id="3" name="Table 2"/>
          <p:cNvGraphicFramePr>
            <a:graphicFrameLocks noGrp="1"/>
          </p:cNvGraphicFramePr>
          <p:nvPr/>
        </p:nvGraphicFramePr>
        <p:xfrm>
          <a:off x="548640" y="1234440"/>
          <a:ext cx="11064240" cy="5111496"/>
        </p:xfrm>
        <a:graphic>
          <a:graphicData uri="http://schemas.openxmlformats.org/drawingml/2006/table">
            <a:tbl>
              <a:tblPr firstRow="1" bandRow="1">
                <a:tableStyleId>{5C22544A-7EE6-4342-B048-85BDC9FD1C3A}</a:tableStyleId>
              </a:tblPr>
              <a:tblGrid>
                <a:gridCol w="2468880"/>
                <a:gridCol w="2468880"/>
                <a:gridCol w="4114800"/>
                <a:gridCol w="2011680"/>
              </a:tblGrid>
              <a:tr h="393192">
                <a:tc>
                  <a:txBody>
                    <a:bodyPr/>
                    <a:lstStyle/>
                    <a:p>
                      <a:r>
                        <a:rPr sz="1300" b="1">
                          <a:solidFill>
                            <a:srgbClr val="FFFFFF"/>
                          </a:solidFill>
                          <a:latin typeface="Calibri"/>
                        </a:rPr>
                        <a:t>Ghế</a:t>
                      </a:r>
                    </a:p>
                  </a:txBody>
                  <a:tcPr marL="91440" marR="91440" marT="45720" marB="45720" anchor="ctr">
                    <a:solidFill>
                      <a:srgbClr val="2B59D9"/>
                    </a:solidFill>
                  </a:tcPr>
                </a:tc>
                <a:tc>
                  <a:txBody>
                    <a:bodyPr/>
                    <a:lstStyle/>
                    <a:p>
                      <a:r>
                        <a:rPr sz="1300" b="1">
                          <a:solidFill>
                            <a:srgbClr val="FFFFFF"/>
                          </a:solidFill>
                          <a:latin typeface="Calibri"/>
                        </a:rPr>
                        <a:t>Đội toán</a:t>
                      </a:r>
                    </a:p>
                  </a:txBody>
                  <a:tcPr marL="91440" marR="91440" marT="45720" marB="45720" anchor="ctr">
                    <a:solidFill>
                      <a:srgbClr val="2B59D9"/>
                    </a:solidFill>
                  </a:tcPr>
                </a:tc>
                <a:tc>
                  <a:txBody>
                    <a:bodyPr/>
                    <a:lstStyle/>
                    <a:p>
                      <a:r>
                        <a:rPr sz="1300" b="1">
                          <a:solidFill>
                            <a:srgbClr val="FFFFFF"/>
                          </a:solidFill>
                          <a:latin typeface="Calibri"/>
                        </a:rPr>
                        <a:t>Đội coding</a:t>
                      </a:r>
                    </a:p>
                  </a:txBody>
                  <a:tcPr marL="91440" marR="91440" marT="45720" marB="45720" anchor="ctr">
                    <a:solidFill>
                      <a:srgbClr val="2B59D9"/>
                    </a:solidFill>
                  </a:tcPr>
                </a:tc>
                <a:tc>
                  <a:txBody>
                    <a:bodyPr/>
                    <a:lstStyle/>
                    <a:p>
                      <a:r>
                        <a:rPr sz="1300" b="1">
                          <a:solidFill>
                            <a:srgbClr val="FFFFFF"/>
                          </a:solidFill>
                          <a:latin typeface="Calibri"/>
                        </a:rPr>
                        <a:t>Vai dự án</a:t>
                      </a:r>
                    </a:p>
                  </a:txBody>
                  <a:tcPr marL="91440" marR="91440" marT="45720" marB="45720" anchor="ctr">
                    <a:solidFill>
                      <a:srgbClr val="2B59D9"/>
                    </a:solidFill>
                  </a:tcPr>
                </a:tc>
              </a:tr>
              <a:tr h="393192">
                <a:tc>
                  <a:txBody>
                    <a:bodyPr/>
                    <a:lstStyle/>
                    <a:p>
                      <a:r>
                        <a:rPr sz="1300" b="1">
                          <a:solidFill>
                            <a:srgbClr val="1C2333"/>
                          </a:solidFill>
                          <a:latin typeface="Calibri"/>
                        </a:rPr>
                        <a:t>1 Kiểm chứng cuối</a:t>
                      </a:r>
                    </a:p>
                  </a:txBody>
                  <a:tcPr marL="91440" marR="91440" marT="45720" marB="45720" anchor="ctr">
                    <a:solidFill>
                      <a:srgbClr val="F2F4F7"/>
                    </a:solidFill>
                  </a:tcPr>
                </a:tc>
                <a:tc>
                  <a:txBody>
                    <a:bodyPr/>
                    <a:lstStyle/>
                    <a:p>
                      <a:r>
                        <a:rPr sz="1300" b="0">
                          <a:solidFill>
                            <a:srgbClr val="394152"/>
                          </a:solidFill>
                          <a:latin typeface="Calibri"/>
                        </a:rPr>
                        <a:t>Lean</a:t>
                      </a:r>
                    </a:p>
                  </a:txBody>
                  <a:tcPr marL="91440" marR="91440" marT="45720" marB="45720" anchor="ctr">
                    <a:solidFill>
                      <a:srgbClr val="F2F4F7"/>
                    </a:solidFill>
                  </a:tcPr>
                </a:tc>
                <a:tc>
                  <a:txBody>
                    <a:bodyPr/>
                    <a:lstStyle/>
                    <a:p>
                      <a:r>
                        <a:rPr sz="1300" b="0">
                          <a:solidFill>
                            <a:srgbClr val="394152"/>
                          </a:solidFill>
                          <a:latin typeface="Calibri"/>
                        </a:rPr>
                        <a:t>CI trên luồng thật, bộ đếm tại chỗ</a:t>
                      </a:r>
                    </a:p>
                  </a:txBody>
                  <a:tcPr marL="91440" marR="91440" marT="45720" marB="45720" anchor="ctr">
                    <a:solidFill>
                      <a:srgbClr val="F2F4F7"/>
                    </a:solidFill>
                  </a:tcPr>
                </a:tc>
                <a:tc>
                  <a:txBody>
                    <a:bodyPr/>
                    <a:lstStyle/>
                    <a:p>
                      <a:r>
                        <a:rPr sz="1300" b="0">
                          <a:solidFill>
                            <a:srgbClr val="394152"/>
                          </a:solidFill>
                          <a:latin typeface="Calibri"/>
                        </a:rPr>
                        <a:t>DevOps</a:t>
                      </a:r>
                    </a:p>
                  </a:txBody>
                  <a:tcPr marL="91440" marR="91440" marT="45720" marB="45720" anchor="ctr">
                    <a:solidFill>
                      <a:srgbClr val="F2F4F7"/>
                    </a:solidFill>
                  </a:tcPr>
                </a:tc>
              </a:tr>
              <a:tr h="393192">
                <a:tc>
                  <a:txBody>
                    <a:bodyPr/>
                    <a:lstStyle/>
                    <a:p>
                      <a:r>
                        <a:rPr sz="1300" b="1">
                          <a:solidFill>
                            <a:srgbClr val="1C2333"/>
                          </a:solidFill>
                          <a:latin typeface="Calibri"/>
                        </a:rPr>
                        <a:t>2 Soát chứng minh</a:t>
                      </a:r>
                    </a:p>
                  </a:txBody>
                  <a:tcPr marL="91440" marR="91440" marT="45720" marB="45720" anchor="ctr">
                    <a:solidFill>
                      <a:srgbClr val="FFFFFF"/>
                    </a:solidFill>
                  </a:tcPr>
                </a:tc>
                <a:tc>
                  <a:txBody>
                    <a:bodyPr/>
                    <a:lstStyle/>
                    <a:p>
                      <a:r>
                        <a:rPr sz="1300" b="0">
                          <a:solidFill>
                            <a:srgbClr val="394152"/>
                          </a:solidFill>
                          <a:latin typeface="Calibri"/>
                        </a:rPr>
                        <a:t>Tìm bước hỏng, khoá đề</a:t>
                      </a:r>
                    </a:p>
                  </a:txBody>
                  <a:tcPr marL="91440" marR="91440" marT="45720" marB="45720" anchor="ctr">
                    <a:solidFill>
                      <a:srgbClr val="FFFFFF"/>
                    </a:solidFill>
                  </a:tcPr>
                </a:tc>
                <a:tc>
                  <a:txBody>
                    <a:bodyPr/>
                    <a:lstStyle/>
                    <a:p>
                      <a:r>
                        <a:rPr sz="1300" b="0">
                          <a:solidFill>
                            <a:srgbClr val="394152"/>
                          </a:solidFill>
                          <a:latin typeface="Calibri"/>
                        </a:rPr>
                        <a:t>Review code, cùng khoá test chấp nhận</a:t>
                      </a:r>
                    </a:p>
                  </a:txBody>
                  <a:tcPr marL="91440" marR="91440" marT="45720" marB="45720" anchor="ctr">
                    <a:solidFill>
                      <a:srgbClr val="FFFFFF"/>
                    </a:solidFill>
                  </a:tcPr>
                </a:tc>
                <a:tc>
                  <a:txBody>
                    <a:bodyPr/>
                    <a:lstStyle/>
                    <a:p>
                      <a:r>
                        <a:rPr sz="1300" b="0">
                          <a:solidFill>
                            <a:srgbClr val="394152"/>
                          </a:solidFill>
                          <a:latin typeface="Calibri"/>
                        </a:rPr>
                        <a:t>QA</a:t>
                      </a:r>
                    </a:p>
                  </a:txBody>
                  <a:tcPr marL="91440" marR="91440" marT="45720" marB="45720" anchor="ctr">
                    <a:solidFill>
                      <a:srgbClr val="FFFFFF"/>
                    </a:solidFill>
                  </a:tcPr>
                </a:tc>
              </a:tr>
              <a:tr h="393192">
                <a:tc>
                  <a:txBody>
                    <a:bodyPr/>
                    <a:lstStyle/>
                    <a:p>
                      <a:r>
                        <a:rPr sz="1300" b="1">
                          <a:solidFill>
                            <a:srgbClr val="1C2333"/>
                          </a:solidFill>
                          <a:latin typeface="Calibri"/>
                        </a:rPr>
                        <a:t>4 Phá</a:t>
                      </a:r>
                    </a:p>
                  </a:txBody>
                  <a:tcPr marL="91440" marR="91440" marT="45720" marB="45720" anchor="ctr">
                    <a:solidFill>
                      <a:srgbClr val="F2F4F7"/>
                    </a:solidFill>
                  </a:tcPr>
                </a:tc>
                <a:tc>
                  <a:txBody>
                    <a:bodyPr/>
                    <a:lstStyle/>
                    <a:p>
                      <a:r>
                        <a:rPr sz="1300" b="0">
                          <a:solidFill>
                            <a:srgbClr val="394152"/>
                          </a:solidFill>
                          <a:latin typeface="Calibri"/>
                        </a:rPr>
                        <a:t>Phản ví dụ</a:t>
                      </a:r>
                    </a:p>
                  </a:txBody>
                  <a:tcPr marL="91440" marR="91440" marT="45720" marB="45720" anchor="ctr">
                    <a:solidFill>
                      <a:srgbClr val="F2F4F7"/>
                    </a:solidFill>
                  </a:tcPr>
                </a:tc>
                <a:tc>
                  <a:txBody>
                    <a:bodyPr/>
                    <a:lstStyle/>
                    <a:p>
                      <a:r>
                        <a:rPr sz="1300" b="0">
                          <a:solidFill>
                            <a:srgbClr val="394152"/>
                          </a:solidFill>
                          <a:latin typeface="Calibri"/>
                        </a:rPr>
                        <a:t>Sinh test, fuzzing, test ẩn</a:t>
                      </a:r>
                    </a:p>
                  </a:txBody>
                  <a:tcPr marL="91440" marR="91440" marT="45720" marB="45720" anchor="ctr">
                    <a:solidFill>
                      <a:srgbClr val="F2F4F7"/>
                    </a:solidFill>
                  </a:tcPr>
                </a:tc>
                <a:tc>
                  <a:txBody>
                    <a:bodyPr/>
                    <a:lstStyle/>
                    <a:p>
                      <a:r>
                        <a:rPr sz="1300" b="0">
                          <a:solidFill>
                            <a:srgbClr val="394152"/>
                          </a:solidFill>
                          <a:latin typeface="Calibri"/>
                        </a:rPr>
                        <a:t>QA</a:t>
                      </a:r>
                    </a:p>
                  </a:txBody>
                  <a:tcPr marL="91440" marR="91440" marT="45720" marB="45720" anchor="ctr">
                    <a:solidFill>
                      <a:srgbClr val="F2F4F7"/>
                    </a:solidFill>
                  </a:tcPr>
                </a:tc>
              </a:tr>
              <a:tr h="393192">
                <a:tc>
                  <a:txBody>
                    <a:bodyPr/>
                    <a:lstStyle/>
                    <a:p>
                      <a:r>
                        <a:rPr sz="1300" b="1">
                          <a:solidFill>
                            <a:srgbClr val="1C2333"/>
                          </a:solidFill>
                          <a:latin typeface="Calibri"/>
                        </a:rPr>
                        <a:t>3 Tính mới</a:t>
                      </a:r>
                    </a:p>
                  </a:txBody>
                  <a:tcPr marL="91440" marR="91440" marT="45720" marB="45720" anchor="ctr">
                    <a:solidFill>
                      <a:srgbClr val="FFFFFF"/>
                    </a:solidFill>
                  </a:tcPr>
                </a:tc>
                <a:tc>
                  <a:txBody>
                    <a:bodyPr/>
                    <a:lstStyle/>
                    <a:p>
                      <a:r>
                        <a:rPr sz="1300" b="0">
                          <a:solidFill>
                            <a:srgbClr val="394152"/>
                          </a:solidFill>
                          <a:latin typeface="Calibri"/>
                        </a:rPr>
                        <a:t>Đã ai làm chưa</a:t>
                      </a:r>
                    </a:p>
                  </a:txBody>
                  <a:tcPr marL="91440" marR="91440" marT="45720" marB="45720" anchor="ctr">
                    <a:solidFill>
                      <a:srgbClr val="FFFFFF"/>
                    </a:solidFill>
                  </a:tcPr>
                </a:tc>
                <a:tc>
                  <a:txBody>
                    <a:bodyPr/>
                    <a:lstStyle/>
                    <a:p>
                      <a:r>
                        <a:rPr sz="1300" b="0">
                          <a:solidFill>
                            <a:srgbClr val="394152"/>
                          </a:solidFill>
                          <a:latin typeface="Calibri"/>
                        </a:rPr>
                        <a:t>Thư viện, giấy phép, lỗ hổng</a:t>
                      </a:r>
                    </a:p>
                  </a:txBody>
                  <a:tcPr marL="91440" marR="91440" marT="45720" marB="45720" anchor="ctr">
                    <a:solidFill>
                      <a:srgbClr val="FFFFFF"/>
                    </a:solidFill>
                  </a:tcPr>
                </a:tc>
                <a:tc>
                  <a:txBody>
                    <a:bodyPr/>
                    <a:lstStyle/>
                    <a:p>
                      <a:r>
                        <a:rPr sz="1300" b="0">
                          <a:solidFill>
                            <a:srgbClr val="394152"/>
                          </a:solidFill>
                          <a:latin typeface="Calibri"/>
                        </a:rPr>
                        <a:t>Bảo mật</a:t>
                      </a:r>
                    </a:p>
                  </a:txBody>
                  <a:tcPr marL="91440" marR="91440" marT="45720" marB="45720" anchor="ctr">
                    <a:solidFill>
                      <a:srgbClr val="FFFFFF"/>
                    </a:solidFill>
                  </a:tcPr>
                </a:tc>
              </a:tr>
              <a:tr h="393192">
                <a:tc>
                  <a:txBody>
                    <a:bodyPr/>
                    <a:lstStyle/>
                    <a:p>
                      <a:r>
                        <a:rPr sz="1300" b="1">
                          <a:solidFill>
                            <a:srgbClr val="1C2333"/>
                          </a:solidFill>
                          <a:latin typeface="Calibri"/>
                        </a:rPr>
                        <a:t>8 Blueprint</a:t>
                      </a:r>
                    </a:p>
                  </a:txBody>
                  <a:tcPr marL="91440" marR="91440" marT="45720" marB="45720" anchor="ctr">
                    <a:solidFill>
                      <a:srgbClr val="F2F4F7"/>
                    </a:solidFill>
                  </a:tcPr>
                </a:tc>
                <a:tc>
                  <a:txBody>
                    <a:bodyPr/>
                    <a:lstStyle/>
                    <a:p>
                      <a:r>
                        <a:rPr sz="1300" b="0">
                          <a:solidFill>
                            <a:srgbClr val="394152"/>
                          </a:solidFill>
                          <a:latin typeface="Calibri"/>
                        </a:rPr>
                        <a:t>Đồ thị bổ đề</a:t>
                      </a:r>
                    </a:p>
                  </a:txBody>
                  <a:tcPr marL="91440" marR="91440" marT="45720" marB="45720" anchor="ctr">
                    <a:solidFill>
                      <a:srgbClr val="F2F4F7"/>
                    </a:solidFill>
                  </a:tcPr>
                </a:tc>
                <a:tc>
                  <a:txBody>
                    <a:bodyPr/>
                    <a:lstStyle/>
                    <a:p>
                      <a:r>
                        <a:rPr sz="1300" b="0">
                          <a:solidFill>
                            <a:srgbClr val="394152"/>
                          </a:solidFill>
                          <a:latin typeface="Calibri"/>
                        </a:rPr>
                        <a:t>Hợp đồng API, đóng băng</a:t>
                      </a:r>
                    </a:p>
                  </a:txBody>
                  <a:tcPr marL="91440" marR="91440" marT="45720" marB="45720" anchor="ctr">
                    <a:solidFill>
                      <a:srgbClr val="F2F4F7"/>
                    </a:solidFill>
                  </a:tcPr>
                </a:tc>
                <a:tc>
                  <a:txBody>
                    <a:bodyPr/>
                    <a:lstStyle/>
                    <a:p>
                      <a:r>
                        <a:rPr sz="1300" b="0">
                          <a:solidFill>
                            <a:srgbClr val="394152"/>
                          </a:solidFill>
                          <a:latin typeface="Calibri"/>
                        </a:rPr>
                        <a:t>SA</a:t>
                      </a:r>
                    </a:p>
                  </a:txBody>
                  <a:tcPr marL="91440" marR="91440" marT="45720" marB="45720" anchor="ctr">
                    <a:solidFill>
                      <a:srgbClr val="F2F4F7"/>
                    </a:solidFill>
                  </a:tcPr>
                </a:tc>
              </a:tr>
              <a:tr h="393192">
                <a:tc>
                  <a:txBody>
                    <a:bodyPr/>
                    <a:lstStyle/>
                    <a:p>
                      <a:r>
                        <a:rPr sz="1300" b="1">
                          <a:solidFill>
                            <a:srgbClr val="1C2333"/>
                          </a:solidFill>
                          <a:latin typeface="Calibri"/>
                        </a:rPr>
                        <a:t>9 Chứng minh</a:t>
                      </a:r>
                    </a:p>
                  </a:txBody>
                  <a:tcPr marL="91440" marR="91440" marT="45720" marB="45720" anchor="ctr">
                    <a:solidFill>
                      <a:srgbClr val="FFFFFF"/>
                    </a:solidFill>
                  </a:tcPr>
                </a:tc>
                <a:tc>
                  <a:txBody>
                    <a:bodyPr/>
                    <a:lstStyle/>
                    <a:p>
                      <a:r>
                        <a:rPr sz="1300" b="0">
                          <a:solidFill>
                            <a:srgbClr val="394152"/>
                          </a:solidFill>
                          <a:latin typeface="Calibri"/>
                        </a:rPr>
                        <a:t>Viết chứng minh</a:t>
                      </a:r>
                    </a:p>
                  </a:txBody>
                  <a:tcPr marL="91440" marR="91440" marT="45720" marB="45720" anchor="ctr">
                    <a:solidFill>
                      <a:srgbClr val="FFFFFF"/>
                    </a:solidFill>
                  </a:tcPr>
                </a:tc>
                <a:tc>
                  <a:txBody>
                    <a:bodyPr/>
                    <a:lstStyle/>
                    <a:p>
                      <a:r>
                        <a:rPr sz="1300" b="0">
                          <a:solidFill>
                            <a:srgbClr val="394152"/>
                          </a:solidFill>
                          <a:latin typeface="Calibri"/>
                        </a:rPr>
                        <a:t>API, nghiệp vụ, dữ liệu</a:t>
                      </a:r>
                    </a:p>
                  </a:txBody>
                  <a:tcPr marL="91440" marR="91440" marT="45720" marB="45720" anchor="ctr">
                    <a:solidFill>
                      <a:srgbClr val="FFFFFF"/>
                    </a:solidFill>
                  </a:tcPr>
                </a:tc>
                <a:tc>
                  <a:txBody>
                    <a:bodyPr/>
                    <a:lstStyle/>
                    <a:p>
                      <a:r>
                        <a:rPr sz="1300" b="0">
                          <a:solidFill>
                            <a:srgbClr val="394152"/>
                          </a:solidFill>
                          <a:latin typeface="Calibri"/>
                        </a:rPr>
                        <a:t>BE</a:t>
                      </a:r>
                    </a:p>
                  </a:txBody>
                  <a:tcPr marL="91440" marR="91440" marT="45720" marB="45720" anchor="ctr">
                    <a:solidFill>
                      <a:srgbClr val="FFFFFF"/>
                    </a:solidFill>
                  </a:tcPr>
                </a:tc>
              </a:tr>
              <a:tr h="393192">
                <a:tc>
                  <a:txBody>
                    <a:bodyPr/>
                    <a:lstStyle/>
                    <a:p>
                      <a:r>
                        <a:rPr sz="1300" b="1">
                          <a:solidFill>
                            <a:srgbClr val="1C2333"/>
                          </a:solidFill>
                          <a:latin typeface="Calibri"/>
                        </a:rPr>
                        <a:t>11 Xuyên ngành kề</a:t>
                      </a:r>
                    </a:p>
                  </a:txBody>
                  <a:tcPr marL="91440" marR="91440" marT="45720" marB="45720" anchor="ctr">
                    <a:solidFill>
                      <a:srgbClr val="F2F4F7"/>
                    </a:solidFill>
                  </a:tcPr>
                </a:tc>
                <a:tc>
                  <a:txBody>
                    <a:bodyPr/>
                    <a:lstStyle/>
                    <a:p>
                      <a:r>
                        <a:rPr sz="1300" b="0">
                          <a:solidFill>
                            <a:srgbClr val="394152"/>
                          </a:solidFill>
                          <a:latin typeface="Calibri"/>
                        </a:rPr>
                        <a:t>Ý từ ngành gần</a:t>
                      </a:r>
                    </a:p>
                  </a:txBody>
                  <a:tcPr marL="91440" marR="91440" marT="45720" marB="45720" anchor="ctr">
                    <a:solidFill>
                      <a:srgbClr val="F2F4F7"/>
                    </a:solidFill>
                  </a:tcPr>
                </a:tc>
                <a:tc>
                  <a:txBody>
                    <a:bodyPr/>
                    <a:lstStyle/>
                    <a:p>
                      <a:r>
                        <a:rPr sz="1300" b="0">
                          <a:solidFill>
                            <a:srgbClr val="394152"/>
                          </a:solidFill>
                          <a:latin typeface="Calibri"/>
                        </a:rPr>
                        <a:t>Giao diện</a:t>
                      </a:r>
                    </a:p>
                  </a:txBody>
                  <a:tcPr marL="91440" marR="91440" marT="45720" marB="45720" anchor="ctr">
                    <a:solidFill>
                      <a:srgbClr val="F2F4F7"/>
                    </a:solidFill>
                  </a:tcPr>
                </a:tc>
                <a:tc>
                  <a:txBody>
                    <a:bodyPr/>
                    <a:lstStyle/>
                    <a:p>
                      <a:r>
                        <a:rPr sz="1300" b="0">
                          <a:solidFill>
                            <a:srgbClr val="394152"/>
                          </a:solidFill>
                          <a:latin typeface="Calibri"/>
                        </a:rPr>
                        <a:t>FE</a:t>
                      </a:r>
                    </a:p>
                  </a:txBody>
                  <a:tcPr marL="91440" marR="91440" marT="45720" marB="45720" anchor="ctr">
                    <a:solidFill>
                      <a:srgbClr val="F2F4F7"/>
                    </a:solidFill>
                  </a:tcPr>
                </a:tc>
              </a:tr>
              <a:tr h="393192">
                <a:tc>
                  <a:txBody>
                    <a:bodyPr/>
                    <a:lstStyle/>
                    <a:p>
                      <a:r>
                        <a:rPr sz="1300" b="1">
                          <a:solidFill>
                            <a:srgbClr val="1C2333"/>
                          </a:solidFill>
                          <a:latin typeface="Calibri"/>
                        </a:rPr>
                        <a:t>7 Xuyên ngành xa</a:t>
                      </a:r>
                    </a:p>
                  </a:txBody>
                  <a:tcPr marL="91440" marR="91440" marT="45720" marB="45720" anchor="ctr">
                    <a:solidFill>
                      <a:srgbClr val="FFFFFF"/>
                    </a:solidFill>
                  </a:tcPr>
                </a:tc>
                <a:tc>
                  <a:txBody>
                    <a:bodyPr/>
                    <a:lstStyle/>
                    <a:p>
                      <a:r>
                        <a:rPr sz="1300" b="0">
                          <a:solidFill>
                            <a:srgbClr val="394152"/>
                          </a:solidFill>
                          <a:latin typeface="Calibri"/>
                        </a:rPr>
                        <a:t>Ý từ ngành xa</a:t>
                      </a:r>
                    </a:p>
                  </a:txBody>
                  <a:tcPr marL="91440" marR="91440" marT="45720" marB="45720" anchor="ctr">
                    <a:solidFill>
                      <a:srgbClr val="FFFFFF"/>
                    </a:solidFill>
                  </a:tcPr>
                </a:tc>
                <a:tc>
                  <a:txBody>
                    <a:bodyPr/>
                    <a:lstStyle/>
                    <a:p>
                      <a:r>
                        <a:rPr sz="1300" b="0">
                          <a:solidFill>
                            <a:srgbClr val="394152"/>
                          </a:solidFill>
                          <a:latin typeface="Calibri"/>
                        </a:rPr>
                        <a:t>Mobile, Data, Infra</a:t>
                      </a:r>
                    </a:p>
                  </a:txBody>
                  <a:tcPr marL="91440" marR="91440" marT="45720" marB="45720" anchor="ctr">
                    <a:solidFill>
                      <a:srgbClr val="FFFFFF"/>
                    </a:solidFill>
                  </a:tcPr>
                </a:tc>
                <a:tc>
                  <a:txBody>
                    <a:bodyPr/>
                    <a:lstStyle/>
                    <a:p>
                      <a:r>
                        <a:rPr sz="1300" b="0">
                          <a:solidFill>
                            <a:srgbClr val="394152"/>
                          </a:solidFill>
                          <a:latin typeface="Calibri"/>
                        </a:rPr>
                        <a:t>Tuỳ dự án</a:t>
                      </a:r>
                    </a:p>
                  </a:txBody>
                  <a:tcPr marL="91440" marR="91440" marT="45720" marB="45720" anchor="ctr">
                    <a:solidFill>
                      <a:srgbClr val="FFFFFF"/>
                    </a:solidFill>
                  </a:tcPr>
                </a:tc>
              </a:tr>
              <a:tr h="393192">
                <a:tc>
                  <a:txBody>
                    <a:bodyPr/>
                    <a:lstStyle/>
                    <a:p>
                      <a:r>
                        <a:rPr sz="1300" b="1">
                          <a:solidFill>
                            <a:srgbClr val="1C2333"/>
                          </a:solidFill>
                          <a:latin typeface="Calibri"/>
                        </a:rPr>
                        <a:t>10 Trong ngành</a:t>
                      </a:r>
                    </a:p>
                  </a:txBody>
                  <a:tcPr marL="91440" marR="91440" marT="45720" marB="45720" anchor="ctr">
                    <a:solidFill>
                      <a:srgbClr val="F2F4F7"/>
                    </a:solidFill>
                  </a:tcPr>
                </a:tc>
                <a:tc>
                  <a:txBody>
                    <a:bodyPr/>
                    <a:lstStyle/>
                    <a:p>
                      <a:r>
                        <a:rPr sz="1300" b="0">
                          <a:solidFill>
                            <a:srgbClr val="394152"/>
                          </a:solidFill>
                          <a:latin typeface="Calibri"/>
                        </a:rPr>
                        <a:t>Văn liệu</a:t>
                      </a:r>
                    </a:p>
                  </a:txBody>
                  <a:tcPr marL="91440" marR="91440" marT="45720" marB="45720" anchor="ctr">
                    <a:solidFill>
                      <a:srgbClr val="F2F4F7"/>
                    </a:solidFill>
                  </a:tcPr>
                </a:tc>
                <a:tc>
                  <a:txBody>
                    <a:bodyPr/>
                    <a:lstStyle/>
                    <a:p>
                      <a:r>
                        <a:rPr sz="1300" b="0">
                          <a:solidFill>
                            <a:srgbClr val="394152"/>
                          </a:solidFill>
                          <a:latin typeface="Calibri"/>
                        </a:rPr>
                        <a:t>Đọc codebase, tài liệu</a:t>
                      </a:r>
                    </a:p>
                  </a:txBody>
                  <a:tcPr marL="91440" marR="91440" marT="45720" marB="45720" anchor="ctr">
                    <a:solidFill>
                      <a:srgbClr val="F2F4F7"/>
                    </a:solidFill>
                  </a:tcPr>
                </a:tc>
                <a:tc>
                  <a:txBody>
                    <a:bodyPr/>
                    <a:lstStyle/>
                    <a:p>
                      <a:r>
                        <a:rPr sz="1300" b="0">
                          <a:solidFill>
                            <a:srgbClr val="394152"/>
                          </a:solidFill>
                          <a:latin typeface="Calibri"/>
                        </a:rPr>
                        <a:t>Dev</a:t>
                      </a:r>
                    </a:p>
                  </a:txBody>
                  <a:tcPr marL="91440" marR="91440" marT="45720" marB="45720" anchor="ctr">
                    <a:solidFill>
                      <a:srgbClr val="F2F4F7"/>
                    </a:solidFill>
                  </a:tcPr>
                </a:tc>
              </a:tr>
              <a:tr h="393192">
                <a:tc>
                  <a:txBody>
                    <a:bodyPr/>
                    <a:lstStyle/>
                    <a:p>
                      <a:r>
                        <a:rPr sz="1300" b="1">
                          <a:solidFill>
                            <a:srgbClr val="1C2333"/>
                          </a:solidFill>
                          <a:latin typeface="Calibri"/>
                        </a:rPr>
                        <a:t>14 Ví dụ</a:t>
                      </a:r>
                    </a:p>
                  </a:txBody>
                  <a:tcPr marL="91440" marR="91440" marT="45720" marB="45720" anchor="ctr">
                    <a:solidFill>
                      <a:srgbClr val="FFFFFF"/>
                    </a:solidFill>
                  </a:tcPr>
                </a:tc>
                <a:tc>
                  <a:txBody>
                    <a:bodyPr/>
                    <a:lstStyle/>
                    <a:p>
                      <a:r>
                        <a:rPr sz="1300" b="0">
                          <a:solidFill>
                            <a:srgbClr val="394152"/>
                          </a:solidFill>
                          <a:latin typeface="Calibri"/>
                        </a:rPr>
                        <a:t>Săn ví dụ, tính mẫu A→Z</a:t>
                      </a:r>
                    </a:p>
                  </a:txBody>
                  <a:tcPr marL="91440" marR="91440" marT="45720" marB="45720" anchor="ctr">
                    <a:solidFill>
                      <a:srgbClr val="FFFFFF"/>
                    </a:solidFill>
                  </a:tcPr>
                </a:tc>
                <a:tc>
                  <a:txBody>
                    <a:bodyPr/>
                    <a:lstStyle/>
                    <a:p>
                      <a:r>
                        <a:rPr sz="1300" b="0">
                          <a:solidFill>
                            <a:srgbClr val="394152"/>
                          </a:solidFill>
                          <a:latin typeface="Calibri"/>
                        </a:rPr>
                        <a:t>Benchmark, profiling</a:t>
                      </a:r>
                    </a:p>
                  </a:txBody>
                  <a:tcPr marL="91440" marR="91440" marT="45720" marB="45720" anchor="ctr">
                    <a:solidFill>
                      <a:srgbClr val="FFFFFF"/>
                    </a:solidFill>
                  </a:tcPr>
                </a:tc>
                <a:tc>
                  <a:txBody>
                    <a:bodyPr/>
                    <a:lstStyle/>
                    <a:p>
                      <a:r>
                        <a:rPr sz="1300" b="0">
                          <a:solidFill>
                            <a:srgbClr val="394152"/>
                          </a:solidFill>
                          <a:latin typeface="Calibri"/>
                        </a:rPr>
                        <a:t>Performance</a:t>
                      </a:r>
                    </a:p>
                  </a:txBody>
                  <a:tcPr marL="91440" marR="91440" marT="45720" marB="45720" anchor="ctr">
                    <a:solidFill>
                      <a:srgbClr val="FFFFFF"/>
                    </a:solidFill>
                  </a:tcPr>
                </a:tc>
              </a:tr>
              <a:tr h="393192">
                <a:tc>
                  <a:txBody>
                    <a:bodyPr/>
                    <a:lstStyle/>
                    <a:p>
                      <a:r>
                        <a:rPr sz="1300" b="1">
                          <a:solidFill>
                            <a:srgbClr val="1C2333"/>
                          </a:solidFill>
                          <a:latin typeface="Calibri"/>
                        </a:rPr>
                        <a:t>6 Điều phối</a:t>
                      </a:r>
                    </a:p>
                  </a:txBody>
                  <a:tcPr marL="91440" marR="91440" marT="45720" marB="45720" anchor="ctr">
                    <a:solidFill>
                      <a:srgbClr val="F2F4F7"/>
                    </a:solidFill>
                  </a:tcPr>
                </a:tc>
                <a:tc>
                  <a:txBody>
                    <a:bodyPr/>
                    <a:lstStyle/>
                    <a:p>
                      <a:r>
                        <a:rPr sz="1300" b="0">
                          <a:solidFill>
                            <a:srgbClr val="394152"/>
                          </a:solidFill>
                          <a:latin typeface="Calibri"/>
                        </a:rPr>
                        <a:t>Giao việc, giữ đồ thị</a:t>
                      </a:r>
                    </a:p>
                  </a:txBody>
                  <a:tcPr marL="91440" marR="91440" marT="45720" marB="45720" anchor="ctr">
                    <a:solidFill>
                      <a:srgbClr val="F2F4F7"/>
                    </a:solidFill>
                  </a:tcPr>
                </a:tc>
                <a:tc>
                  <a:txBody>
                    <a:bodyPr/>
                    <a:lstStyle/>
                    <a:p>
                      <a:r>
                        <a:rPr sz="1300" b="0">
                          <a:solidFill>
                            <a:srgbClr val="394152"/>
                          </a:solidFill>
                          <a:latin typeface="Calibri"/>
                        </a:rPr>
                        <a:t>Giao việc, issue tracker</a:t>
                      </a:r>
                    </a:p>
                  </a:txBody>
                  <a:tcPr marL="91440" marR="91440" marT="45720" marB="45720" anchor="ctr">
                    <a:solidFill>
                      <a:srgbClr val="F2F4F7"/>
                    </a:solidFill>
                  </a:tcPr>
                </a:tc>
                <a:tc>
                  <a:txBody>
                    <a:bodyPr/>
                    <a:lstStyle/>
                    <a:p>
                      <a:r>
                        <a:rPr sz="1300" b="0">
                          <a:solidFill>
                            <a:srgbClr val="394152"/>
                          </a:solidFill>
                          <a:latin typeface="Calibri"/>
                        </a:rPr>
                        <a:t>Tech lead / PM</a:t>
                      </a:r>
                    </a:p>
                  </a:txBody>
                  <a:tcPr marL="91440" marR="91440" marT="45720" marB="45720" anchor="ctr">
                    <a:solidFill>
                      <a:srgbClr val="F2F4F7"/>
                    </a:solidFill>
                  </a:tcPr>
                </a:tc>
              </a:tr>
              <a:tr h="393192">
                <a:tc>
                  <a:txBody>
                    <a:bodyPr/>
                    <a:lstStyle/>
                    <a:p>
                      <a:r>
                        <a:rPr sz="1300" b="1">
                          <a:solidFill>
                            <a:srgbClr val="1C2333"/>
                          </a:solidFill>
                          <a:latin typeface="Calibri"/>
                        </a:rPr>
                        <a:t>HLV</a:t>
                      </a:r>
                    </a:p>
                  </a:txBody>
                  <a:tcPr marL="91440" marR="91440" marT="45720" marB="45720" anchor="ctr">
                    <a:solidFill>
                      <a:srgbClr val="FFFFFF"/>
                    </a:solidFill>
                  </a:tcPr>
                </a:tc>
                <a:tc>
                  <a:txBody>
                    <a:bodyPr/>
                    <a:lstStyle/>
                    <a:p>
                      <a:r>
                        <a:rPr sz="1300" b="0">
                          <a:solidFill>
                            <a:srgbClr val="394152"/>
                          </a:solidFill>
                          <a:latin typeface="Calibri"/>
                        </a:rPr>
                        <a:t>Chọn bài</a:t>
                      </a:r>
                    </a:p>
                  </a:txBody>
                  <a:tcPr marL="91440" marR="91440" marT="45720" marB="45720" anchor="ctr">
                    <a:solidFill>
                      <a:srgbClr val="FFFFFF"/>
                    </a:solidFill>
                  </a:tcPr>
                </a:tc>
                <a:tc>
                  <a:txBody>
                    <a:bodyPr/>
                    <a:lstStyle/>
                    <a:p>
                      <a:r>
                        <a:rPr sz="1300" b="0">
                          <a:solidFill>
                            <a:srgbClr val="394152"/>
                          </a:solidFill>
                          <a:latin typeface="Calibri"/>
                        </a:rPr>
                        <a:t>Đặc tả, test chấp nhận</a:t>
                      </a:r>
                    </a:p>
                  </a:txBody>
                  <a:tcPr marL="91440" marR="91440" marT="45720" marB="45720" anchor="ctr">
                    <a:solidFill>
                      <a:srgbClr val="FFFFFF"/>
                    </a:solidFill>
                  </a:tcPr>
                </a:tc>
                <a:tc>
                  <a:txBody>
                    <a:bodyPr/>
                    <a:lstStyle/>
                    <a:p>
                      <a:r>
                        <a:rPr sz="1300" b="0">
                          <a:solidFill>
                            <a:srgbClr val="394152"/>
                          </a:solidFill>
                          <a:latin typeface="Calibri"/>
                        </a:rPr>
                        <a:t>PO / BA</a:t>
                      </a:r>
                    </a:p>
                  </a:txBody>
                  <a:tcPr marL="91440" marR="91440" marT="45720" marB="45720"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Khi có FE và BE: ba luật thêm</a:t>
            </a:r>
          </a:p>
        </p:txBody>
      </p:sp>
      <p:sp>
        <p:nvSpPr>
          <p:cNvPr id="3" name="Rounded Rectangle 2"/>
          <p:cNvSpPr/>
          <p:nvPr/>
        </p:nvSpPr>
        <p:spPr>
          <a:xfrm>
            <a:off x="548640" y="1463040"/>
            <a:ext cx="3566160" cy="32918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691640"/>
            <a:ext cx="457200" cy="457200"/>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691640"/>
            <a:ext cx="457200" cy="457200"/>
          </a:xfrm>
          <a:prstGeom prst="rect">
            <a:avLst/>
          </a:prstGeom>
          <a:noFill/>
        </p:spPr>
        <p:txBody>
          <a:bodyPr wrap="square" lIns="0" rIns="0" tIns="0" bIns="0" anchor="ctr">
            <a:spAutoFit/>
          </a:bodyPr>
          <a:lstStyle/>
          <a:p>
            <a:pPr algn="ctr"/>
            <a:r>
              <a:rPr sz="1500" b="1" i="0">
                <a:solidFill>
                  <a:srgbClr val="FFFFFF"/>
                </a:solidFill>
                <a:latin typeface="Calibri"/>
              </a:rPr>
              <a:t>1</a:t>
            </a:r>
          </a:p>
        </p:txBody>
      </p:sp>
      <p:sp>
        <p:nvSpPr>
          <p:cNvPr id="6" name="TextBox 5"/>
          <p:cNvSpPr txBox="1"/>
          <p:nvPr/>
        </p:nvSpPr>
        <p:spPr>
          <a:xfrm>
            <a:off x="777240" y="2377440"/>
            <a:ext cx="3108960" cy="731520"/>
          </a:xfrm>
          <a:prstGeom prst="rect">
            <a:avLst/>
          </a:prstGeom>
          <a:noFill/>
        </p:spPr>
        <p:txBody>
          <a:bodyPr wrap="square" lIns="0" rIns="0" tIns="0" bIns="0" anchor="t">
            <a:spAutoFit/>
          </a:bodyPr>
          <a:lstStyle/>
          <a:p>
            <a:pPr algn="l"/>
            <a:r>
              <a:rPr sz="1800" b="1" i="0">
                <a:solidFill>
                  <a:srgbClr val="1C2333"/>
                </a:solidFill>
                <a:latin typeface="Calibri"/>
              </a:rPr>
              <a:t>FE và BE chỉ nói chuyện qua hợp đồng</a:t>
            </a:r>
          </a:p>
        </p:txBody>
      </p:sp>
      <p:sp>
        <p:nvSpPr>
          <p:cNvPr id="7" name="TextBox 6"/>
          <p:cNvSpPr txBox="1"/>
          <p:nvPr/>
        </p:nvSpPr>
        <p:spPr>
          <a:xfrm>
            <a:off x="777240" y="3154680"/>
            <a:ext cx="3108960" cy="1463040"/>
          </a:xfrm>
          <a:prstGeom prst="rect">
            <a:avLst/>
          </a:prstGeom>
          <a:noFill/>
        </p:spPr>
        <p:txBody>
          <a:bodyPr wrap="square" lIns="0" rIns="0" tIns="0" bIns="0" anchor="t">
            <a:spAutoFit/>
          </a:bodyPr>
          <a:lstStyle/>
          <a:p>
            <a:pPr algn="l"/>
            <a:r>
              <a:rPr sz="1400" b="0" i="0">
                <a:solidFill>
                  <a:srgbClr val="394152"/>
                </a:solidFill>
                <a:latin typeface="Calibri"/>
              </a:rPr>
              <a:t>Không ai sửa code của bên kia. Muốn đổi API thì gửi yêu cầu lên SA; SA phá băng hợp đồng, ghi lý do.</a:t>
            </a:r>
          </a:p>
        </p:txBody>
      </p:sp>
      <p:sp>
        <p:nvSpPr>
          <p:cNvPr id="8" name="Rounded Rectangle 7"/>
          <p:cNvSpPr/>
          <p:nvPr/>
        </p:nvSpPr>
        <p:spPr>
          <a:xfrm>
            <a:off x="4297679" y="1463040"/>
            <a:ext cx="3566160" cy="32918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26279" y="1691640"/>
            <a:ext cx="457200" cy="457200"/>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26279" y="1691640"/>
            <a:ext cx="457200" cy="457200"/>
          </a:xfrm>
          <a:prstGeom prst="rect">
            <a:avLst/>
          </a:prstGeom>
          <a:noFill/>
        </p:spPr>
        <p:txBody>
          <a:bodyPr wrap="square" lIns="0" rIns="0" tIns="0" bIns="0" anchor="ctr">
            <a:spAutoFit/>
          </a:bodyPr>
          <a:lstStyle/>
          <a:p>
            <a:pPr algn="ctr"/>
            <a:r>
              <a:rPr sz="1500" b="1" i="0">
                <a:solidFill>
                  <a:srgbClr val="FFFFFF"/>
                </a:solidFill>
                <a:latin typeface="Calibri"/>
              </a:rPr>
              <a:t>2</a:t>
            </a:r>
          </a:p>
        </p:txBody>
      </p:sp>
      <p:sp>
        <p:nvSpPr>
          <p:cNvPr id="11" name="TextBox 10"/>
          <p:cNvSpPr txBox="1"/>
          <p:nvPr/>
        </p:nvSpPr>
        <p:spPr>
          <a:xfrm>
            <a:off x="4526279" y="2377440"/>
            <a:ext cx="3108960" cy="731520"/>
          </a:xfrm>
          <a:prstGeom prst="rect">
            <a:avLst/>
          </a:prstGeom>
          <a:noFill/>
        </p:spPr>
        <p:txBody>
          <a:bodyPr wrap="square" lIns="0" rIns="0" tIns="0" bIns="0" anchor="t">
            <a:spAutoFit/>
          </a:bodyPr>
          <a:lstStyle/>
          <a:p>
            <a:pPr algn="l"/>
            <a:r>
              <a:rPr sz="1800" b="1" i="0">
                <a:solidFill>
                  <a:srgbClr val="1C2333"/>
                </a:solidFill>
                <a:latin typeface="Calibri"/>
              </a:rPr>
              <a:t>Contract test là ranh giới</a:t>
            </a:r>
          </a:p>
        </p:txBody>
      </p:sp>
      <p:sp>
        <p:nvSpPr>
          <p:cNvPr id="12" name="TextBox 11"/>
          <p:cNvSpPr txBox="1"/>
          <p:nvPr/>
        </p:nvSpPr>
        <p:spPr>
          <a:xfrm>
            <a:off x="4526279" y="3154680"/>
            <a:ext cx="3108960" cy="1463040"/>
          </a:xfrm>
          <a:prstGeom prst="rect">
            <a:avLst/>
          </a:prstGeom>
          <a:noFill/>
        </p:spPr>
        <p:txBody>
          <a:bodyPr wrap="square" lIns="0" rIns="0" tIns="0" bIns="0" anchor="t">
            <a:spAutoFit/>
          </a:bodyPr>
          <a:lstStyle/>
          <a:p>
            <a:pPr algn="l"/>
            <a:r>
              <a:rPr sz="1400" b="0" i="0">
                <a:solidFill>
                  <a:srgbClr val="394152"/>
                </a:solidFill>
                <a:latin typeface="Calibri"/>
              </a:rPr>
              <a:t>Test hợp đồng giữa FE và BE do SA viết và khoá. Đây là bộ chấm chung của hai bên.</a:t>
            </a:r>
          </a:p>
        </p:txBody>
      </p:sp>
      <p:sp>
        <p:nvSpPr>
          <p:cNvPr id="13" name="Rounded Rectangle 12"/>
          <p:cNvSpPr/>
          <p:nvPr/>
        </p:nvSpPr>
        <p:spPr>
          <a:xfrm>
            <a:off x="8046719" y="1463040"/>
            <a:ext cx="3566160" cy="32918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75319" y="1691640"/>
            <a:ext cx="457200" cy="45720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75319" y="1691640"/>
            <a:ext cx="457200" cy="457200"/>
          </a:xfrm>
          <a:prstGeom prst="rect">
            <a:avLst/>
          </a:prstGeom>
          <a:noFill/>
        </p:spPr>
        <p:txBody>
          <a:bodyPr wrap="square" lIns="0" rIns="0" tIns="0" bIns="0" anchor="ctr">
            <a:spAutoFit/>
          </a:bodyPr>
          <a:lstStyle/>
          <a:p>
            <a:pPr algn="ctr"/>
            <a:r>
              <a:rPr sz="1500" b="1" i="0">
                <a:solidFill>
                  <a:srgbClr val="FFFFFF"/>
                </a:solidFill>
                <a:latin typeface="Calibri"/>
              </a:rPr>
              <a:t>3</a:t>
            </a:r>
          </a:p>
        </p:txBody>
      </p:sp>
      <p:sp>
        <p:nvSpPr>
          <p:cNvPr id="16" name="TextBox 15"/>
          <p:cNvSpPr txBox="1"/>
          <p:nvPr/>
        </p:nvSpPr>
        <p:spPr>
          <a:xfrm>
            <a:off x="8275319" y="2377440"/>
            <a:ext cx="3108960" cy="731520"/>
          </a:xfrm>
          <a:prstGeom prst="rect">
            <a:avLst/>
          </a:prstGeom>
          <a:noFill/>
        </p:spPr>
        <p:txBody>
          <a:bodyPr wrap="square" lIns="0" rIns="0" tIns="0" bIns="0" anchor="t">
            <a:spAutoFit/>
          </a:bodyPr>
          <a:lstStyle/>
          <a:p>
            <a:pPr algn="l"/>
            <a:r>
              <a:rPr sz="1800" b="1" i="0">
                <a:solidFill>
                  <a:srgbClr val="1C2333"/>
                </a:solidFill>
                <a:latin typeface="Calibri"/>
              </a:rPr>
              <a:t>Mỗi bên một bộ chấm riêng</a:t>
            </a:r>
          </a:p>
        </p:txBody>
      </p:sp>
      <p:sp>
        <p:nvSpPr>
          <p:cNvPr id="17" name="TextBox 16"/>
          <p:cNvSpPr txBox="1"/>
          <p:nvPr/>
        </p:nvSpPr>
        <p:spPr>
          <a:xfrm>
            <a:off x="8275319" y="3154680"/>
            <a:ext cx="3108960" cy="1463040"/>
          </a:xfrm>
          <a:prstGeom prst="rect">
            <a:avLst/>
          </a:prstGeom>
          <a:noFill/>
        </p:spPr>
        <p:txBody>
          <a:bodyPr wrap="square" lIns="0" rIns="0" tIns="0" bIns="0" anchor="t">
            <a:spAutoFit/>
          </a:bodyPr>
          <a:lstStyle/>
          <a:p>
            <a:pPr algn="l"/>
            <a:r>
              <a:rPr sz="1400" b="0" i="0">
                <a:solidFill>
                  <a:srgbClr val="394152"/>
                </a:solidFill>
                <a:latin typeface="Calibri"/>
              </a:rPr>
              <a:t>FE: test đầu-cuối, so ảnh chụp giao diện, khả năng tiếp cận. BE: test tích hợp, test tải, test hợp đồng. Tất cả ngoài quyền ghi của người triển khai.</a:t>
            </a:r>
          </a:p>
        </p:txBody>
      </p:sp>
      <p:sp>
        <p:nvSpPr>
          <p:cNvPr id="18" name="TextBox 17"/>
          <p:cNvSpPr txBox="1"/>
          <p:nvPr/>
        </p:nvSpPr>
        <p:spPr>
          <a:xfrm>
            <a:off x="548640" y="5120640"/>
            <a:ext cx="11064240" cy="731520"/>
          </a:xfrm>
          <a:prstGeom prst="rect">
            <a:avLst/>
          </a:prstGeom>
          <a:noFill/>
        </p:spPr>
        <p:txBody>
          <a:bodyPr wrap="square" lIns="0" rIns="0" tIns="0" bIns="0" anchor="t">
            <a:spAutoFit/>
          </a:bodyPr>
          <a:lstStyle/>
          <a:p>
            <a:pPr algn="l"/>
            <a:r>
              <a:rPr sz="1500" b="1" i="0">
                <a:solidFill>
                  <a:srgbClr val="1C2333"/>
                </a:solidFill>
                <a:latin typeface="Calibri"/>
              </a:rPr>
              <a:t>Hai cánh xuyên ngành của đội toán lui về băng ghế dự bị; </a:t>
            </a:r>
            <a:r>
              <a:rPr sz="1500" b="0" i="0">
                <a:solidFill>
                  <a:srgbClr val="394152"/>
                </a:solidFill>
                <a:latin typeface="Calibri"/>
              </a:rPr>
              <a:t>chỉ vào sân khi thiết kế bế tắc.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Sáu luật riêng của đội coding</a:t>
            </a:r>
          </a:p>
        </p:txBody>
      </p:sp>
      <p:sp>
        <p:nvSpPr>
          <p:cNvPr id="3" name="Rounded Rectangle 2"/>
          <p:cNvSpPr/>
          <p:nvPr/>
        </p:nvSpPr>
        <p:spPr>
          <a:xfrm>
            <a:off x="548640" y="13258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554480"/>
            <a:ext cx="411480" cy="411480"/>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5544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1</a:t>
            </a:r>
          </a:p>
        </p:txBody>
      </p:sp>
      <p:sp>
        <p:nvSpPr>
          <p:cNvPr id="6" name="TextBox 5"/>
          <p:cNvSpPr txBox="1"/>
          <p:nvPr/>
        </p:nvSpPr>
        <p:spPr>
          <a:xfrm>
            <a:off x="1325880" y="1527048"/>
            <a:ext cx="2651760" cy="548640"/>
          </a:xfrm>
          <a:prstGeom prst="rect">
            <a:avLst/>
          </a:prstGeom>
          <a:noFill/>
        </p:spPr>
        <p:txBody>
          <a:bodyPr wrap="square" lIns="0" rIns="0" tIns="0" bIns="0" anchor="ctr">
            <a:spAutoFit/>
          </a:bodyPr>
          <a:lstStyle/>
          <a:p>
            <a:pPr algn="l"/>
            <a:r>
              <a:rPr sz="1600" b="1" i="0">
                <a:solidFill>
                  <a:srgbClr val="1C2333"/>
                </a:solidFill>
                <a:latin typeface="Calibri"/>
              </a:rPr>
              <a:t>Khoá đề = test chấp nhận viết trước</a:t>
            </a:r>
          </a:p>
        </p:txBody>
      </p:sp>
      <p:sp>
        <p:nvSpPr>
          <p:cNvPr id="7" name="TextBox 6"/>
          <p:cNvSpPr txBox="1"/>
          <p:nvPr/>
        </p:nvSpPr>
        <p:spPr>
          <a:xfrm>
            <a:off x="777240" y="2194560"/>
            <a:ext cx="3154680" cy="1325880"/>
          </a:xfrm>
          <a:prstGeom prst="rect">
            <a:avLst/>
          </a:prstGeom>
          <a:noFill/>
        </p:spPr>
        <p:txBody>
          <a:bodyPr wrap="square" lIns="0" rIns="0" tIns="0" bIns="0" anchor="t">
            <a:spAutoFit/>
          </a:bodyPr>
          <a:lstStyle/>
          <a:p>
            <a:pPr algn="l"/>
            <a:r>
              <a:rPr sz="1350" b="0" i="0">
                <a:solidFill>
                  <a:srgbClr val="394152"/>
                </a:solidFill>
                <a:latin typeface="Calibri"/>
              </a:rPr>
              <a:t>Số 2 và CI viết test độc lập từ đặc tả, so rồi khoá. Người triển khai chỉ thấy test sau khi đã khoá.</a:t>
            </a:r>
          </a:p>
        </p:txBody>
      </p:sp>
      <p:sp>
        <p:nvSpPr>
          <p:cNvPr id="8" name="Rounded Rectangle 7"/>
          <p:cNvSpPr/>
          <p:nvPr/>
        </p:nvSpPr>
        <p:spPr>
          <a:xfrm>
            <a:off x="4297679" y="13258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26279" y="1554480"/>
            <a:ext cx="411480" cy="41148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26279" y="15544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2</a:t>
            </a:r>
          </a:p>
        </p:txBody>
      </p:sp>
      <p:sp>
        <p:nvSpPr>
          <p:cNvPr id="11" name="TextBox 10"/>
          <p:cNvSpPr txBox="1"/>
          <p:nvPr/>
        </p:nvSpPr>
        <p:spPr>
          <a:xfrm>
            <a:off x="5074919" y="1527048"/>
            <a:ext cx="2651760" cy="548640"/>
          </a:xfrm>
          <a:prstGeom prst="rect">
            <a:avLst/>
          </a:prstGeom>
          <a:noFill/>
        </p:spPr>
        <p:txBody>
          <a:bodyPr wrap="square" lIns="0" rIns="0" tIns="0" bIns="0" anchor="ctr">
            <a:spAutoFit/>
          </a:bodyPr>
          <a:lstStyle/>
          <a:p>
            <a:pPr algn="l"/>
            <a:r>
              <a:rPr sz="1600" b="1" i="0">
                <a:solidFill>
                  <a:srgbClr val="1C2333"/>
                </a:solidFill>
                <a:latin typeface="Calibri"/>
              </a:rPr>
              <a:t>Không sửa test, CI, benchmark</a:t>
            </a:r>
          </a:p>
        </p:txBody>
      </p:sp>
      <p:sp>
        <p:nvSpPr>
          <p:cNvPr id="12" name="TextBox 11"/>
          <p:cNvSpPr txBox="1"/>
          <p:nvPr/>
        </p:nvSpPr>
        <p:spPr>
          <a:xfrm>
            <a:off x="4526279" y="2194560"/>
            <a:ext cx="3154680" cy="1325880"/>
          </a:xfrm>
          <a:prstGeom prst="rect">
            <a:avLst/>
          </a:prstGeom>
          <a:noFill/>
        </p:spPr>
        <p:txBody>
          <a:bodyPr wrap="square" lIns="0" rIns="0" tIns="0" bIns="0" anchor="t">
            <a:spAutoFit/>
          </a:bodyPr>
          <a:lstStyle/>
          <a:p>
            <a:pPr algn="l"/>
            <a:r>
              <a:rPr sz="1350" b="0" i="0">
                <a:solidFill>
                  <a:srgbClr val="394152"/>
                </a:solidFill>
                <a:latin typeface="Calibri"/>
              </a:rPr>
              <a:t>Agent hay xoá test, nới assert, mock phần cần kiểm. Những thứ này nằm ngoài quyền ghi của người triển khai.</a:t>
            </a:r>
          </a:p>
        </p:txBody>
      </p:sp>
      <p:sp>
        <p:nvSpPr>
          <p:cNvPr id="13" name="Rounded Rectangle 12"/>
          <p:cNvSpPr/>
          <p:nvPr/>
        </p:nvSpPr>
        <p:spPr>
          <a:xfrm>
            <a:off x="8046719" y="13258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75319" y="1554480"/>
            <a:ext cx="411480" cy="411480"/>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75319" y="15544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3</a:t>
            </a:r>
          </a:p>
        </p:txBody>
      </p:sp>
      <p:sp>
        <p:nvSpPr>
          <p:cNvPr id="16" name="TextBox 15"/>
          <p:cNvSpPr txBox="1"/>
          <p:nvPr/>
        </p:nvSpPr>
        <p:spPr>
          <a:xfrm>
            <a:off x="8823959" y="1527048"/>
            <a:ext cx="2651760" cy="548640"/>
          </a:xfrm>
          <a:prstGeom prst="rect">
            <a:avLst/>
          </a:prstGeom>
          <a:noFill/>
        </p:spPr>
        <p:txBody>
          <a:bodyPr wrap="square" lIns="0" rIns="0" tIns="0" bIns="0" anchor="ctr">
            <a:spAutoFit/>
          </a:bodyPr>
          <a:lstStyle/>
          <a:p>
            <a:pPr algn="l"/>
            <a:r>
              <a:rPr sz="1600" b="1" i="0">
                <a:solidFill>
                  <a:srgbClr val="1C2333"/>
                </a:solidFill>
                <a:latin typeface="Calibri"/>
              </a:rPr>
              <a:t>Mỗi người một nhánh</a:t>
            </a:r>
          </a:p>
        </p:txBody>
      </p:sp>
      <p:sp>
        <p:nvSpPr>
          <p:cNvPr id="17" name="TextBox 16"/>
          <p:cNvSpPr txBox="1"/>
          <p:nvPr/>
        </p:nvSpPr>
        <p:spPr>
          <a:xfrm>
            <a:off x="8275319" y="2194560"/>
            <a:ext cx="3154680" cy="1325880"/>
          </a:xfrm>
          <a:prstGeom prst="rect">
            <a:avLst/>
          </a:prstGeom>
          <a:noFill/>
        </p:spPr>
        <p:txBody>
          <a:bodyPr wrap="square" lIns="0" rIns="0" tIns="0" bIns="0" anchor="t">
            <a:spAutoFit/>
          </a:bodyPr>
          <a:lstStyle/>
          <a:p>
            <a:pPr algn="l"/>
            <a:r>
              <a:rPr sz="1350" b="0" i="0">
                <a:solidFill>
                  <a:srgbClr val="394152"/>
                </a:solidFill>
                <a:latin typeface="Calibri"/>
              </a:rPr>
              <a:t>Mỗi agent làm trên nhánh và thư mục riêng (git worktree). Chỉ CI được merge vào main.</a:t>
            </a:r>
          </a:p>
        </p:txBody>
      </p:sp>
      <p:sp>
        <p:nvSpPr>
          <p:cNvPr id="18" name="Rounded Rectangle 17"/>
          <p:cNvSpPr/>
          <p:nvPr/>
        </p:nvSpPr>
        <p:spPr>
          <a:xfrm>
            <a:off x="548640" y="38404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069080"/>
            <a:ext cx="411480" cy="411480"/>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40690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4</a:t>
            </a:r>
          </a:p>
        </p:txBody>
      </p:sp>
      <p:sp>
        <p:nvSpPr>
          <p:cNvPr id="21" name="TextBox 20"/>
          <p:cNvSpPr txBox="1"/>
          <p:nvPr/>
        </p:nvSpPr>
        <p:spPr>
          <a:xfrm>
            <a:off x="1325880" y="4041648"/>
            <a:ext cx="2651760" cy="548640"/>
          </a:xfrm>
          <a:prstGeom prst="rect">
            <a:avLst/>
          </a:prstGeom>
          <a:noFill/>
        </p:spPr>
        <p:txBody>
          <a:bodyPr wrap="square" lIns="0" rIns="0" tIns="0" bIns="0" anchor="ctr">
            <a:spAutoFit/>
          </a:bodyPr>
          <a:lstStyle/>
          <a:p>
            <a:pPr algn="l"/>
            <a:r>
              <a:rPr sz="1600" b="1" i="0">
                <a:solidFill>
                  <a:srgbClr val="1C2333"/>
                </a:solidFill>
                <a:latin typeface="Calibri"/>
              </a:rPr>
              <a:t>Bắt bệnh “có mà không nối”</a:t>
            </a:r>
          </a:p>
        </p:txBody>
      </p:sp>
      <p:sp>
        <p:nvSpPr>
          <p:cNvPr id="22" name="TextBox 21"/>
          <p:cNvSpPr txBox="1"/>
          <p:nvPr/>
        </p:nvSpPr>
        <p:spPr>
          <a:xfrm>
            <a:off x="777240" y="4709160"/>
            <a:ext cx="3154680" cy="1325880"/>
          </a:xfrm>
          <a:prstGeom prst="rect">
            <a:avLst/>
          </a:prstGeom>
          <a:noFill/>
        </p:spPr>
        <p:txBody>
          <a:bodyPr wrap="square" lIns="0" rIns="0" tIns="0" bIns="0" anchor="t">
            <a:spAutoFit/>
          </a:bodyPr>
          <a:lstStyle/>
          <a:p>
            <a:pPr algn="l"/>
            <a:r>
              <a:rPr sz="1350" b="0" i="0">
                <a:solidFill>
                  <a:srgbClr val="394152"/>
                </a:solidFill>
                <a:latin typeface="Calibri"/>
              </a:rPr>
              <a:t>Bộ đếm gắn trên luồng thật. Thành phần được gọi 0 lần thì coi như chưa tồn tại, dù test xanh.</a:t>
            </a:r>
          </a:p>
        </p:txBody>
      </p:sp>
      <p:sp>
        <p:nvSpPr>
          <p:cNvPr id="23" name="Rounded Rectangle 22"/>
          <p:cNvSpPr/>
          <p:nvPr/>
        </p:nvSpPr>
        <p:spPr>
          <a:xfrm>
            <a:off x="4297679" y="38404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526279" y="4069080"/>
            <a:ext cx="411480" cy="41148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26279" y="40690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5</a:t>
            </a:r>
          </a:p>
        </p:txBody>
      </p:sp>
      <p:sp>
        <p:nvSpPr>
          <p:cNvPr id="26" name="TextBox 25"/>
          <p:cNvSpPr txBox="1"/>
          <p:nvPr/>
        </p:nvSpPr>
        <p:spPr>
          <a:xfrm>
            <a:off x="5074919" y="4041648"/>
            <a:ext cx="2651760" cy="548640"/>
          </a:xfrm>
          <a:prstGeom prst="rect">
            <a:avLst/>
          </a:prstGeom>
          <a:noFill/>
        </p:spPr>
        <p:txBody>
          <a:bodyPr wrap="square" lIns="0" rIns="0" tIns="0" bIns="0" anchor="ctr">
            <a:spAutoFit/>
          </a:bodyPr>
          <a:lstStyle/>
          <a:p>
            <a:pPr algn="l"/>
            <a:r>
              <a:rPr sz="1600" b="1" i="0">
                <a:solidFill>
                  <a:srgbClr val="1C2333"/>
                </a:solidFill>
                <a:latin typeface="Calibri"/>
              </a:rPr>
              <a:t>Phá bằng công cụ trước</a:t>
            </a:r>
          </a:p>
        </p:txBody>
      </p:sp>
      <p:sp>
        <p:nvSpPr>
          <p:cNvPr id="27" name="TextBox 26"/>
          <p:cNvSpPr txBox="1"/>
          <p:nvPr/>
        </p:nvSpPr>
        <p:spPr>
          <a:xfrm>
            <a:off x="4526279" y="4709160"/>
            <a:ext cx="3154680" cy="1325880"/>
          </a:xfrm>
          <a:prstGeom prst="rect">
            <a:avLst/>
          </a:prstGeom>
          <a:noFill/>
        </p:spPr>
        <p:txBody>
          <a:bodyPr wrap="square" lIns="0" rIns="0" tIns="0" bIns="0" anchor="t">
            <a:spAutoFit/>
          </a:bodyPr>
          <a:lstStyle/>
          <a:p>
            <a:pPr algn="l"/>
            <a:r>
              <a:rPr sz="1350" b="0" i="0">
                <a:solidFill>
                  <a:srgbClr val="394152"/>
                </a:solidFill>
                <a:latin typeface="Calibri"/>
              </a:rPr>
              <a:t>Sinh test, fuzzing, kiểm kiểu, phân tích tĩnh trước. Review bằng model khác họ sau. Giữ test ẩn.</a:t>
            </a:r>
          </a:p>
        </p:txBody>
      </p:sp>
      <p:sp>
        <p:nvSpPr>
          <p:cNvPr id="28" name="Rounded Rectangle 27"/>
          <p:cNvSpPr/>
          <p:nvPr/>
        </p:nvSpPr>
        <p:spPr>
          <a:xfrm>
            <a:off x="8046719" y="3840480"/>
            <a:ext cx="356616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275319" y="4069080"/>
            <a:ext cx="411480" cy="411480"/>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19" y="4069080"/>
            <a:ext cx="411480" cy="411480"/>
          </a:xfrm>
          <a:prstGeom prst="rect">
            <a:avLst/>
          </a:prstGeom>
          <a:noFill/>
        </p:spPr>
        <p:txBody>
          <a:bodyPr wrap="square" lIns="0" rIns="0" tIns="0" bIns="0" anchor="ctr">
            <a:spAutoFit/>
          </a:bodyPr>
          <a:lstStyle/>
          <a:p>
            <a:pPr algn="ctr"/>
            <a:r>
              <a:rPr sz="1400" b="1" i="0">
                <a:solidFill>
                  <a:srgbClr val="FFFFFF"/>
                </a:solidFill>
                <a:latin typeface="Calibri"/>
              </a:rPr>
              <a:t>6</a:t>
            </a:r>
          </a:p>
        </p:txBody>
      </p:sp>
      <p:sp>
        <p:nvSpPr>
          <p:cNvPr id="31" name="TextBox 30"/>
          <p:cNvSpPr txBox="1"/>
          <p:nvPr/>
        </p:nvSpPr>
        <p:spPr>
          <a:xfrm>
            <a:off x="8823959" y="4041648"/>
            <a:ext cx="2651760" cy="548640"/>
          </a:xfrm>
          <a:prstGeom prst="rect">
            <a:avLst/>
          </a:prstGeom>
          <a:noFill/>
        </p:spPr>
        <p:txBody>
          <a:bodyPr wrap="square" lIns="0" rIns="0" tIns="0" bIns="0" anchor="ctr">
            <a:spAutoFit/>
          </a:bodyPr>
          <a:lstStyle/>
          <a:p>
            <a:pPr algn="l"/>
            <a:r>
              <a:rPr sz="1600" b="1" i="0">
                <a:solidFill>
                  <a:srgbClr val="1C2333"/>
                </a:solidFill>
                <a:latin typeface="Calibri"/>
              </a:rPr>
              <a:t>Parity khi viết lại cho nhanh</a:t>
            </a:r>
          </a:p>
        </p:txBody>
      </p:sp>
      <p:sp>
        <p:nvSpPr>
          <p:cNvPr id="32" name="TextBox 31"/>
          <p:cNvSpPr txBox="1"/>
          <p:nvPr/>
        </p:nvSpPr>
        <p:spPr>
          <a:xfrm>
            <a:off x="8275319" y="4709160"/>
            <a:ext cx="3154680" cy="1325880"/>
          </a:xfrm>
          <a:prstGeom prst="rect">
            <a:avLst/>
          </a:prstGeom>
          <a:noFill/>
        </p:spPr>
        <p:txBody>
          <a:bodyPr wrap="square" lIns="0" rIns="0" tIns="0" bIns="0" anchor="t">
            <a:spAutoFit/>
          </a:bodyPr>
          <a:lstStyle/>
          <a:p>
            <a:pPr algn="l"/>
            <a:r>
              <a:rPr sz="1350" b="0" i="0">
                <a:solidFill>
                  <a:srgbClr val="394152"/>
                </a:solidFill>
                <a:latin typeface="Calibri"/>
              </a:rPr>
              <a:t>Chạy bản cũ và bản mới trên cùng kho đầu vào lớn, lệch 0 từng quyết định mới được thay.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Coding nghiên cứu (ví dụ VRP): hai trọng tài</a:t>
            </a:r>
          </a:p>
        </p:txBody>
      </p:sp>
      <p:sp>
        <p:nvSpPr>
          <p:cNvPr id="3" name="Rounded Rectangle 2"/>
          <p:cNvSpPr/>
          <p:nvPr/>
        </p:nvSpPr>
        <p:spPr>
          <a:xfrm>
            <a:off x="205740" y="1668779"/>
            <a:ext cx="2514600" cy="868680"/>
          </a:xfrm>
          <a:prstGeom prst="roundRect">
            <a:avLst/>
          </a:prstGeom>
          <a:solidFill>
            <a:srgbClr val="FFFFFF"/>
          </a:solidFill>
          <a:ln w="2540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315468" y="1760219"/>
            <a:ext cx="310896" cy="310896"/>
          </a:xfrm>
          <a:prstGeom prst="ellipse">
            <a:avLst/>
          </a:prstGeom>
          <a:solidFill>
            <a:srgbClr val="2B59D9"/>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15468" y="1760219"/>
            <a:ext cx="310896" cy="310896"/>
          </a:xfrm>
          <a:prstGeom prst="rect">
            <a:avLst/>
          </a:prstGeom>
          <a:noFill/>
        </p:spPr>
        <p:txBody>
          <a:bodyPr wrap="square" lIns="0" rIns="0" tIns="0" bIns="0" anchor="ctr">
            <a:spAutoFit/>
          </a:bodyPr>
          <a:lstStyle/>
          <a:p>
            <a:pPr algn="ctr"/>
            <a:r>
              <a:rPr sz="1000" b="1" i="0">
                <a:solidFill>
                  <a:srgbClr val="FFFFFF"/>
                </a:solidFill>
                <a:latin typeface="Calibri"/>
              </a:rPr>
              <a:t>14</a:t>
            </a:r>
          </a:p>
        </p:txBody>
      </p:sp>
      <p:sp>
        <p:nvSpPr>
          <p:cNvPr id="6" name="TextBox 5"/>
          <p:cNvSpPr txBox="1"/>
          <p:nvPr/>
        </p:nvSpPr>
        <p:spPr>
          <a:xfrm>
            <a:off x="681228" y="1741931"/>
            <a:ext cx="1965960" cy="347472"/>
          </a:xfrm>
          <a:prstGeom prst="rect">
            <a:avLst/>
          </a:prstGeom>
          <a:noFill/>
        </p:spPr>
        <p:txBody>
          <a:bodyPr wrap="square" lIns="0" rIns="0" tIns="0" bIns="0" anchor="ctr">
            <a:spAutoFit/>
          </a:bodyPr>
          <a:lstStyle/>
          <a:p>
            <a:pPr algn="l"/>
            <a:r>
              <a:rPr sz="1500" b="1" i="0">
                <a:solidFill>
                  <a:srgbClr val="1C2333"/>
                </a:solidFill>
                <a:latin typeface="Calibri"/>
              </a:rPr>
              <a:t>Tổ Thực nghiệm</a:t>
            </a:r>
          </a:p>
        </p:txBody>
      </p:sp>
      <p:sp>
        <p:nvSpPr>
          <p:cNvPr id="7" name="TextBox 6"/>
          <p:cNvSpPr txBox="1"/>
          <p:nvPr/>
        </p:nvSpPr>
        <p:spPr>
          <a:xfrm>
            <a:off x="278892" y="210769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sinh heuristic, tìm kiếm tiến hoá</a:t>
            </a:r>
          </a:p>
        </p:txBody>
      </p:sp>
      <p:sp>
        <p:nvSpPr>
          <p:cNvPr id="8" name="Rounded Rectangle 7"/>
          <p:cNvSpPr/>
          <p:nvPr/>
        </p:nvSpPr>
        <p:spPr>
          <a:xfrm>
            <a:off x="2903220" y="1668779"/>
            <a:ext cx="2514600" cy="868680"/>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012948" y="1760219"/>
            <a:ext cx="310896" cy="310896"/>
          </a:xfrm>
          <a:prstGeom prst="ellipse">
            <a:avLst/>
          </a:prstGeom>
          <a:solidFill>
            <a:srgbClr val="A86C0E"/>
          </a:solidFill>
          <a:ln w="15875">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12948" y="1760219"/>
            <a:ext cx="310896" cy="310896"/>
          </a:xfrm>
          <a:prstGeom prst="rect">
            <a:avLst/>
          </a:prstGeom>
          <a:noFill/>
        </p:spPr>
        <p:txBody>
          <a:bodyPr wrap="square" lIns="0" rIns="0" tIns="0" bIns="0" anchor="ctr">
            <a:spAutoFit/>
          </a:bodyPr>
          <a:lstStyle/>
          <a:p>
            <a:pPr algn="ctr"/>
            <a:r>
              <a:rPr sz="1000" b="1" i="0">
                <a:solidFill>
                  <a:srgbClr val="FFFFFF"/>
                </a:solidFill>
                <a:latin typeface="Calibri"/>
              </a:rPr>
              <a:t>1</a:t>
            </a:r>
          </a:p>
        </p:txBody>
      </p:sp>
      <p:sp>
        <p:nvSpPr>
          <p:cNvPr id="11" name="TextBox 10"/>
          <p:cNvSpPr txBox="1"/>
          <p:nvPr/>
        </p:nvSpPr>
        <p:spPr>
          <a:xfrm>
            <a:off x="3378708" y="1741931"/>
            <a:ext cx="1965960" cy="347472"/>
          </a:xfrm>
          <a:prstGeom prst="rect">
            <a:avLst/>
          </a:prstGeom>
          <a:noFill/>
        </p:spPr>
        <p:txBody>
          <a:bodyPr wrap="square" lIns="0" rIns="0" tIns="0" bIns="0" anchor="ctr">
            <a:spAutoFit/>
          </a:bodyPr>
          <a:lstStyle/>
          <a:p>
            <a:pPr algn="l"/>
            <a:r>
              <a:rPr sz="1500" b="1" i="0">
                <a:solidFill>
                  <a:srgbClr val="1C2333"/>
                </a:solidFill>
                <a:latin typeface="Calibri"/>
              </a:rPr>
              <a:t>Trọng tài đúng</a:t>
            </a:r>
          </a:p>
        </p:txBody>
      </p:sp>
      <p:sp>
        <p:nvSpPr>
          <p:cNvPr id="12" name="TextBox 11"/>
          <p:cNvSpPr txBox="1"/>
          <p:nvPr/>
        </p:nvSpPr>
        <p:spPr>
          <a:xfrm>
            <a:off x="2976372" y="210769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tính lại toàn phần từ dữ liệu thô</a:t>
            </a:r>
          </a:p>
        </p:txBody>
      </p:sp>
      <p:sp>
        <p:nvSpPr>
          <p:cNvPr id="13" name="Rounded Rectangle 12"/>
          <p:cNvSpPr/>
          <p:nvPr/>
        </p:nvSpPr>
        <p:spPr>
          <a:xfrm>
            <a:off x="5600700" y="1668779"/>
            <a:ext cx="2514600" cy="868680"/>
          </a:xfrm>
          <a:prstGeom prst="roundRect">
            <a:avLst/>
          </a:prstGeom>
          <a:solidFill>
            <a:srgbClr val="FFFFFF"/>
          </a:solidFill>
          <a:ln w="25400">
            <a:solidFill>
              <a:srgbClr val="A86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76188" y="1741931"/>
            <a:ext cx="1965960" cy="347472"/>
          </a:xfrm>
          <a:prstGeom prst="rect">
            <a:avLst/>
          </a:prstGeom>
          <a:noFill/>
        </p:spPr>
        <p:txBody>
          <a:bodyPr wrap="square" lIns="0" rIns="0" tIns="0" bIns="0" anchor="ctr">
            <a:spAutoFit/>
          </a:bodyPr>
          <a:lstStyle/>
          <a:p>
            <a:pPr algn="l"/>
            <a:r>
              <a:rPr sz="1500" b="1" i="0">
                <a:solidFill>
                  <a:srgbClr val="1C2333"/>
                </a:solidFill>
                <a:latin typeface="Calibri"/>
              </a:rPr>
              <a:t>Trọng tài hiệu năng</a:t>
            </a:r>
          </a:p>
        </p:txBody>
      </p:sp>
      <p:sp>
        <p:nvSpPr>
          <p:cNvPr id="17" name="TextBox 16"/>
          <p:cNvSpPr txBox="1"/>
          <p:nvPr/>
        </p:nvSpPr>
        <p:spPr>
          <a:xfrm>
            <a:off x="5673852" y="210769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benchmark, tập niêm phong, nhiều hạt giống</a:t>
            </a:r>
          </a:p>
        </p:txBody>
      </p:sp>
      <p:sp>
        <p:nvSpPr>
          <p:cNvPr id="18" name="Rounded Rectangle 17"/>
          <p:cNvSpPr/>
          <p:nvPr/>
        </p:nvSpPr>
        <p:spPr>
          <a:xfrm>
            <a:off x="8298179" y="1668779"/>
            <a:ext cx="2514600" cy="868680"/>
          </a:xfrm>
          <a:prstGeom prst="roundRect">
            <a:avLst/>
          </a:prstGeom>
          <a:solidFill>
            <a:srgbClr val="FFFFFF"/>
          </a:solidFill>
          <a:ln w="25400">
            <a:solidFill>
              <a:srgbClr val="157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89619" y="1741931"/>
            <a:ext cx="1965960" cy="347472"/>
          </a:xfrm>
          <a:prstGeom prst="rect">
            <a:avLst/>
          </a:prstGeom>
          <a:noFill/>
        </p:spPr>
        <p:txBody>
          <a:bodyPr wrap="square" lIns="0" rIns="0" tIns="0" bIns="0" anchor="ctr">
            <a:spAutoFit/>
          </a:bodyPr>
          <a:lstStyle/>
          <a:p>
            <a:pPr algn="ctr"/>
            <a:r>
              <a:rPr sz="1500" b="1" i="0">
                <a:solidFill>
                  <a:srgbClr val="1C2333"/>
                </a:solidFill>
                <a:latin typeface="Calibri"/>
              </a:rPr>
              <a:t>Kho kết quả</a:t>
            </a:r>
          </a:p>
        </p:txBody>
      </p:sp>
      <p:sp>
        <p:nvSpPr>
          <p:cNvPr id="20" name="TextBox 19"/>
          <p:cNvSpPr txBox="1"/>
          <p:nvPr/>
        </p:nvSpPr>
        <p:spPr>
          <a:xfrm>
            <a:off x="8371331" y="210769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chỉ nhận cái vừa đúng vừa tốt hơn</a:t>
            </a:r>
          </a:p>
        </p:txBody>
      </p:sp>
      <p:cxnSp>
        <p:nvCxnSpPr>
          <p:cNvPr id="21" name="Connector 20"/>
          <p:cNvCxnSpPr/>
          <p:nvPr/>
        </p:nvCxnSpPr>
        <p:spPr>
          <a:xfrm>
            <a:off x="2724912" y="2103120"/>
            <a:ext cx="173736" cy="0"/>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22392" y="2103120"/>
            <a:ext cx="173736" cy="0"/>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19872" y="2103120"/>
            <a:ext cx="173736" cy="0"/>
          </a:xfrm>
          <a:prstGeom prst="line">
            <a:avLst/>
          </a:prstGeom>
          <a:ln w="31750">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926080" y="2606040"/>
            <a:ext cx="2468880" cy="274320"/>
          </a:xfrm>
          <a:prstGeom prst="rect">
            <a:avLst/>
          </a:prstGeom>
          <a:noFill/>
        </p:spPr>
        <p:txBody>
          <a:bodyPr wrap="square" lIns="0" rIns="0" tIns="0" bIns="0" anchor="t">
            <a:spAutoFit/>
          </a:bodyPr>
          <a:lstStyle/>
          <a:p>
            <a:pPr algn="ctr"/>
            <a:r>
              <a:rPr sz="1200" b="1" i="0">
                <a:solidFill>
                  <a:srgbClr val="C93A2A"/>
                </a:solidFill>
                <a:latin typeface="Calibri"/>
              </a:rPr>
              <a:t>sai: loại ngay</a:t>
            </a:r>
          </a:p>
        </p:txBody>
      </p:sp>
      <p:sp>
        <p:nvSpPr>
          <p:cNvPr id="25" name="TextBox 24"/>
          <p:cNvSpPr txBox="1"/>
          <p:nvPr/>
        </p:nvSpPr>
        <p:spPr>
          <a:xfrm>
            <a:off x="5623560" y="2606040"/>
            <a:ext cx="2468880" cy="274320"/>
          </a:xfrm>
          <a:prstGeom prst="rect">
            <a:avLst/>
          </a:prstGeom>
          <a:noFill/>
        </p:spPr>
        <p:txBody>
          <a:bodyPr wrap="square" lIns="0" rIns="0" tIns="0" bIns="0" anchor="t">
            <a:spAutoFit/>
          </a:bodyPr>
          <a:lstStyle/>
          <a:p>
            <a:pPr algn="ctr"/>
            <a:r>
              <a:rPr sz="1200" b="1" i="0">
                <a:solidFill>
                  <a:srgbClr val="C93A2A"/>
                </a:solidFill>
                <a:latin typeface="Calibri"/>
              </a:rPr>
              <a:t>không tốt hơn: ghi thất bại</a:t>
            </a:r>
          </a:p>
        </p:txBody>
      </p:sp>
      <p:sp>
        <p:nvSpPr>
          <p:cNvPr id="26" name="Rounded Rectangle 25"/>
          <p:cNvSpPr/>
          <p:nvPr/>
        </p:nvSpPr>
        <p:spPr>
          <a:xfrm>
            <a:off x="205740" y="3543299"/>
            <a:ext cx="2514600" cy="868680"/>
          </a:xfrm>
          <a:prstGeom prst="roundRect">
            <a:avLst/>
          </a:prstGeom>
          <a:solidFill>
            <a:srgbClr val="FFFFFF"/>
          </a:solidFill>
          <a:ln w="15875">
            <a:solidFill>
              <a:srgbClr val="2B59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315468" y="3634739"/>
            <a:ext cx="310896" cy="310896"/>
          </a:xfrm>
          <a:prstGeom prst="ellipse">
            <a:avLst/>
          </a:prstGeom>
          <a:solidFill>
            <a:srgbClr val="FFFFFF"/>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15468" y="3634739"/>
            <a:ext cx="310896" cy="310896"/>
          </a:xfrm>
          <a:prstGeom prst="rect">
            <a:avLst/>
          </a:prstGeom>
          <a:noFill/>
        </p:spPr>
        <p:txBody>
          <a:bodyPr wrap="square" lIns="0" rIns="0" tIns="0" bIns="0" anchor="ctr">
            <a:spAutoFit/>
          </a:bodyPr>
          <a:lstStyle/>
          <a:p>
            <a:pPr algn="ctr"/>
            <a:r>
              <a:rPr sz="1000" b="1" i="0">
                <a:solidFill>
                  <a:srgbClr val="2B59D9"/>
                </a:solidFill>
                <a:latin typeface="Calibri"/>
              </a:rPr>
              <a:t>10</a:t>
            </a:r>
          </a:p>
        </p:txBody>
      </p:sp>
      <p:sp>
        <p:nvSpPr>
          <p:cNvPr id="29" name="TextBox 28"/>
          <p:cNvSpPr txBox="1"/>
          <p:nvPr/>
        </p:nvSpPr>
        <p:spPr>
          <a:xfrm>
            <a:off x="681228" y="3616451"/>
            <a:ext cx="1965960" cy="347472"/>
          </a:xfrm>
          <a:prstGeom prst="rect">
            <a:avLst/>
          </a:prstGeom>
          <a:noFill/>
        </p:spPr>
        <p:txBody>
          <a:bodyPr wrap="square" lIns="0" rIns="0" tIns="0" bIns="0" anchor="ctr">
            <a:spAutoFit/>
          </a:bodyPr>
          <a:lstStyle/>
          <a:p>
            <a:pPr algn="l"/>
            <a:r>
              <a:rPr sz="1500" b="1" i="0">
                <a:solidFill>
                  <a:srgbClr val="1C2333"/>
                </a:solidFill>
                <a:latin typeface="Calibri"/>
              </a:rPr>
              <a:t>Trong ngành</a:t>
            </a:r>
          </a:p>
        </p:txBody>
      </p:sp>
      <p:sp>
        <p:nvSpPr>
          <p:cNvPr id="30" name="TextBox 29"/>
          <p:cNvSpPr txBox="1"/>
          <p:nvPr/>
        </p:nvSpPr>
        <p:spPr>
          <a:xfrm>
            <a:off x="278892" y="398221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HGS, ALNS, SISR, mô tả đoạn</a:t>
            </a:r>
          </a:p>
        </p:txBody>
      </p:sp>
      <p:sp>
        <p:nvSpPr>
          <p:cNvPr id="31" name="Rounded Rectangle 30"/>
          <p:cNvSpPr/>
          <p:nvPr/>
        </p:nvSpPr>
        <p:spPr>
          <a:xfrm>
            <a:off x="2903220" y="3543299"/>
            <a:ext cx="2514600" cy="868680"/>
          </a:xfrm>
          <a:prstGeom prst="roundRect">
            <a:avLst/>
          </a:prstGeom>
          <a:solidFill>
            <a:srgbClr val="FFFFFF"/>
          </a:solidFill>
          <a:ln w="15875">
            <a:solidFill>
              <a:srgbClr val="2B59D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3012948" y="3634739"/>
            <a:ext cx="310896" cy="310896"/>
          </a:xfrm>
          <a:prstGeom prst="ellipse">
            <a:avLst/>
          </a:prstGeom>
          <a:solidFill>
            <a:srgbClr val="FFFFFF"/>
          </a:solidFill>
          <a:ln w="15875">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012948" y="3634739"/>
            <a:ext cx="310896" cy="310896"/>
          </a:xfrm>
          <a:prstGeom prst="rect">
            <a:avLst/>
          </a:prstGeom>
          <a:noFill/>
        </p:spPr>
        <p:txBody>
          <a:bodyPr wrap="square" lIns="0" rIns="0" tIns="0" bIns="0" anchor="ctr">
            <a:spAutoFit/>
          </a:bodyPr>
          <a:lstStyle/>
          <a:p>
            <a:pPr algn="ctr"/>
            <a:r>
              <a:rPr sz="1000" b="1" i="0">
                <a:solidFill>
                  <a:srgbClr val="2B59D9"/>
                </a:solidFill>
                <a:latin typeface="Calibri"/>
              </a:rPr>
              <a:t>7/11</a:t>
            </a:r>
          </a:p>
        </p:txBody>
      </p:sp>
      <p:sp>
        <p:nvSpPr>
          <p:cNvPr id="34" name="TextBox 33"/>
          <p:cNvSpPr txBox="1"/>
          <p:nvPr/>
        </p:nvSpPr>
        <p:spPr>
          <a:xfrm>
            <a:off x="3378708" y="3616451"/>
            <a:ext cx="1965960" cy="347472"/>
          </a:xfrm>
          <a:prstGeom prst="rect">
            <a:avLst/>
          </a:prstGeom>
          <a:noFill/>
        </p:spPr>
        <p:txBody>
          <a:bodyPr wrap="square" lIns="0" rIns="0" tIns="0" bIns="0" anchor="ctr">
            <a:spAutoFit/>
          </a:bodyPr>
          <a:lstStyle/>
          <a:p>
            <a:pPr algn="l"/>
            <a:r>
              <a:rPr sz="1500" b="1" i="0">
                <a:solidFill>
                  <a:srgbClr val="1C2333"/>
                </a:solidFill>
                <a:latin typeface="Calibri"/>
              </a:rPr>
              <a:t>Xuyên ngành</a:t>
            </a:r>
          </a:p>
        </p:txBody>
      </p:sp>
      <p:sp>
        <p:nvSpPr>
          <p:cNvPr id="35" name="TextBox 34"/>
          <p:cNvSpPr txBox="1"/>
          <p:nvPr/>
        </p:nvSpPr>
        <p:spPr>
          <a:xfrm>
            <a:off x="2976372" y="398221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SAT/CP, học máy, ủ nhiệt</a:t>
            </a:r>
          </a:p>
        </p:txBody>
      </p:sp>
      <p:sp>
        <p:nvSpPr>
          <p:cNvPr id="36" name="Rounded Rectangle 35"/>
          <p:cNvSpPr/>
          <p:nvPr/>
        </p:nvSpPr>
        <p:spPr>
          <a:xfrm>
            <a:off x="5600700" y="3543299"/>
            <a:ext cx="2514600" cy="868680"/>
          </a:xfrm>
          <a:prstGeom prst="roundRect">
            <a:avLst/>
          </a:prstGeom>
          <a:solidFill>
            <a:srgbClr val="FFFFFF"/>
          </a:solidFill>
          <a:ln w="15875">
            <a:solidFill>
              <a:srgbClr val="C93A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710428" y="3634739"/>
            <a:ext cx="310896" cy="310896"/>
          </a:xfrm>
          <a:prstGeom prst="ellipse">
            <a:avLst/>
          </a:prstGeom>
          <a:solidFill>
            <a:srgbClr val="FFFFFF"/>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710428" y="3634739"/>
            <a:ext cx="310896" cy="310896"/>
          </a:xfrm>
          <a:prstGeom prst="rect">
            <a:avLst/>
          </a:prstGeom>
          <a:noFill/>
        </p:spPr>
        <p:txBody>
          <a:bodyPr wrap="square" lIns="0" rIns="0" tIns="0" bIns="0" anchor="ctr">
            <a:spAutoFit/>
          </a:bodyPr>
          <a:lstStyle/>
          <a:p>
            <a:pPr algn="ctr"/>
            <a:r>
              <a:rPr sz="1000" b="1" i="0">
                <a:solidFill>
                  <a:srgbClr val="C93A2A"/>
                </a:solidFill>
                <a:latin typeface="Calibri"/>
              </a:rPr>
              <a:t>4</a:t>
            </a:r>
          </a:p>
        </p:txBody>
      </p:sp>
      <p:sp>
        <p:nvSpPr>
          <p:cNvPr id="39" name="TextBox 38"/>
          <p:cNvSpPr txBox="1"/>
          <p:nvPr/>
        </p:nvSpPr>
        <p:spPr>
          <a:xfrm>
            <a:off x="6076188" y="3616451"/>
            <a:ext cx="1965960" cy="347472"/>
          </a:xfrm>
          <a:prstGeom prst="rect">
            <a:avLst/>
          </a:prstGeom>
          <a:noFill/>
        </p:spPr>
        <p:txBody>
          <a:bodyPr wrap="square" lIns="0" rIns="0" tIns="0" bIns="0" anchor="ctr">
            <a:spAutoFit/>
          </a:bodyPr>
          <a:lstStyle/>
          <a:p>
            <a:pPr algn="l"/>
            <a:r>
              <a:rPr sz="1500" b="1" i="0">
                <a:solidFill>
                  <a:srgbClr val="1C2333"/>
                </a:solidFill>
                <a:latin typeface="Calibri"/>
              </a:rPr>
              <a:t>Phá</a:t>
            </a:r>
          </a:p>
        </p:txBody>
      </p:sp>
      <p:sp>
        <p:nvSpPr>
          <p:cNvPr id="40" name="TextBox 39"/>
          <p:cNvSpPr txBox="1"/>
          <p:nvPr/>
        </p:nvSpPr>
        <p:spPr>
          <a:xfrm>
            <a:off x="5673852" y="398221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sinh đề đối kháng, kiểm chính xác ca nhỏ</a:t>
            </a:r>
          </a:p>
        </p:txBody>
      </p:sp>
      <p:sp>
        <p:nvSpPr>
          <p:cNvPr id="41" name="Rounded Rectangle 40"/>
          <p:cNvSpPr/>
          <p:nvPr/>
        </p:nvSpPr>
        <p:spPr>
          <a:xfrm>
            <a:off x="8298179" y="3543299"/>
            <a:ext cx="2514600" cy="868680"/>
          </a:xfrm>
          <a:prstGeom prst="roundRect">
            <a:avLst/>
          </a:prstGeom>
          <a:solidFill>
            <a:srgbClr val="FFFFFF"/>
          </a:solidFill>
          <a:ln w="15875">
            <a:solidFill>
              <a:srgbClr val="C93A2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8407907" y="3634739"/>
            <a:ext cx="310896" cy="310896"/>
          </a:xfrm>
          <a:prstGeom prst="ellipse">
            <a:avLst/>
          </a:prstGeom>
          <a:solidFill>
            <a:srgbClr val="FFFFFF"/>
          </a:solidFill>
          <a:ln w="15875">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407907" y="3634739"/>
            <a:ext cx="310896" cy="310896"/>
          </a:xfrm>
          <a:prstGeom prst="rect">
            <a:avLst/>
          </a:prstGeom>
          <a:noFill/>
        </p:spPr>
        <p:txBody>
          <a:bodyPr wrap="square" lIns="0" rIns="0" tIns="0" bIns="0" anchor="ctr">
            <a:spAutoFit/>
          </a:bodyPr>
          <a:lstStyle/>
          <a:p>
            <a:pPr algn="ctr"/>
            <a:r>
              <a:rPr sz="1000" b="1" i="0">
                <a:solidFill>
                  <a:srgbClr val="C93A2A"/>
                </a:solidFill>
                <a:latin typeface="Calibri"/>
              </a:rPr>
              <a:t>3</a:t>
            </a:r>
          </a:p>
        </p:txBody>
      </p:sp>
      <p:sp>
        <p:nvSpPr>
          <p:cNvPr id="44" name="TextBox 43"/>
          <p:cNvSpPr txBox="1"/>
          <p:nvPr/>
        </p:nvSpPr>
        <p:spPr>
          <a:xfrm>
            <a:off x="8773667" y="3616451"/>
            <a:ext cx="1965960" cy="347472"/>
          </a:xfrm>
          <a:prstGeom prst="rect">
            <a:avLst/>
          </a:prstGeom>
          <a:noFill/>
        </p:spPr>
        <p:txBody>
          <a:bodyPr wrap="square" lIns="0" rIns="0" tIns="0" bIns="0" anchor="ctr">
            <a:spAutoFit/>
          </a:bodyPr>
          <a:lstStyle/>
          <a:p>
            <a:pPr algn="l"/>
            <a:r>
              <a:rPr sz="1500" b="1" i="0">
                <a:solidFill>
                  <a:srgbClr val="1C2333"/>
                </a:solidFill>
                <a:latin typeface="Calibri"/>
              </a:rPr>
              <a:t>Tính mới</a:t>
            </a:r>
          </a:p>
        </p:txBody>
      </p:sp>
      <p:sp>
        <p:nvSpPr>
          <p:cNvPr id="45" name="TextBox 44"/>
          <p:cNvSpPr txBox="1"/>
          <p:nvPr/>
        </p:nvSpPr>
        <p:spPr>
          <a:xfrm>
            <a:off x="8371331" y="3982211"/>
            <a:ext cx="2368296" cy="237744"/>
          </a:xfrm>
          <a:prstGeom prst="rect">
            <a:avLst/>
          </a:prstGeom>
          <a:noFill/>
        </p:spPr>
        <p:txBody>
          <a:bodyPr wrap="square" lIns="0" rIns="0" tIns="0" bIns="0" anchor="ctr">
            <a:spAutoFit/>
          </a:bodyPr>
          <a:lstStyle/>
          <a:p>
            <a:pPr algn="ctr"/>
            <a:r>
              <a:rPr sz="1100" b="0" i="0">
                <a:solidFill>
                  <a:srgbClr val="394152"/>
                </a:solidFill>
                <a:latin typeface="Calibri"/>
              </a:rPr>
              <a:t>toán tử “mới” có thể đã có tên khác</a:t>
            </a:r>
          </a:p>
        </p:txBody>
      </p:sp>
      <p:cxnSp>
        <p:nvCxnSpPr>
          <p:cNvPr id="46" name="Connector 45"/>
          <p:cNvCxnSpPr/>
          <p:nvPr/>
        </p:nvCxnSpPr>
        <p:spPr>
          <a:xfrm flipV="1">
            <a:off x="1463040" y="2560320"/>
            <a:ext cx="0" cy="960120"/>
          </a:xfrm>
          <a:prstGeom prst="line">
            <a:avLst/>
          </a:prstGeom>
          <a:ln w="19050">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011680" y="2560320"/>
            <a:ext cx="2148840" cy="960120"/>
          </a:xfrm>
          <a:prstGeom prst="line">
            <a:avLst/>
          </a:prstGeom>
          <a:ln w="19050">
            <a:solidFill>
              <a:srgbClr val="2B59D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72000" y="2560320"/>
            <a:ext cx="2286000" cy="960120"/>
          </a:xfrm>
          <a:prstGeom prst="line">
            <a:avLst/>
          </a:prstGeom>
          <a:ln w="19050">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555480" y="2560320"/>
            <a:ext cx="0" cy="960120"/>
          </a:xfrm>
          <a:prstGeom prst="line">
            <a:avLst/>
          </a:prstGeom>
          <a:ln w="19050">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48640" y="4892040"/>
            <a:ext cx="11064240" cy="1463040"/>
          </a:xfrm>
          <a:prstGeom prst="rect">
            <a:avLst/>
          </a:prstGeom>
          <a:noFill/>
        </p:spPr>
        <p:txBody>
          <a:bodyPr wrap="square" lIns="0" rIns="0" tIns="0" bIns="0" anchor="t">
            <a:spAutoFit/>
          </a:bodyPr>
          <a:lstStyle/>
          <a:p>
            <a:pPr algn="l"/>
            <a:r>
              <a:rPr sz="1500" b="1" i="0">
                <a:solidFill>
                  <a:srgbClr val="1C2333"/>
                </a:solidFill>
                <a:latin typeface="Calibri"/>
              </a:rPr>
              <a:t>Vì sao hai trọng tài: </a:t>
            </a:r>
            <a:r>
              <a:rPr sz="1500" b="0" i="0">
                <a:solidFill>
                  <a:srgbClr val="394152"/>
                </a:solidFill>
                <a:latin typeface="Calibri"/>
              </a:rPr>
              <a:t>một thuật toán có thể đúng mà không tốt hơn. Số 1 (thủ môn, một trong 11 cầu thủ) giữ “đúng”; trọng tài hiệu năng (ngoài sân, không mang số, không đá cho bên nào) giữ “tốt”: bộ đề, harness và thống kê. Không ai khác được đụng vào hai thứ đó.</a:t>
            </a:r>
          </a:p>
          <a:p>
            <a:pPr algn="l"/>
            <a:r>
              <a:rPr sz="1500" b="1" i="0">
                <a:solidFill>
                  <a:srgbClr val="1C2333"/>
                </a:solidFill>
                <a:latin typeface="Calibri"/>
              </a:rPr>
              <a:t>Năm đội hình VRP đã có sẵn phần “đúng”. </a:t>
            </a:r>
            <a:r>
              <a:rPr sz="1500" b="0" i="0">
                <a:solidFill>
                  <a:srgbClr val="394152"/>
                </a:solidFill>
                <a:latin typeface="Calibri"/>
              </a:rPr>
              <a:t>Thứ cần thêm là kỷ luật cho phần “tốt”.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Kỷ luật đo cho nghiên cứu thuật toán</a:t>
            </a:r>
          </a:p>
        </p:txBody>
      </p:sp>
      <p:graphicFrame>
        <p:nvGraphicFramePr>
          <p:cNvPr id="3" name="Table 2"/>
          <p:cNvGraphicFramePr>
            <a:graphicFrameLocks noGrp="1"/>
          </p:cNvGraphicFramePr>
          <p:nvPr/>
        </p:nvGraphicFramePr>
        <p:xfrm>
          <a:off x="548640" y="1280160"/>
          <a:ext cx="11064240" cy="4773168"/>
        </p:xfrm>
        <a:graphic>
          <a:graphicData uri="http://schemas.openxmlformats.org/drawingml/2006/table">
            <a:tbl>
              <a:tblPr firstRow="1" bandRow="1">
                <a:tableStyleId>{5C22544A-7EE6-4342-B048-85BDC9FD1C3A}</a:tableStyleId>
              </a:tblPr>
              <a:tblGrid>
                <a:gridCol w="2743200"/>
                <a:gridCol w="8321040"/>
              </a:tblGrid>
              <a:tr h="530352">
                <a:tc>
                  <a:txBody>
                    <a:bodyPr/>
                    <a:lstStyle/>
                    <a:p>
                      <a:r>
                        <a:rPr sz="1400" b="1">
                          <a:solidFill>
                            <a:srgbClr val="FFFFFF"/>
                          </a:solidFill>
                          <a:latin typeface="Calibri"/>
                        </a:rPr>
                        <a:t>Hạng mục</a:t>
                      </a:r>
                    </a:p>
                  </a:txBody>
                  <a:tcPr marL="91440" marR="91440" marT="45720" marB="45720" anchor="ctr">
                    <a:solidFill>
                      <a:srgbClr val="A86C0E"/>
                    </a:solidFill>
                  </a:tcPr>
                </a:tc>
                <a:tc>
                  <a:txBody>
                    <a:bodyPr/>
                    <a:lstStyle/>
                    <a:p>
                      <a:r>
                        <a:rPr sz="1400" b="1">
                          <a:solidFill>
                            <a:srgbClr val="FFFFFF"/>
                          </a:solidFill>
                          <a:latin typeface="Calibri"/>
                        </a:rPr>
                        <a:t>Luật</a:t>
                      </a:r>
                    </a:p>
                  </a:txBody>
                  <a:tcPr marL="91440" marR="91440" marT="45720" marB="45720" anchor="ctr">
                    <a:solidFill>
                      <a:srgbClr val="A86C0E"/>
                    </a:solidFill>
                  </a:tcPr>
                </a:tc>
              </a:tr>
              <a:tr h="530352">
                <a:tc>
                  <a:txBody>
                    <a:bodyPr/>
                    <a:lstStyle/>
                    <a:p>
                      <a:r>
                        <a:rPr sz="1400" b="1">
                          <a:solidFill>
                            <a:srgbClr val="1C2333"/>
                          </a:solidFill>
                          <a:latin typeface="Calibri"/>
                        </a:rPr>
                        <a:t>Bộ đề</a:t>
                      </a:r>
                    </a:p>
                  </a:txBody>
                  <a:tcPr marL="91440" marR="91440" marT="45720" marB="45720" anchor="ctr">
                    <a:solidFill>
                      <a:srgbClr val="F2F4F7"/>
                    </a:solidFill>
                  </a:tcPr>
                </a:tc>
                <a:tc>
                  <a:txBody>
                    <a:bodyPr/>
                    <a:lstStyle/>
                    <a:p>
                      <a:r>
                        <a:rPr sz="1400" b="0">
                          <a:solidFill>
                            <a:srgbClr val="394152"/>
                          </a:solidFill>
                          <a:latin typeface="Calibri"/>
                        </a:rPr>
                        <a:t>Ba tập: huấn luyện, kiểm định, niêm phong. Tập niêm phong do trọng tài hiệu năng giữ, mở đúng một lần sau khi chốt cấu hình, chỉ để báo cáo</a:t>
                      </a:r>
                    </a:p>
                  </a:txBody>
                  <a:tcPr marL="91440" marR="91440" marT="45720" marB="45720" anchor="ctr">
                    <a:solidFill>
                      <a:srgbClr val="F2F4F7"/>
                    </a:solidFill>
                  </a:tcPr>
                </a:tc>
              </a:tr>
              <a:tr h="530352">
                <a:tc>
                  <a:txBody>
                    <a:bodyPr/>
                    <a:lstStyle/>
                    <a:p>
                      <a:r>
                        <a:rPr sz="1400" b="1">
                          <a:solidFill>
                            <a:srgbClr val="1C2333"/>
                          </a:solidFill>
                          <a:latin typeface="Calibri"/>
                        </a:rPr>
                        <a:t>Chỉ số</a:t>
                      </a:r>
                    </a:p>
                  </a:txBody>
                  <a:tcPr marL="91440" marR="91440" marT="45720" marB="45720" anchor="ctr">
                    <a:solidFill>
                      <a:srgbClr val="FFFFFF"/>
                    </a:solidFill>
                  </a:tcPr>
                </a:tc>
                <a:tc>
                  <a:txBody>
                    <a:bodyPr/>
                    <a:lstStyle/>
                    <a:p>
                      <a:r>
                        <a:rPr sz="1400" b="0">
                          <a:solidFill>
                            <a:srgbClr val="394152"/>
                          </a:solidFill>
                          <a:latin typeface="Calibri"/>
                        </a:rPr>
                        <a:t>Khoảng cách so với kết quả tốt nhất đã biết, tỉ lệ khả thi, đường cong anytime</a:t>
                      </a:r>
                    </a:p>
                  </a:txBody>
                  <a:tcPr marL="91440" marR="91440" marT="45720" marB="45720" anchor="ctr">
                    <a:solidFill>
                      <a:srgbClr val="FFFFFF"/>
                    </a:solidFill>
                  </a:tcPr>
                </a:tc>
              </a:tr>
              <a:tr h="530352">
                <a:tc>
                  <a:txBody>
                    <a:bodyPr/>
                    <a:lstStyle/>
                    <a:p>
                      <a:r>
                        <a:rPr sz="1400" b="1">
                          <a:solidFill>
                            <a:srgbClr val="1C2333"/>
                          </a:solidFill>
                          <a:latin typeface="Calibri"/>
                        </a:rPr>
                        <a:t>Hạt giống</a:t>
                      </a:r>
                    </a:p>
                  </a:txBody>
                  <a:tcPr marL="91440" marR="91440" marT="45720" marB="45720" anchor="ctr">
                    <a:solidFill>
                      <a:srgbClr val="F2F4F7"/>
                    </a:solidFill>
                  </a:tcPr>
                </a:tc>
                <a:tc>
                  <a:txBody>
                    <a:bodyPr/>
                    <a:lstStyle/>
                    <a:p>
                      <a:r>
                        <a:rPr sz="1400" b="0">
                          <a:solidFill>
                            <a:srgbClr val="394152"/>
                          </a:solidFill>
                          <a:latin typeface="Calibri"/>
                        </a:rPr>
                        <a:t>Nhiều hạt giống; báo trung vị, tứ phân vị, kèm kiểm định thống kê</a:t>
                      </a:r>
                    </a:p>
                  </a:txBody>
                  <a:tcPr marL="91440" marR="91440" marT="45720" marB="45720" anchor="ctr">
                    <a:solidFill>
                      <a:srgbClr val="F2F4F7"/>
                    </a:solidFill>
                  </a:tcPr>
                </a:tc>
              </a:tr>
              <a:tr h="530352">
                <a:tc>
                  <a:txBody>
                    <a:bodyPr/>
                    <a:lstStyle/>
                    <a:p>
                      <a:r>
                        <a:rPr sz="1400" b="1">
                          <a:solidFill>
                            <a:srgbClr val="1C2333"/>
                          </a:solidFill>
                          <a:latin typeface="Calibri"/>
                        </a:rPr>
                        <a:t>Báo cáo</a:t>
                      </a:r>
                    </a:p>
                  </a:txBody>
                  <a:tcPr marL="91440" marR="91440" marT="45720" marB="45720" anchor="ctr">
                    <a:solidFill>
                      <a:srgbClr val="FFFFFF"/>
                    </a:solidFill>
                  </a:tcPr>
                </a:tc>
                <a:tc>
                  <a:txBody>
                    <a:bodyPr/>
                    <a:lstStyle/>
                    <a:p>
                      <a:r>
                        <a:rPr sz="1400" b="0">
                          <a:solidFill>
                            <a:srgbClr val="394152"/>
                          </a:solidFill>
                          <a:latin typeface="Calibri"/>
                        </a:rPr>
                        <a:t>Theo từng đề, không chỉ trung bình; tụt ở một nhóm đề là một phát hiện riêng</a:t>
                      </a:r>
                    </a:p>
                  </a:txBody>
                  <a:tcPr marL="91440" marR="91440" marT="45720" marB="45720" anchor="ctr">
                    <a:solidFill>
                      <a:srgbClr val="FFFFFF"/>
                    </a:solidFill>
                  </a:tcPr>
                </a:tc>
              </a:tr>
              <a:tr h="530352">
                <a:tc>
                  <a:txBody>
                    <a:bodyPr/>
                    <a:lstStyle/>
                    <a:p>
                      <a:r>
                        <a:rPr sz="1400" b="1">
                          <a:solidFill>
                            <a:srgbClr val="1C2333"/>
                          </a:solidFill>
                          <a:latin typeface="Calibri"/>
                        </a:rPr>
                        <a:t>Tính toán công bằng</a:t>
                      </a:r>
                    </a:p>
                  </a:txBody>
                  <a:tcPr marL="91440" marR="91440" marT="45720" marB="45720" anchor="ctr">
                    <a:solidFill>
                      <a:srgbClr val="F2F4F7"/>
                    </a:solidFill>
                  </a:tcPr>
                </a:tc>
                <a:tc>
                  <a:txBody>
                    <a:bodyPr/>
                    <a:lstStyle/>
                    <a:p>
                      <a:r>
                        <a:rPr sz="1400" b="0">
                          <a:solidFill>
                            <a:srgbClr val="394152"/>
                          </a:solidFill>
                          <a:latin typeface="Calibri"/>
                        </a:rPr>
                        <a:t>Cùng phần cứng, một lõi, cùng trần thời gian; khởi động tính trong ngân sách</a:t>
                      </a:r>
                    </a:p>
                  </a:txBody>
                  <a:tcPr marL="91440" marR="91440" marT="45720" marB="45720" anchor="ctr">
                    <a:solidFill>
                      <a:srgbClr val="F2F4F7"/>
                    </a:solidFill>
                  </a:tcPr>
                </a:tc>
              </a:tr>
              <a:tr h="530352">
                <a:tc>
                  <a:txBody>
                    <a:bodyPr/>
                    <a:lstStyle/>
                    <a:p>
                      <a:r>
                        <a:rPr sz="1400" b="1">
                          <a:solidFill>
                            <a:srgbClr val="1C2333"/>
                          </a:solidFill>
                          <a:latin typeface="Calibri"/>
                        </a:rPr>
                        <a:t>Thang nghiệm thu</a:t>
                      </a:r>
                    </a:p>
                  </a:txBody>
                  <a:tcPr marL="91440" marR="91440" marT="45720" marB="45720" anchor="ctr">
                    <a:solidFill>
                      <a:srgbClr val="FFFFFF"/>
                    </a:solidFill>
                  </a:tcPr>
                </a:tc>
                <a:tc>
                  <a:txBody>
                    <a:bodyPr/>
                    <a:lstStyle/>
                    <a:p>
                      <a:r>
                        <a:rPr sz="1400" b="0">
                          <a:solidFill>
                            <a:srgbClr val="394152"/>
                          </a:solidFill>
                          <a:latin typeface="Calibri"/>
                        </a:rPr>
                        <a:t>Đề nhỏ → đề vừa → bộ đầy đủ, đều trên tập kiểm định; giết ý ở tầng rẻ nhất</a:t>
                      </a:r>
                    </a:p>
                  </a:txBody>
                  <a:tcPr marL="91440" marR="91440" marT="45720" marB="45720" anchor="ctr">
                    <a:solidFill>
                      <a:srgbClr val="FFFFFF"/>
                    </a:solidFill>
                  </a:tcPr>
                </a:tc>
              </a:tr>
              <a:tr h="530352">
                <a:tc>
                  <a:txBody>
                    <a:bodyPr/>
                    <a:lstStyle/>
                    <a:p>
                      <a:r>
                        <a:rPr sz="1400" b="1">
                          <a:solidFill>
                            <a:srgbClr val="1C2333"/>
                          </a:solidFill>
                          <a:latin typeface="Calibri"/>
                        </a:rPr>
                        <a:t>Ablation</a:t>
                      </a:r>
                    </a:p>
                  </a:txBody>
                  <a:tcPr marL="91440" marR="91440" marT="45720" marB="45720" anchor="ctr">
                    <a:solidFill>
                      <a:srgbClr val="F2F4F7"/>
                    </a:solidFill>
                  </a:tcPr>
                </a:tc>
                <a:tc>
                  <a:txBody>
                    <a:bodyPr/>
                    <a:lstStyle/>
                    <a:p>
                      <a:r>
                        <a:rPr sz="1400" b="0">
                          <a:solidFill>
                            <a:srgbClr val="394152"/>
                          </a:solidFill>
                          <a:latin typeface="Calibri"/>
                        </a:rPr>
                        <a:t>Mỗi cơ chế một cờ; điều kiện chết ghi trước; chạm ngưỡng thì tự tắt</a:t>
                      </a:r>
                    </a:p>
                  </a:txBody>
                  <a:tcPr marL="91440" marR="91440" marT="45720" marB="45720" anchor="ctr">
                    <a:solidFill>
                      <a:srgbClr val="F2F4F7"/>
                    </a:solidFill>
                  </a:tcPr>
                </a:tc>
              </a:tr>
              <a:tr h="530352">
                <a:tc>
                  <a:txBody>
                    <a:bodyPr/>
                    <a:lstStyle/>
                    <a:p>
                      <a:r>
                        <a:rPr sz="1400" b="1">
                          <a:solidFill>
                            <a:srgbClr val="1C2333"/>
                          </a:solidFill>
                          <a:latin typeface="Calibri"/>
                        </a:rPr>
                        <a:t>Học máy</a:t>
                      </a:r>
                    </a:p>
                  </a:txBody>
                  <a:tcPr marL="91440" marR="91440" marT="45720" marB="45720" anchor="ctr">
                    <a:solidFill>
                      <a:srgbClr val="FFFFFF"/>
                    </a:solidFill>
                  </a:tcPr>
                </a:tc>
                <a:tc>
                  <a:txBody>
                    <a:bodyPr/>
                    <a:lstStyle/>
                    <a:p>
                      <a:r>
                        <a:rPr sz="1400" b="0">
                          <a:solidFill>
                            <a:srgbClr val="394152"/>
                          </a:solidFill>
                          <a:latin typeface="Calibri"/>
                        </a:rPr>
                        <a:t>Mặc định tắt; chỉ bật khi thắng bật–tắt trên tập kiểm định, đăng ký trước. Tập niêm phong không dùng để chọn</a:t>
                      </a:r>
                    </a:p>
                  </a:txBody>
                  <a:tcPr marL="91440" marR="91440" marT="45720" marB="45720"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Các pha của đội nghiên cứu thuật toán</a:t>
            </a:r>
          </a:p>
        </p:txBody>
      </p:sp>
      <p:graphicFrame>
        <p:nvGraphicFramePr>
          <p:cNvPr id="3" name="Table 2"/>
          <p:cNvGraphicFramePr>
            <a:graphicFrameLocks noGrp="1"/>
          </p:cNvGraphicFramePr>
          <p:nvPr/>
        </p:nvGraphicFramePr>
        <p:xfrm>
          <a:off x="548640" y="1371600"/>
          <a:ext cx="11064240" cy="3886200"/>
        </p:xfrm>
        <a:graphic>
          <a:graphicData uri="http://schemas.openxmlformats.org/drawingml/2006/table">
            <a:tbl>
              <a:tblPr firstRow="1" bandRow="1">
                <a:tableStyleId>{5C22544A-7EE6-4342-B048-85BDC9FD1C3A}</a:tableStyleId>
              </a:tblPr>
              <a:tblGrid>
                <a:gridCol w="2743200"/>
                <a:gridCol w="6400800"/>
                <a:gridCol w="1920240"/>
              </a:tblGrid>
              <a:tr h="777240">
                <a:tc>
                  <a:txBody>
                    <a:bodyPr/>
                    <a:lstStyle/>
                    <a:p>
                      <a:r>
                        <a:rPr sz="1500" b="1">
                          <a:solidFill>
                            <a:srgbClr val="FFFFFF"/>
                          </a:solidFill>
                          <a:latin typeface="Calibri"/>
                        </a:rPr>
                        <a:t>Pha</a:t>
                      </a:r>
                    </a:p>
                  </a:txBody>
                  <a:tcPr marL="91440" marR="91440" marT="45720" marB="45720" anchor="ctr">
                    <a:solidFill>
                      <a:srgbClr val="1C2333"/>
                    </a:solidFill>
                  </a:tcPr>
                </a:tc>
                <a:tc>
                  <a:txBody>
                    <a:bodyPr/>
                    <a:lstStyle/>
                    <a:p>
                      <a:r>
                        <a:rPr sz="1500" b="1">
                          <a:solidFill>
                            <a:srgbClr val="FFFFFF"/>
                          </a:solidFill>
                          <a:latin typeface="Calibri"/>
                        </a:rPr>
                        <a:t>Làm gì</a:t>
                      </a:r>
                    </a:p>
                  </a:txBody>
                  <a:tcPr marL="91440" marR="91440" marT="45720" marB="45720" anchor="ctr">
                    <a:solidFill>
                      <a:srgbClr val="1C2333"/>
                    </a:solidFill>
                  </a:tcPr>
                </a:tc>
                <a:tc>
                  <a:txBody>
                    <a:bodyPr/>
                    <a:lstStyle/>
                    <a:p>
                      <a:r>
                        <a:rPr sz="1500" b="1">
                          <a:solidFill>
                            <a:srgbClr val="FFFFFF"/>
                          </a:solidFill>
                          <a:latin typeface="Calibri"/>
                        </a:rPr>
                        <a:t>Ai chạy chính</a:t>
                      </a:r>
                    </a:p>
                  </a:txBody>
                  <a:tcPr marL="91440" marR="91440" marT="45720" marB="45720" anchor="ctr">
                    <a:solidFill>
                      <a:srgbClr val="1C2333"/>
                    </a:solidFill>
                  </a:tcPr>
                </a:tc>
              </a:tr>
              <a:tr h="777240">
                <a:tc>
                  <a:txBody>
                    <a:bodyPr/>
                    <a:lstStyle/>
                    <a:p>
                      <a:r>
                        <a:rPr sz="1500" b="1">
                          <a:solidFill>
                            <a:srgbClr val="1C2333"/>
                          </a:solidFill>
                          <a:latin typeface="Calibri"/>
                        </a:rPr>
                        <a:t>0  Xây từ sân nhà</a:t>
                      </a:r>
                    </a:p>
                  </a:txBody>
                  <a:tcPr marL="91440" marR="91440" marT="45720" marB="45720" anchor="ctr">
                    <a:solidFill>
                      <a:srgbClr val="F2F4F7"/>
                    </a:solidFill>
                  </a:tcPr>
                </a:tc>
                <a:tc>
                  <a:txBody>
                    <a:bodyPr/>
                    <a:lstStyle/>
                    <a:p>
                      <a:r>
                        <a:rPr sz="1500" b="0">
                          <a:solidFill>
                            <a:srgbClr val="394152"/>
                          </a:solidFill>
                          <a:latin typeface="Calibri"/>
                        </a:rPr>
                        <a:t>Đo cấu trúc bộ đề, dựng bản mẫu chậm làm thước, khoá hợp đồng cắm</a:t>
                      </a:r>
                    </a:p>
                  </a:txBody>
                  <a:tcPr marL="91440" marR="91440" marT="45720" marB="45720" anchor="ctr">
                    <a:solidFill>
                      <a:srgbClr val="F2F4F7"/>
                    </a:solidFill>
                  </a:tcPr>
                </a:tc>
                <a:tc>
                  <a:txBody>
                    <a:bodyPr/>
                    <a:lstStyle/>
                    <a:p>
                      <a:r>
                        <a:rPr sz="1500" b="0">
                          <a:solidFill>
                            <a:srgbClr val="394152"/>
                          </a:solidFill>
                          <a:latin typeface="Calibri"/>
                        </a:rPr>
                        <a:t>1, 8, 10 + trọng tài hiệu năng</a:t>
                      </a:r>
                    </a:p>
                  </a:txBody>
                  <a:tcPr marL="91440" marR="91440" marT="45720" marB="45720" anchor="ctr">
                    <a:solidFill>
                      <a:srgbClr val="F2F4F7"/>
                    </a:solidFill>
                  </a:tcPr>
                </a:tc>
              </a:tr>
              <a:tr h="777240">
                <a:tc>
                  <a:txBody>
                    <a:bodyPr/>
                    <a:lstStyle/>
                    <a:p>
                      <a:r>
                        <a:rPr sz="1500" b="1">
                          <a:solidFill>
                            <a:srgbClr val="1C2333"/>
                          </a:solidFill>
                          <a:latin typeface="Calibri"/>
                        </a:rPr>
                        <a:t>1  Khám phá</a:t>
                      </a:r>
                    </a:p>
                  </a:txBody>
                  <a:tcPr marL="91440" marR="91440" marT="45720" marB="45720" anchor="ctr">
                    <a:solidFill>
                      <a:srgbClr val="FFFFFF"/>
                    </a:solidFill>
                  </a:tcPr>
                </a:tc>
                <a:tc>
                  <a:txBody>
                    <a:bodyPr/>
                    <a:lstStyle/>
                    <a:p>
                      <a:r>
                        <a:rPr sz="1500" b="0">
                          <a:solidFill>
                            <a:srgbClr val="394152"/>
                          </a:solidFill>
                          <a:latin typeface="Calibri"/>
                        </a:rPr>
                        <a:t>Thử nhiều ý nhanh trên đề nhỏ, ngân sách nhỏ; tổ Thực nghiệm chạy tiến hoá</a:t>
                      </a:r>
                    </a:p>
                  </a:txBody>
                  <a:tcPr marL="91440" marR="91440" marT="45720" marB="45720" anchor="ctr">
                    <a:solidFill>
                      <a:srgbClr val="FFFFFF"/>
                    </a:solidFill>
                  </a:tcPr>
                </a:tc>
                <a:tc>
                  <a:txBody>
                    <a:bodyPr/>
                    <a:lstStyle/>
                    <a:p>
                      <a:r>
                        <a:rPr sz="1500" b="0">
                          <a:solidFill>
                            <a:srgbClr val="394152"/>
                          </a:solidFill>
                          <a:latin typeface="Calibri"/>
                        </a:rPr>
                        <a:t>14, 10, 7, 11</a:t>
                      </a:r>
                    </a:p>
                  </a:txBody>
                  <a:tcPr marL="91440" marR="91440" marT="45720" marB="45720" anchor="ctr">
                    <a:solidFill>
                      <a:srgbClr val="FFFFFF"/>
                    </a:solidFill>
                  </a:tcPr>
                </a:tc>
              </a:tr>
              <a:tr h="777240">
                <a:tc>
                  <a:txBody>
                    <a:bodyPr/>
                    <a:lstStyle/>
                    <a:p>
                      <a:r>
                        <a:rPr sz="1500" b="1">
                          <a:solidFill>
                            <a:srgbClr val="1C2333"/>
                          </a:solidFill>
                          <a:latin typeface="Calibri"/>
                        </a:rPr>
                        <a:t>2  Phản pressing</a:t>
                      </a:r>
                    </a:p>
                  </a:txBody>
                  <a:tcPr marL="91440" marR="91440" marT="45720" marB="45720" anchor="ctr">
                    <a:solidFill>
                      <a:srgbClr val="F2F4F7"/>
                    </a:solidFill>
                  </a:tcPr>
                </a:tc>
                <a:tc>
                  <a:txBody>
                    <a:bodyPr/>
                    <a:lstStyle/>
                    <a:p>
                      <a:r>
                        <a:rPr sz="1500" b="0">
                          <a:solidFill>
                            <a:srgbClr val="394152"/>
                          </a:solidFill>
                          <a:latin typeface="Calibri"/>
                        </a:rPr>
                        <a:t>Một thay đổi làm tụt điểm ở một nhóm đề: dồn vào đúng nhóm đó trong cửa sổ ngắn</a:t>
                      </a:r>
                    </a:p>
                  </a:txBody>
                  <a:tcPr marL="91440" marR="91440" marT="45720" marB="45720" anchor="ctr">
                    <a:solidFill>
                      <a:srgbClr val="F2F4F7"/>
                    </a:solidFill>
                  </a:tcPr>
                </a:tc>
                <a:tc>
                  <a:txBody>
                    <a:bodyPr/>
                    <a:lstStyle/>
                    <a:p>
                      <a:r>
                        <a:rPr sz="1500" b="0">
                          <a:solidFill>
                            <a:srgbClr val="394152"/>
                          </a:solidFill>
                          <a:latin typeface="Calibri"/>
                        </a:rPr>
                        <a:t>14, 4, 9</a:t>
                      </a:r>
                    </a:p>
                  </a:txBody>
                  <a:tcPr marL="91440" marR="91440" marT="45720" marB="45720" anchor="ctr">
                    <a:solidFill>
                      <a:srgbClr val="F2F4F7"/>
                    </a:solidFill>
                  </a:tcPr>
                </a:tc>
              </a:tr>
              <a:tr h="777240">
                <a:tc>
                  <a:txBody>
                    <a:bodyPr/>
                    <a:lstStyle/>
                    <a:p>
                      <a:r>
                        <a:rPr sz="1500" b="1">
                          <a:solidFill>
                            <a:srgbClr val="1C2333"/>
                          </a:solidFill>
                          <a:latin typeface="Calibri"/>
                        </a:rPr>
                        <a:t>3  Kiểm và chốt</a:t>
                      </a:r>
                    </a:p>
                  </a:txBody>
                  <a:tcPr marL="91440" marR="91440" marT="45720" marB="45720" anchor="ctr">
                    <a:solidFill>
                      <a:srgbClr val="FFFFFF"/>
                    </a:solidFill>
                  </a:tcPr>
                </a:tc>
                <a:tc>
                  <a:txBody>
                    <a:bodyPr/>
                    <a:lstStyle/>
                    <a:p>
                      <a:r>
                        <a:rPr sz="1500" b="0">
                          <a:solidFill>
                            <a:srgbClr val="394152"/>
                          </a:solidFill>
                          <a:latin typeface="Calibri"/>
                        </a:rPr>
                        <a:t>Benchmark đầy đủ, ablation một cờ trên tập kiểm định, chốt cấu hình, mở tập niêm phong một lần, kiểm tính mới</a:t>
                      </a:r>
                    </a:p>
                  </a:txBody>
                  <a:tcPr marL="91440" marR="91440" marT="45720" marB="45720" anchor="ctr">
                    <a:solidFill>
                      <a:srgbClr val="FFFFFF"/>
                    </a:solidFill>
                  </a:tcPr>
                </a:tc>
                <a:tc>
                  <a:txBody>
                    <a:bodyPr/>
                    <a:lstStyle/>
                    <a:p>
                      <a:r>
                        <a:rPr sz="1500" b="0">
                          <a:solidFill>
                            <a:srgbClr val="394152"/>
                          </a:solidFill>
                          <a:latin typeface="Calibri"/>
                        </a:rPr>
                        <a:t>1, 4, 3 + trọng tài hiệu năng</a:t>
                      </a:r>
                    </a:p>
                  </a:txBody>
                  <a:tcPr marL="91440" marR="91440" marT="45720" marB="45720" anchor="ctr">
                    <a:solidFill>
                      <a:srgbClr val="FFFFFF"/>
                    </a:solidFill>
                  </a:tcPr>
                </a:tc>
              </a:tr>
            </a:tbl>
          </a:graphicData>
        </a:graphic>
      </p:graphicFrame>
      <p:sp>
        <p:nvSpPr>
          <p:cNvPr id="4" name="TextBox 3"/>
          <p:cNvSpPr txBox="1"/>
          <p:nvPr/>
        </p:nvSpPr>
        <p:spPr>
          <a:xfrm>
            <a:off x="548640" y="5486400"/>
            <a:ext cx="11064240" cy="731520"/>
          </a:xfrm>
          <a:prstGeom prst="rect">
            <a:avLst/>
          </a:prstGeom>
          <a:noFill/>
        </p:spPr>
        <p:txBody>
          <a:bodyPr wrap="square" lIns="0" rIns="0" tIns="0" bIns="0" anchor="t">
            <a:spAutoFit/>
          </a:bodyPr>
          <a:lstStyle/>
          <a:p>
            <a:pPr algn="l"/>
            <a:r>
              <a:rPr sz="1500" b="1" i="0">
                <a:solidFill>
                  <a:srgbClr val="1C2333"/>
                </a:solidFill>
                <a:latin typeface="Calibri"/>
              </a:rPr>
              <a:t>Vòng tối ưu hai tầng: </a:t>
            </a:r>
            <a:r>
              <a:rPr sz="1500" b="0" i="0">
                <a:solidFill>
                  <a:srgbClr val="394152"/>
                </a:solidFill>
                <a:latin typeface="Calibri"/>
              </a:rPr>
              <a:t>tổ Thực nghiệm chạy vòng trong (sinh, chấm, giữ hay bỏ); Số 6 chạy vòng ngoài, tối ưu chính cách vòng trong tìm kiếm.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p>
            <a:pPr marL="0" indent="0" algn="l">
              <a:buNone/>
            </a:pPr>
            <a:r>
              <a:rPr lang="en-US" sz="4400" b="1" dirty="0">
                <a:solidFill>
                  <a:schemeClr val="bg1"/>
                </a:solidFill>
                <a:latin typeface="Cambria" pitchFamily="34" charset="0"/>
                <a:ea typeface="Cambria" pitchFamily="34" charset="-122"/>
                <a:cs typeface="Cambria" pitchFamily="34" charset="-120"/>
              </a:rPr>
              <a:t>Sinh rộng ở trên, phán bằng bằng chứng ở dưới</a:t>
            </a:r>
            <a:endParaRPr lang="en-US" sz="4400" dirty="0"/>
          </a:p>
        </p:txBody>
      </p:sp>
      <p:sp>
        <p:nvSpPr>
          <p:cNvPr id="3" name="Text 0"/>
          <p:cNvSpPr>
            <a:spLocks noGrp="1"/>
          </p:cNvSpPr>
          <p:nvPr>
            <p:ph type="body" idx="101" hasCustomPrompt="1"/>
          </p:nvPr>
        </p:nvSpPr>
        <p:spPr>
          <a:xfrm>
            <a:off x="731520" y="3474720"/>
            <a:ext cx="10698480" cy="1097280"/>
          </a:xfrm>
          <a:prstGeom prst="rect">
            <a:avLst/>
          </a:prstGeom>
          <a:noFill/>
          <a:ln/>
        </p:spPr>
        <p:txBody>
          <a:bodyPr wrap="square" rtlCol="0"/>
          <a:lstStyle/>
          <a:p>
            <a:pPr marL="0" indent="0" algn="l">
              <a:buNone/>
            </a:pPr>
            <a:r>
              <a:rPr lang="en-US" sz="2000" i="1" dirty="0">
                <a:solidFill>
                  <a:schemeClr val="bg2"/>
                </a:solidFill>
              </a:rPr>
              <a:t>Đủ 11 ghế. Ghế nào chưa cần thì ngồi nghỉ.</a:t>
            </a:r>
            <a:endParaRPr lang="en-US" sz="2000" dirty="0"/>
          </a:p>
        </p:txBody>
      </p:sp>
      <p:sp>
        <p:nvSpPr>
          <p:cNvPr id="4" name="Shape 2"/>
          <p:cNvSpPr/>
          <p:nvPr/>
        </p:nvSpPr>
        <p:spPr>
          <a:xfrm>
            <a:off x="731520" y="4937760"/>
            <a:ext cx="256032" cy="256032"/>
          </a:xfrm>
          <a:prstGeom prst="ellipse">
            <a:avLst/>
          </a:prstGeom>
          <a:solidFill>
            <a:srgbClr val="2B59D9"/>
          </a:solidFill>
          <a:ln w="12700">
            <a:solidFill>
              <a:srgbClr val="2B59D9"/>
            </a:solidFill>
            <a:prstDash val="solid"/>
          </a:ln>
        </p:spPr>
        <p:txBody>
          <a:bodyPr/>
          <a:lstStyle/>
          <a:p>
            <a:endParaRPr lang="en-US"/>
          </a:p>
        </p:txBody>
      </p:sp>
      <p:sp>
        <p:nvSpPr>
          <p:cNvPr id="5" name="Shape 3"/>
          <p:cNvSpPr/>
          <p:nvPr/>
        </p:nvSpPr>
        <p:spPr>
          <a:xfrm>
            <a:off x="1143000" y="4937760"/>
            <a:ext cx="256032" cy="256032"/>
          </a:xfrm>
          <a:prstGeom prst="ellipse">
            <a:avLst/>
          </a:prstGeom>
          <a:solidFill>
            <a:srgbClr val="FFFFFF"/>
          </a:solidFill>
          <a:ln w="12700">
            <a:solidFill>
              <a:srgbClr val="FFFFFF"/>
            </a:solidFill>
            <a:prstDash val="solid"/>
          </a:ln>
        </p:spPr>
        <p:txBody>
          <a:bodyPr/>
          <a:lstStyle/>
          <a:p>
            <a:endParaRPr lang="en-US"/>
          </a:p>
        </p:txBody>
      </p:sp>
      <p:sp>
        <p:nvSpPr>
          <p:cNvPr id="6" name="Shape 4"/>
          <p:cNvSpPr/>
          <p:nvPr/>
        </p:nvSpPr>
        <p:spPr>
          <a:xfrm>
            <a:off x="1554480" y="4937760"/>
            <a:ext cx="256032" cy="256032"/>
          </a:xfrm>
          <a:prstGeom prst="ellipse">
            <a:avLst/>
          </a:prstGeom>
          <a:solidFill>
            <a:srgbClr val="C93A2A"/>
          </a:solidFill>
          <a:ln w="12700">
            <a:solidFill>
              <a:srgbClr val="C93A2A"/>
            </a:solidFill>
            <a:prstDash val="solid"/>
          </a:ln>
        </p:spPr>
        <p:txBody>
          <a:bodyPr/>
          <a:lstStyle/>
          <a:p>
            <a:endParaRPr lang="en-US"/>
          </a:p>
        </p:txBody>
      </p:sp>
      <p:sp>
        <p:nvSpPr>
          <p:cNvPr id="7" name="Shape 5"/>
          <p:cNvSpPr/>
          <p:nvPr/>
        </p:nvSpPr>
        <p:spPr>
          <a:xfrm>
            <a:off x="1965960" y="4937760"/>
            <a:ext cx="256032" cy="256032"/>
          </a:xfrm>
          <a:prstGeom prst="ellipse">
            <a:avLst/>
          </a:prstGeom>
          <a:solidFill>
            <a:srgbClr val="A86C0E"/>
          </a:solidFill>
          <a:ln w="12700">
            <a:solidFill>
              <a:srgbClr val="A86C0E"/>
            </a:solidFill>
            <a:prstDash val="solid"/>
          </a:ln>
        </p:spPr>
        <p:txBody>
          <a:bodyPr/>
          <a:lstStyle/>
          <a:p>
            <a:endParaRPr lang="en-US"/>
          </a:p>
        </p:txBody>
      </p:sp>
      <p:sp>
        <p:nvSpPr>
          <p:cNvPr id="8" name="Shape 6"/>
          <p:cNvSpPr/>
          <p:nvPr/>
        </p:nvSpPr>
        <p:spPr>
          <a:xfrm>
            <a:off x="2377440" y="4937760"/>
            <a:ext cx="256032" cy="256032"/>
          </a:xfrm>
          <a:prstGeom prst="ellipse">
            <a:avLst/>
          </a:prstGeom>
          <a:solidFill>
            <a:srgbClr val="157A55"/>
          </a:solidFill>
          <a:ln w="12700">
            <a:solidFill>
              <a:srgbClr val="157A55"/>
            </a:solidFill>
            <a:prstDash val="solid"/>
          </a:ln>
        </p:spPr>
        <p:txBody>
          <a:bodyPr/>
          <a:lstStyle/>
          <a:p>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Bộ công cụ cho từng cầu thủ: hàng thủ</a:t>
            </a:r>
          </a:p>
        </p:txBody>
      </p:sp>
      <p:graphicFrame>
        <p:nvGraphicFramePr>
          <p:cNvPr id="3" name="Table 2"/>
          <p:cNvGraphicFramePr>
            <a:graphicFrameLocks noGrp="1"/>
          </p:cNvGraphicFramePr>
          <p:nvPr/>
        </p:nvGraphicFramePr>
        <p:xfrm>
          <a:off x="548640" y="1234440"/>
          <a:ext cx="11064240" cy="4279392"/>
        </p:xfrm>
        <a:graphic>
          <a:graphicData uri="http://schemas.openxmlformats.org/drawingml/2006/table">
            <a:tbl>
              <a:tblPr firstRow="1" bandRow="1">
                <a:tableStyleId>{5C22544A-7EE6-4342-B048-85BDC9FD1C3A}</a:tableStyleId>
              </a:tblPr>
              <a:tblGrid>
                <a:gridCol w="2194560"/>
                <a:gridCol w="4206240"/>
                <a:gridCol w="4663440"/>
              </a:tblGrid>
              <a:tr h="713232">
                <a:tc>
                  <a:txBody>
                    <a:bodyPr/>
                    <a:lstStyle/>
                    <a:p>
                      <a:r>
                        <a:rPr sz="1300" b="1">
                          <a:solidFill>
                            <a:srgbClr val="FFFFFF"/>
                          </a:solidFill>
                          <a:latin typeface="Calibri"/>
                        </a:rPr>
                        <a:t>Ghế</a:t>
                      </a:r>
                    </a:p>
                  </a:txBody>
                  <a:tcPr marL="91440" marR="91440" marT="36576" marB="36576" anchor="ctr">
                    <a:solidFill>
                      <a:srgbClr val="C93A2A"/>
                    </a:solidFill>
                  </a:tcPr>
                </a:tc>
                <a:tc>
                  <a:txBody>
                    <a:bodyPr/>
                    <a:lstStyle/>
                    <a:p>
                      <a:r>
                        <a:rPr sz="1300" b="1">
                          <a:solidFill>
                            <a:srgbClr val="FFFFFF"/>
                          </a:solidFill>
                          <a:latin typeface="Calibri"/>
                        </a:rPr>
                        <a:t>Có sẵn (bấm vào tên để mở)</a:t>
                      </a:r>
                    </a:p>
                  </a:txBody>
                  <a:tcPr marL="91440" marR="91440" marT="36576" marB="36576" anchor="ctr">
                    <a:solidFill>
                      <a:srgbClr val="C93A2A"/>
                    </a:solidFill>
                  </a:tcPr>
                </a:tc>
                <a:tc>
                  <a:txBody>
                    <a:bodyPr/>
                    <a:lstStyle/>
                    <a:p>
                      <a:r>
                        <a:rPr sz="1300" b="1">
                          <a:solidFill>
                            <a:srgbClr val="FFFFFF"/>
                          </a:solidFill>
                          <a:latin typeface="Calibri"/>
                        </a:rPr>
                        <a:t>Còn thiếu: phải tự viết</a:t>
                      </a:r>
                    </a:p>
                  </a:txBody>
                  <a:tcPr marL="91440" marR="91440" marT="36576" marB="36576" anchor="ctr">
                    <a:solidFill>
                      <a:srgbClr val="C93A2A"/>
                    </a:solidFill>
                  </a:tcPr>
                </a:tc>
              </a:tr>
              <a:tr h="713232">
                <a:tc>
                  <a:txBody>
                    <a:bodyPr/>
                    <a:lstStyle/>
                    <a:p>
                      <a:r>
                        <a:rPr sz="1300" b="1">
                          <a:solidFill>
                            <a:srgbClr val="1C2333"/>
                          </a:solidFill>
                          <a:latin typeface="Calibri"/>
                        </a:rPr>
                        <a:t>1 Kiểm chứng cuối</a:t>
                      </a:r>
                    </a:p>
                  </a:txBody>
                  <a:tcPr marL="91440" marR="91440" marT="36576" marB="36576" anchor="ctr">
                    <a:solidFill>
                      <a:srgbClr val="F2F4F7"/>
                    </a:solidFill>
                  </a:tcPr>
                </a:tc>
                <a:tc>
                  <a:txBody>
                    <a:bodyPr/>
                    <a:lstStyle/>
                    <a:p>
                      <a:r>
                        <a:rPr sz="1300" b="0" u="sng">
                          <a:solidFill>
                            <a:srgbClr val="2B59D9"/>
                          </a:solidFill>
                          <a:latin typeface="Calibri"/>
                          <a:hlinkClick r:id="rId2"/>
                        </a:rPr>
                        <a:t>lean4-skills</a:t>
                      </a:r>
                      <a:r>
                        <a:rPr sz="1300">
                          <a:solidFill>
                            <a:srgbClr val="394152"/>
                          </a:solidFill>
                          <a:latin typeface="Calibri"/>
                        </a:rPr>
                        <a:t>; </a:t>
                      </a:r>
                      <a:r>
                        <a:rPr sz="1300" b="0" u="sng">
                          <a:solidFill>
                            <a:srgbClr val="2B59D9"/>
                          </a:solidFill>
                          <a:latin typeface="Calibri"/>
                          <a:hlinkClick r:id="rId3"/>
                        </a:rPr>
                        <a:t>lean-lsp-mcp</a:t>
                      </a:r>
                      <a:r>
                        <a:rPr sz="1300">
                          <a:solidFill>
                            <a:srgbClr val="394152"/>
                          </a:solidFill>
                          <a:latin typeface="Calibri"/>
                        </a:rPr>
                        <a:t>; </a:t>
                      </a:r>
                      <a:r>
                        <a:rPr sz="1300" b="0" u="sng">
                          <a:solidFill>
                            <a:srgbClr val="2B59D9"/>
                          </a:solidFill>
                          <a:latin typeface="Calibri"/>
                          <a:hlinkClick r:id="rId4"/>
                        </a:rPr>
                        <a:t>aristotle-lean</a:t>
                      </a:r>
                    </a:p>
                  </a:txBody>
                  <a:tcPr marL="91440" marR="91440" marT="36576" marB="36576" anchor="ctr">
                    <a:solidFill>
                      <a:srgbClr val="F2F4F7"/>
                    </a:solidFill>
                  </a:tcPr>
                </a:tc>
                <a:tc>
                  <a:txBody>
                    <a:bodyPr/>
                    <a:lstStyle/>
                    <a:p>
                      <a:r>
                        <a:rPr sz="1300" b="0">
                          <a:solidFill>
                            <a:srgbClr val="394152"/>
                          </a:solidFill>
                          <a:latin typeface="Calibri"/>
                        </a:rPr>
                        <a:t>Đã có hook guard_locked.py chặn sửa file đã khoá. Còn: axiom, sorry, môi trường sạch, nhãn tính lại</a:t>
                      </a:r>
                    </a:p>
                  </a:txBody>
                  <a:tcPr marL="91440" marR="91440" marT="36576" marB="36576" anchor="ctr">
                    <a:solidFill>
                      <a:srgbClr val="F2F4F7"/>
                    </a:solidFill>
                  </a:tcPr>
                </a:tc>
              </a:tr>
              <a:tr h="713232">
                <a:tc>
                  <a:txBody>
                    <a:bodyPr/>
                    <a:lstStyle/>
                    <a:p>
                      <a:r>
                        <a:rPr sz="1300" b="1">
                          <a:solidFill>
                            <a:srgbClr val="1C2333"/>
                          </a:solidFill>
                          <a:latin typeface="Calibri"/>
                        </a:rPr>
                        <a:t>2 Soát chứng minh</a:t>
                      </a:r>
                    </a:p>
                  </a:txBody>
                  <a:tcPr marL="91440" marR="91440" marT="36576" marB="36576" anchor="ctr">
                    <a:solidFill>
                      <a:srgbClr val="FFFFFF"/>
                    </a:solidFill>
                  </a:tcPr>
                </a:tc>
                <a:tc>
                  <a:txBody>
                    <a:bodyPr/>
                    <a:lstStyle/>
                    <a:p>
                      <a:r>
                        <a:rPr sz="1300" b="0" u="sng">
                          <a:solidFill>
                            <a:srgbClr val="2B59D9"/>
                          </a:solidFill>
                          <a:latin typeface="Calibri"/>
                          <a:hlinkClick r:id="rId2"/>
                        </a:rPr>
                        <a:t>lean4-skills</a:t>
                      </a:r>
                    </a:p>
                  </a:txBody>
                  <a:tcPr marL="91440" marR="91440" marT="36576" marB="36576" anchor="ctr">
                    <a:solidFill>
                      <a:srgbClr val="FFFFFF"/>
                    </a:solidFill>
                  </a:tcPr>
                </a:tc>
                <a:tc>
                  <a:txBody>
                    <a:bodyPr/>
                    <a:lstStyle/>
                    <a:p>
                      <a:r>
                        <a:rPr sz="1300" b="0">
                          <a:solidFill>
                            <a:srgbClr val="394152"/>
                          </a:solidFill>
                          <a:latin typeface="Calibri"/>
                        </a:rPr>
                        <a:t>Khoá đề hai bản độc lập; kiểm nhất quán ký hiệu và dấu</a:t>
                      </a:r>
                    </a:p>
                  </a:txBody>
                  <a:tcPr marL="91440" marR="91440" marT="36576" marB="36576" anchor="ctr">
                    <a:solidFill>
                      <a:srgbClr val="FFFFFF"/>
                    </a:solidFill>
                  </a:tcPr>
                </a:tc>
              </a:tr>
              <a:tr h="713232">
                <a:tc>
                  <a:txBody>
                    <a:bodyPr/>
                    <a:lstStyle/>
                    <a:p>
                      <a:r>
                        <a:rPr sz="1300" b="1">
                          <a:solidFill>
                            <a:srgbClr val="1C2333"/>
                          </a:solidFill>
                          <a:latin typeface="Calibri"/>
                        </a:rPr>
                        <a:t>4 Phá</a:t>
                      </a:r>
                    </a:p>
                  </a:txBody>
                  <a:tcPr marL="91440" marR="91440" marT="36576" marB="36576" anchor="ctr">
                    <a:solidFill>
                      <a:srgbClr val="F2F4F7"/>
                    </a:solidFill>
                  </a:tcPr>
                </a:tc>
                <a:tc>
                  <a:txBody>
                    <a:bodyPr/>
                    <a:lstStyle/>
                    <a:p>
                      <a:r>
                        <a:rPr sz="1300" b="0" u="sng">
                          <a:solidFill>
                            <a:srgbClr val="2B59D9"/>
                          </a:solidFill>
                          <a:latin typeface="Calibri"/>
                          <a:hlinkClick r:id="rId5"/>
                        </a:rPr>
                        <a:t>mcp-solver</a:t>
                      </a:r>
                      <a:r>
                        <a:rPr sz="1300">
                          <a:solidFill>
                            <a:srgbClr val="394152"/>
                          </a:solidFill>
                          <a:latin typeface="Calibri"/>
                        </a:rPr>
                        <a:t>; </a:t>
                      </a:r>
                      <a:r>
                        <a:rPr sz="1300" b="0" u="sng">
                          <a:solidFill>
                            <a:srgbClr val="2B59D9"/>
                          </a:solidFill>
                          <a:latin typeface="Calibri"/>
                          <a:hlinkClick r:id="rId6"/>
                        </a:rPr>
                        <a:t>z3smt-mcp</a:t>
                      </a:r>
                      <a:r>
                        <a:rPr sz="1300">
                          <a:solidFill>
                            <a:srgbClr val="394152"/>
                          </a:solidFill>
                          <a:latin typeface="Calibri"/>
                        </a:rPr>
                        <a:t>; </a:t>
                      </a:r>
                      <a:r>
                        <a:rPr sz="1300" b="0" u="sng">
                          <a:solidFill>
                            <a:srgbClr val="2B59D9"/>
                          </a:solidFill>
                          <a:latin typeface="Calibri"/>
                          <a:hlinkClick r:id="rId7"/>
                        </a:rPr>
                        <a:t>sage-mcp</a:t>
                      </a:r>
                    </a:p>
                  </a:txBody>
                  <a:tcPr marL="91440" marR="91440" marT="36576" marB="36576" anchor="ctr">
                    <a:solidFill>
                      <a:srgbClr val="F2F4F7"/>
                    </a:solidFill>
                  </a:tcPr>
                </a:tc>
                <a:tc>
                  <a:txBody>
                    <a:bodyPr/>
                    <a:lstStyle/>
                    <a:p>
                      <a:r>
                        <a:rPr sz="1300" b="0">
                          <a:solidFill>
                            <a:srgbClr val="394152"/>
                          </a:solidFill>
                          <a:latin typeface="Calibri"/>
                        </a:rPr>
                        <a:t>Săn phản ví dụ và gắn nhãn Lakatos</a:t>
                      </a:r>
                    </a:p>
                  </a:txBody>
                  <a:tcPr marL="91440" marR="91440" marT="36576" marB="36576" anchor="ctr">
                    <a:solidFill>
                      <a:srgbClr val="F2F4F7"/>
                    </a:solidFill>
                  </a:tcPr>
                </a:tc>
              </a:tr>
              <a:tr h="713232">
                <a:tc>
                  <a:txBody>
                    <a:bodyPr/>
                    <a:lstStyle/>
                    <a:p>
                      <a:r>
                        <a:rPr sz="1300" b="1">
                          <a:solidFill>
                            <a:srgbClr val="1C2333"/>
                          </a:solidFill>
                          <a:latin typeface="Calibri"/>
                        </a:rPr>
                        <a:t>3 Tính mới</a:t>
                      </a:r>
                    </a:p>
                  </a:txBody>
                  <a:tcPr marL="91440" marR="91440" marT="36576" marB="36576" anchor="ctr">
                    <a:solidFill>
                      <a:srgbClr val="FFFFFF"/>
                    </a:solidFill>
                  </a:tcPr>
                </a:tc>
                <a:tc>
                  <a:txBody>
                    <a:bodyPr/>
                    <a:lstStyle/>
                    <a:p>
                      <a:r>
                        <a:rPr sz="1300" b="0" u="sng">
                          <a:solidFill>
                            <a:srgbClr val="2B59D9"/>
                          </a:solidFill>
                          <a:latin typeface="Calibri"/>
                          <a:hlinkClick r:id="rId8"/>
                        </a:rPr>
                        <a:t>arxiv-mcp-server</a:t>
                      </a:r>
                      <a:r>
                        <a:rPr sz="1300">
                          <a:solidFill>
                            <a:srgbClr val="394152"/>
                          </a:solidFill>
                          <a:latin typeface="Calibri"/>
                        </a:rPr>
                        <a:t>; </a:t>
                      </a:r>
                      <a:r>
                        <a:rPr sz="1300" b="0" u="sng">
                          <a:solidFill>
                            <a:srgbClr val="2B59D9"/>
                          </a:solidFill>
                          <a:latin typeface="Calibri"/>
                          <a:hlinkClick r:id="rId9"/>
                        </a:rPr>
                        <a:t>alphaXiv MCP</a:t>
                      </a:r>
                      <a:r>
                        <a:rPr sz="1300">
                          <a:solidFill>
                            <a:srgbClr val="394152"/>
                          </a:solidFill>
                          <a:latin typeface="Calibri"/>
                        </a:rPr>
                        <a:t>; </a:t>
                      </a:r>
                      <a:r>
                        <a:rPr sz="1300" b="0" u="sng">
                          <a:solidFill>
                            <a:srgbClr val="2B59D9"/>
                          </a:solidFill>
                          <a:latin typeface="Calibri"/>
                          <a:hlinkClick r:id="rId10"/>
                        </a:rPr>
                        <a:t>papersflow-mcp</a:t>
                      </a:r>
                    </a:p>
                  </a:txBody>
                  <a:tcPr marL="91440" marR="91440" marT="36576" marB="36576" anchor="ctr">
                    <a:solidFill>
                      <a:srgbClr val="FFFFFF"/>
                    </a:solidFill>
                  </a:tcPr>
                </a:tc>
                <a:tc>
                  <a:txBody>
                    <a:bodyPr/>
                    <a:lstStyle/>
                    <a:p>
                      <a:r>
                        <a:rPr sz="1300" b="0">
                          <a:solidFill>
                            <a:srgbClr val="394152"/>
                          </a:solidFill>
                          <a:latin typeface="Calibri"/>
                        </a:rPr>
                        <a:t>Tính mới và ghi công; ghi cả kết quả âm kèm phạm vi đã quét</a:t>
                      </a:r>
                    </a:p>
                  </a:txBody>
                  <a:tcPr marL="91440" marR="91440" marT="36576" marB="36576" anchor="ctr">
                    <a:solidFill>
                      <a:srgbClr val="FFFFFF"/>
                    </a:solidFill>
                  </a:tcPr>
                </a:tc>
              </a:tr>
              <a:tr h="713232">
                <a:tc>
                  <a:txBody>
                    <a:bodyPr/>
                    <a:lstStyle/>
                    <a:p>
                      <a:r>
                        <a:rPr sz="1300" b="1">
                          <a:solidFill>
                            <a:srgbClr val="1C2333"/>
                          </a:solidFill>
                          <a:latin typeface="Calibri"/>
                        </a:rPr>
                        <a:t>Đội đá tập</a:t>
                      </a:r>
                    </a:p>
                  </a:txBody>
                  <a:tcPr marL="91440" marR="91440" marT="36576" marB="36576" anchor="ctr">
                    <a:solidFill>
                      <a:srgbClr val="F2F4F7"/>
                    </a:solidFill>
                  </a:tcPr>
                </a:tc>
                <a:tc>
                  <a:txBody>
                    <a:bodyPr/>
                    <a:lstStyle/>
                    <a:p>
                      <a:r>
                        <a:rPr sz="1300" b="0">
                          <a:solidFill>
                            <a:srgbClr val="394152"/>
                          </a:solidFill>
                          <a:latin typeface="Calibri"/>
                        </a:rPr>
                        <a:t>—</a:t>
                      </a:r>
                    </a:p>
                  </a:txBody>
                  <a:tcPr marL="91440" marR="91440" marT="36576" marB="36576" anchor="ctr">
                    <a:solidFill>
                      <a:srgbClr val="F2F4F7"/>
                    </a:solidFill>
                  </a:tcPr>
                </a:tc>
                <a:tc>
                  <a:txBody>
                    <a:bodyPr/>
                    <a:lstStyle/>
                    <a:p>
                      <a:r>
                        <a:rPr sz="1300" b="0">
                          <a:solidFill>
                            <a:srgbClr val="394152"/>
                          </a:solidFill>
                          <a:latin typeface="Calibri"/>
                        </a:rPr>
                        <a:t>Cấy biến thể sai của khẳng định thật, đo tỉ lệ bị bắt</a:t>
                      </a:r>
                    </a:p>
                  </a:txBody>
                  <a:tcPr marL="91440" marR="91440" marT="36576" marB="36576" anchor="ctr">
                    <a:solidFill>
                      <a:srgbClr val="F2F4F7"/>
                    </a:solidFill>
                  </a:tcPr>
                </a:tc>
              </a:tr>
            </a:tbl>
          </a:graphicData>
        </a:graphic>
      </p:graphicFrame>
      <p:sp>
        <p:nvSpPr>
          <p:cNvPr id="4" name="TextBox 3"/>
          <p:cNvSpPr txBox="1"/>
          <p:nvPr/>
        </p:nvSpPr>
        <p:spPr>
          <a:xfrm>
            <a:off x="548640" y="5760720"/>
            <a:ext cx="11064240" cy="548640"/>
          </a:xfrm>
          <a:prstGeom prst="rect">
            <a:avLst/>
          </a:prstGeom>
          <a:noFill/>
        </p:spPr>
        <p:txBody>
          <a:bodyPr wrap="square" lIns="0" rIns="0" tIns="0" bIns="0" anchor="t">
            <a:spAutoFit/>
          </a:bodyPr>
          <a:lstStyle/>
          <a:p>
            <a:pPr algn="l"/>
            <a:r>
              <a:rPr sz="1200" b="1" i="0">
                <a:solidFill>
                  <a:srgbClr val="1C2333"/>
                </a:solidFill>
                <a:latin typeface="Calibri"/>
              </a:rPr>
              <a:t>Lưu ý: </a:t>
            </a:r>
            <a:r>
              <a:rPr sz="1200" b="0" i="0">
                <a:solidFill>
                  <a:srgbClr val="394152"/>
                </a:solidFill>
                <a:latin typeface="Calibri"/>
              </a:rPr>
              <a:t>skill và MCP cộng đồng chạy được script trên máy. Đọc mã trước khi cài. Công cụ của hàng thủ là bộ chấm: chỉ đọc với tuyến trên. aristotle-lean gửi dữ liệu ra API bên ngoài.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Bộ công cụ cho từng cầu thủ: tuyến giữa và tuyến trên</a:t>
            </a:r>
          </a:p>
        </p:txBody>
      </p:sp>
      <p:graphicFrame>
        <p:nvGraphicFramePr>
          <p:cNvPr id="3" name="Table 2"/>
          <p:cNvGraphicFramePr>
            <a:graphicFrameLocks noGrp="1"/>
          </p:cNvGraphicFramePr>
          <p:nvPr/>
        </p:nvGraphicFramePr>
        <p:xfrm>
          <a:off x="548640" y="1234440"/>
          <a:ext cx="11064240" cy="4828032"/>
        </p:xfrm>
        <a:graphic>
          <a:graphicData uri="http://schemas.openxmlformats.org/drawingml/2006/table">
            <a:tbl>
              <a:tblPr firstRow="1" bandRow="1">
                <a:tableStyleId>{5C22544A-7EE6-4342-B048-85BDC9FD1C3A}</a:tableStyleId>
              </a:tblPr>
              <a:tblGrid>
                <a:gridCol w="2194560"/>
                <a:gridCol w="4206240"/>
                <a:gridCol w="4663440"/>
              </a:tblGrid>
              <a:tr h="603504">
                <a:tc>
                  <a:txBody>
                    <a:bodyPr/>
                    <a:lstStyle/>
                    <a:p>
                      <a:r>
                        <a:rPr sz="1300" b="1">
                          <a:solidFill>
                            <a:srgbClr val="FFFFFF"/>
                          </a:solidFill>
                          <a:latin typeface="Calibri"/>
                        </a:rPr>
                        <a:t>Ghế</a:t>
                      </a:r>
                    </a:p>
                  </a:txBody>
                  <a:tcPr marL="91440" marR="91440" marT="36576" marB="36576" anchor="ctr">
                    <a:solidFill>
                      <a:srgbClr val="2B59D9"/>
                    </a:solidFill>
                  </a:tcPr>
                </a:tc>
                <a:tc>
                  <a:txBody>
                    <a:bodyPr/>
                    <a:lstStyle/>
                    <a:p>
                      <a:r>
                        <a:rPr sz="1300" b="1">
                          <a:solidFill>
                            <a:srgbClr val="FFFFFF"/>
                          </a:solidFill>
                          <a:latin typeface="Calibri"/>
                        </a:rPr>
                        <a:t>Có sẵn</a:t>
                      </a:r>
                    </a:p>
                  </a:txBody>
                  <a:tcPr marL="91440" marR="91440" marT="36576" marB="36576" anchor="ctr">
                    <a:solidFill>
                      <a:srgbClr val="2B59D9"/>
                    </a:solidFill>
                  </a:tcPr>
                </a:tc>
                <a:tc>
                  <a:txBody>
                    <a:bodyPr/>
                    <a:lstStyle/>
                    <a:p>
                      <a:r>
                        <a:rPr sz="1300" b="1">
                          <a:solidFill>
                            <a:srgbClr val="FFFFFF"/>
                          </a:solidFill>
                          <a:latin typeface="Calibri"/>
                        </a:rPr>
                        <a:t>Còn thiếu: phải tự viết</a:t>
                      </a:r>
                    </a:p>
                  </a:txBody>
                  <a:tcPr marL="91440" marR="91440" marT="36576" marB="36576" anchor="ctr">
                    <a:solidFill>
                      <a:srgbClr val="2B59D9"/>
                    </a:solidFill>
                  </a:tcPr>
                </a:tc>
              </a:tr>
              <a:tr h="603504">
                <a:tc>
                  <a:txBody>
                    <a:bodyPr/>
                    <a:lstStyle/>
                    <a:p>
                      <a:r>
                        <a:rPr sz="1300" b="1">
                          <a:solidFill>
                            <a:srgbClr val="1C2333"/>
                          </a:solidFill>
                          <a:latin typeface="Calibri"/>
                        </a:rPr>
                        <a:t>6 Điều phối</a:t>
                      </a:r>
                    </a:p>
                  </a:txBody>
                  <a:tcPr marL="91440" marR="91440" marT="36576" marB="36576" anchor="ctr">
                    <a:solidFill>
                      <a:srgbClr val="F2F4F7"/>
                    </a:solidFill>
                  </a:tcPr>
                </a:tc>
                <a:tc>
                  <a:txBody>
                    <a:bodyPr/>
                    <a:lstStyle/>
                    <a:p>
                      <a:r>
                        <a:rPr sz="1300" b="0">
                          <a:solidFill>
                            <a:srgbClr val="394152"/>
                          </a:solidFill>
                          <a:latin typeface="Calibri"/>
                        </a:rPr>
                        <a:t>—</a:t>
                      </a:r>
                    </a:p>
                  </a:txBody>
                  <a:tcPr marL="91440" marR="91440" marT="36576" marB="36576" anchor="ctr">
                    <a:solidFill>
                      <a:srgbClr val="F2F4F7"/>
                    </a:solidFill>
                  </a:tcPr>
                </a:tc>
                <a:tc>
                  <a:txBody>
                    <a:bodyPr/>
                    <a:lstStyle/>
                    <a:p>
                      <a:r>
                        <a:rPr sz="1300" b="0">
                          <a:solidFill>
                            <a:srgbClr val="394152"/>
                          </a:solidFill>
                          <a:latin typeface="Calibri"/>
                        </a:rPr>
                        <a:t>Đồ thị khẳng định và rút lại; phân bổ theo giá trị thông tin; hook bàn giao trước khi nén ngữ cảnh</a:t>
                      </a:r>
                    </a:p>
                  </a:txBody>
                  <a:tcPr marL="91440" marR="91440" marT="36576" marB="36576" anchor="ctr">
                    <a:solidFill>
                      <a:srgbClr val="F2F4F7"/>
                    </a:solidFill>
                  </a:tcPr>
                </a:tc>
              </a:tr>
              <a:tr h="603504">
                <a:tc>
                  <a:txBody>
                    <a:bodyPr/>
                    <a:lstStyle/>
                    <a:p>
                      <a:r>
                        <a:rPr sz="1300" b="1">
                          <a:solidFill>
                            <a:srgbClr val="1C2333"/>
                          </a:solidFill>
                          <a:latin typeface="Calibri"/>
                        </a:rPr>
                        <a:t>8 Blueprint</a:t>
                      </a:r>
                    </a:p>
                  </a:txBody>
                  <a:tcPr marL="91440" marR="91440" marT="36576" marB="36576" anchor="ctr">
                    <a:solidFill>
                      <a:srgbClr val="FFFFFF"/>
                    </a:solidFill>
                  </a:tcPr>
                </a:tc>
                <a:tc>
                  <a:txBody>
                    <a:bodyPr/>
                    <a:lstStyle/>
                    <a:p>
                      <a:r>
                        <a:rPr sz="1300" b="0">
                          <a:solidFill>
                            <a:srgbClr val="394152"/>
                          </a:solidFill>
                          <a:latin typeface="Calibri"/>
                        </a:rPr>
                        <a:t>—</a:t>
                      </a:r>
                    </a:p>
                  </a:txBody>
                  <a:tcPr marL="91440" marR="91440" marT="36576" marB="36576" anchor="ctr">
                    <a:solidFill>
                      <a:srgbClr val="FFFFFF"/>
                    </a:solidFill>
                  </a:tcPr>
                </a:tc>
                <a:tc>
                  <a:txBody>
                    <a:bodyPr/>
                    <a:lstStyle/>
                    <a:p>
                      <a:r>
                        <a:rPr sz="1300" b="0">
                          <a:solidFill>
                            <a:srgbClr val="394152"/>
                          </a:solidFill>
                          <a:latin typeface="Calibri"/>
                        </a:rPr>
                        <a:t>Chia bài thành đồ thị bổ đề, chốt định nghĩa chung từ sớm</a:t>
                      </a:r>
                    </a:p>
                  </a:txBody>
                  <a:tcPr marL="91440" marR="91440" marT="36576" marB="36576" anchor="ctr">
                    <a:solidFill>
                      <a:srgbClr val="FFFFFF"/>
                    </a:solidFill>
                  </a:tcPr>
                </a:tc>
              </a:tr>
              <a:tr h="603504">
                <a:tc>
                  <a:txBody>
                    <a:bodyPr/>
                    <a:lstStyle/>
                    <a:p>
                      <a:r>
                        <a:rPr sz="1300" b="1">
                          <a:solidFill>
                            <a:srgbClr val="1C2333"/>
                          </a:solidFill>
                          <a:latin typeface="Calibri"/>
                        </a:rPr>
                        <a:t>10 Trong ngành</a:t>
                      </a:r>
                    </a:p>
                  </a:txBody>
                  <a:tcPr marL="91440" marR="91440" marT="36576" marB="36576" anchor="ctr">
                    <a:solidFill>
                      <a:srgbClr val="F2F4F7"/>
                    </a:solidFill>
                  </a:tcPr>
                </a:tc>
                <a:tc>
                  <a:txBody>
                    <a:bodyPr/>
                    <a:lstStyle/>
                    <a:p>
                      <a:r>
                        <a:rPr sz="1300" b="0" u="sng">
                          <a:solidFill>
                            <a:srgbClr val="2B59D9"/>
                          </a:solidFill>
                          <a:latin typeface="Calibri"/>
                          <a:hlinkClick r:id="rId2"/>
                        </a:rPr>
                        <a:t>arxiv-mcp-server</a:t>
                      </a:r>
                      <a:r>
                        <a:rPr sz="1300">
                          <a:solidFill>
                            <a:srgbClr val="394152"/>
                          </a:solidFill>
                          <a:latin typeface="Calibri"/>
                        </a:rPr>
                        <a:t>; </a:t>
                      </a:r>
                      <a:r>
                        <a:rPr sz="1300" b="0" u="sng">
                          <a:solidFill>
                            <a:srgbClr val="2B59D9"/>
                          </a:solidFill>
                          <a:latin typeface="Calibri"/>
                          <a:hlinkClick r:id="rId3"/>
                        </a:rPr>
                        <a:t>academic-research-skills</a:t>
                      </a:r>
                    </a:p>
                  </a:txBody>
                  <a:tcPr marL="91440" marR="91440" marT="36576" marB="36576" anchor="ctr">
                    <a:solidFill>
                      <a:srgbClr val="F2F4F7"/>
                    </a:solidFill>
                  </a:tcPr>
                </a:tc>
                <a:tc>
                  <a:txBody>
                    <a:bodyPr/>
                    <a:lstStyle/>
                    <a:p>
                      <a:r>
                        <a:rPr sz="1300" b="0">
                          <a:solidFill>
                            <a:srgbClr val="394152"/>
                          </a:solidFill>
                          <a:latin typeface="Calibri"/>
                        </a:rPr>
                        <a:t>Ghép cặp bài trong ngành có hệ thống</a:t>
                      </a:r>
                    </a:p>
                  </a:txBody>
                  <a:tcPr marL="91440" marR="91440" marT="36576" marB="36576" anchor="ctr">
                    <a:solidFill>
                      <a:srgbClr val="F2F4F7"/>
                    </a:solidFill>
                  </a:tcPr>
                </a:tc>
              </a:tr>
              <a:tr h="603504">
                <a:tc>
                  <a:txBody>
                    <a:bodyPr/>
                    <a:lstStyle/>
                    <a:p>
                      <a:r>
                        <a:rPr sz="1300" b="1">
                          <a:solidFill>
                            <a:srgbClr val="1C2333"/>
                          </a:solidFill>
                          <a:latin typeface="Calibri"/>
                        </a:rPr>
                        <a:t>14 Ví dụ</a:t>
                      </a:r>
                    </a:p>
                  </a:txBody>
                  <a:tcPr marL="91440" marR="91440" marT="36576" marB="36576" anchor="ctr">
                    <a:solidFill>
                      <a:srgbClr val="FFFFFF"/>
                    </a:solidFill>
                  </a:tcPr>
                </a:tc>
                <a:tc>
                  <a:txBody>
                    <a:bodyPr/>
                    <a:lstStyle/>
                    <a:p>
                      <a:r>
                        <a:rPr sz="1300" b="0" u="sng">
                          <a:solidFill>
                            <a:srgbClr val="2B59D9"/>
                          </a:solidFill>
                          <a:latin typeface="Calibri"/>
                          <a:hlinkClick r:id="rId4"/>
                        </a:rPr>
                        <a:t>sage-mcp</a:t>
                      </a:r>
                      <a:r>
                        <a:rPr sz="1300">
                          <a:solidFill>
                            <a:srgbClr val="394152"/>
                          </a:solidFill>
                          <a:latin typeface="Calibri"/>
                        </a:rPr>
                        <a:t>; </a:t>
                      </a:r>
                      <a:r>
                        <a:rPr sz="1300" b="0" u="sng">
                          <a:solidFill>
                            <a:srgbClr val="2B59D9"/>
                          </a:solidFill>
                          <a:latin typeface="Calibri"/>
                          <a:hlinkClick r:id="rId5"/>
                        </a:rPr>
                        <a:t>mcp-solver</a:t>
                      </a:r>
                      <a:r>
                        <a:rPr sz="1300">
                          <a:solidFill>
                            <a:srgbClr val="394152"/>
                          </a:solidFill>
                          <a:latin typeface="Calibri"/>
                        </a:rPr>
                        <a:t>; </a:t>
                      </a:r>
                      <a:r>
                        <a:rPr sz="1300" b="0" u="sng">
                          <a:solidFill>
                            <a:srgbClr val="2B59D9"/>
                          </a:solidFill>
                          <a:latin typeface="Calibri"/>
                          <a:hlinkClick r:id="rId6"/>
                        </a:rPr>
                        <a:t>hướng dẫn Lipshitz</a:t>
                      </a:r>
                    </a:p>
                  </a:txBody>
                  <a:tcPr marL="91440" marR="91440" marT="36576" marB="36576" anchor="ctr">
                    <a:solidFill>
                      <a:srgbClr val="FFFFFF"/>
                    </a:solidFill>
                  </a:tcPr>
                </a:tc>
                <a:tc>
                  <a:txBody>
                    <a:bodyPr/>
                    <a:lstStyle/>
                    <a:p>
                      <a:r>
                        <a:rPr sz="1300" b="0">
                          <a:solidFill>
                            <a:srgbClr val="394152"/>
                          </a:solidFill>
                          <a:latin typeface="Calibri"/>
                        </a:rPr>
                        <a:t>Săn ví dụ có ý nghĩa; ví dụ mẫu A→Z; thư viện ví dụ; chạy phép thử cho mọi ghế</a:t>
                      </a:r>
                    </a:p>
                  </a:txBody>
                  <a:tcPr marL="91440" marR="91440" marT="36576" marB="36576" anchor="ctr">
                    <a:solidFill>
                      <a:srgbClr val="FFFFFF"/>
                    </a:solidFill>
                  </a:tcPr>
                </a:tc>
              </a:tr>
              <a:tr h="603504">
                <a:tc>
                  <a:txBody>
                    <a:bodyPr/>
                    <a:lstStyle/>
                    <a:p>
                      <a:r>
                        <a:rPr sz="1300" b="1">
                          <a:solidFill>
                            <a:srgbClr val="1C2333"/>
                          </a:solidFill>
                          <a:latin typeface="Calibri"/>
                        </a:rPr>
                        <a:t>9 Chứng minh</a:t>
                      </a:r>
                    </a:p>
                  </a:txBody>
                  <a:tcPr marL="91440" marR="91440" marT="36576" marB="36576" anchor="ctr">
                    <a:solidFill>
                      <a:srgbClr val="F2F4F7"/>
                    </a:solidFill>
                  </a:tcPr>
                </a:tc>
                <a:tc>
                  <a:txBody>
                    <a:bodyPr/>
                    <a:lstStyle/>
                    <a:p>
                      <a:r>
                        <a:rPr sz="1300" b="0" u="sng">
                          <a:solidFill>
                            <a:srgbClr val="2B59D9"/>
                          </a:solidFill>
                          <a:latin typeface="Calibri"/>
                          <a:hlinkClick r:id="rId7"/>
                        </a:rPr>
                        <a:t>lean4-skills</a:t>
                      </a:r>
                      <a:r>
                        <a:rPr sz="1300">
                          <a:solidFill>
                            <a:srgbClr val="394152"/>
                          </a:solidFill>
                          <a:latin typeface="Calibri"/>
                        </a:rPr>
                        <a:t>; </a:t>
                      </a:r>
                      <a:r>
                        <a:rPr sz="1300" b="0" u="sng">
                          <a:solidFill>
                            <a:srgbClr val="2B59D9"/>
                          </a:solidFill>
                          <a:latin typeface="Calibri"/>
                          <a:hlinkClick r:id="rId8"/>
                        </a:rPr>
                        <a:t>lean-lsp-mcp</a:t>
                      </a:r>
                    </a:p>
                  </a:txBody>
                  <a:tcPr marL="91440" marR="91440" marT="36576" marB="36576" anchor="ctr">
                    <a:solidFill>
                      <a:srgbClr val="F2F4F7"/>
                    </a:solidFill>
                  </a:tcPr>
                </a:tc>
                <a:tc>
                  <a:txBody>
                    <a:bodyPr/>
                    <a:lstStyle/>
                    <a:p>
                      <a:r>
                        <a:rPr sz="1300" b="0">
                          <a:solidFill>
                            <a:srgbClr val="394152"/>
                          </a:solidFill>
                          <a:latin typeface="Calibri"/>
                        </a:rPr>
                        <a:t>Chứng minh theo blueprint; chuyền yêu cầu ở chỗ nối</a:t>
                      </a:r>
                    </a:p>
                  </a:txBody>
                  <a:tcPr marL="91440" marR="91440" marT="36576" marB="36576" anchor="ctr">
                    <a:solidFill>
                      <a:srgbClr val="F2F4F7"/>
                    </a:solidFill>
                  </a:tcPr>
                </a:tc>
              </a:tr>
              <a:tr h="603504">
                <a:tc>
                  <a:txBody>
                    <a:bodyPr/>
                    <a:lstStyle/>
                    <a:p>
                      <a:r>
                        <a:rPr sz="1300" b="1">
                          <a:solidFill>
                            <a:srgbClr val="1C2333"/>
                          </a:solidFill>
                          <a:latin typeface="Calibri"/>
                        </a:rPr>
                        <a:t>11, 7 Xuyên ngành</a:t>
                      </a:r>
                    </a:p>
                  </a:txBody>
                  <a:tcPr marL="91440" marR="91440" marT="36576" marB="36576" anchor="ctr">
                    <a:solidFill>
                      <a:srgbClr val="FFFFFF"/>
                    </a:solidFill>
                  </a:tcPr>
                </a:tc>
                <a:tc>
                  <a:txBody>
                    <a:bodyPr/>
                    <a:lstStyle/>
                    <a:p>
                      <a:r>
                        <a:rPr sz="1300" b="0">
                          <a:solidFill>
                            <a:srgbClr val="394152"/>
                          </a:solidFill>
                          <a:latin typeface="Calibri"/>
                        </a:rPr>
                        <a:t>—</a:t>
                      </a:r>
                    </a:p>
                  </a:txBody>
                  <a:tcPr marL="91440" marR="91440" marT="36576" marB="36576" anchor="ctr">
                    <a:solidFill>
                      <a:srgbClr val="FFFFFF"/>
                    </a:solidFill>
                  </a:tcPr>
                </a:tc>
                <a:tc>
                  <a:txBody>
                    <a:bodyPr/>
                    <a:lstStyle/>
                    <a:p>
                      <a:r>
                        <a:rPr sz="1300" b="0">
                          <a:solidFill>
                            <a:srgbClr val="394152"/>
                          </a:solidFill>
                          <a:latin typeface="Calibri"/>
                        </a:rPr>
                        <a:t>Đã có skill far-analogy. Còn thiếu: kiểm nguồn arXiv, gộp nút đồng nghĩa trong đồ thị từ điển</a:t>
                      </a:r>
                    </a:p>
                  </a:txBody>
                  <a:tcPr marL="91440" marR="91440" marT="36576" marB="36576" anchor="ctr">
                    <a:solidFill>
                      <a:srgbClr val="FFFFFF"/>
                    </a:solidFill>
                  </a:tcPr>
                </a:tc>
              </a:tr>
              <a:tr h="603504">
                <a:tc>
                  <a:txBody>
                    <a:bodyPr/>
                    <a:lstStyle/>
                    <a:p>
                      <a:r>
                        <a:rPr sz="1300" b="1">
                          <a:solidFill>
                            <a:srgbClr val="1C2333"/>
                          </a:solidFill>
                          <a:latin typeface="Calibri"/>
                        </a:rPr>
                        <a:t>Mọi ghế</a:t>
                      </a:r>
                    </a:p>
                  </a:txBody>
                  <a:tcPr marL="91440" marR="91440" marT="36576" marB="36576" anchor="ctr">
                    <a:solidFill>
                      <a:srgbClr val="F2F4F7"/>
                    </a:solidFill>
                  </a:tcPr>
                </a:tc>
                <a:tc>
                  <a:txBody>
                    <a:bodyPr/>
                    <a:lstStyle/>
                    <a:p>
                      <a:r>
                        <a:rPr sz="1300" b="0" u="sng">
                          <a:solidFill>
                            <a:srgbClr val="2B59D9"/>
                          </a:solidFill>
                          <a:latin typeface="Calibri"/>
                          <a:hlinkClick r:id="rId9"/>
                        </a:rPr>
                        <a:t>claude-for-researchers</a:t>
                      </a:r>
                    </a:p>
                  </a:txBody>
                  <a:tcPr marL="91440" marR="91440" marT="36576" marB="36576" anchor="ctr">
                    <a:solidFill>
                      <a:srgbClr val="F2F4F7"/>
                    </a:solidFill>
                  </a:tcPr>
                </a:tc>
                <a:tc>
                  <a:txBody>
                    <a:bodyPr/>
                    <a:lstStyle/>
                    <a:p>
                      <a:r>
                        <a:rPr sz="1300" b="0">
                          <a:solidFill>
                            <a:srgbClr val="394152"/>
                          </a:solidFill>
                          <a:latin typeface="Calibri"/>
                        </a:rPr>
                        <a:t>Đăng mảnh lên bảng; bàn giao khi thay người</a:t>
                      </a:r>
                    </a:p>
                  </a:txBody>
                  <a:tcPr marL="91440" marR="91440" marT="36576" marB="36576" anchor="ctr">
                    <a:solidFill>
                      <a:srgbClr val="F2F4F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Bài học từ hướng dẫn của Lipshitz</a:t>
            </a:r>
          </a:p>
        </p:txBody>
      </p:sp>
      <p:sp>
        <p:nvSpPr>
          <p:cNvPr id="3" name="Rounded Rectangle 2"/>
          <p:cNvSpPr/>
          <p:nvPr/>
        </p:nvSpPr>
        <p:spPr>
          <a:xfrm>
            <a:off x="548640" y="128016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508760"/>
            <a:ext cx="274320" cy="27432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8719" y="1444751"/>
            <a:ext cx="4572000" cy="411480"/>
          </a:xfrm>
          <a:prstGeom prst="rect">
            <a:avLst/>
          </a:prstGeom>
          <a:noFill/>
        </p:spPr>
        <p:txBody>
          <a:bodyPr wrap="square" lIns="0" rIns="0" tIns="0" bIns="0" anchor="t">
            <a:spAutoFit/>
          </a:bodyPr>
          <a:lstStyle/>
          <a:p>
            <a:pPr algn="l"/>
            <a:r>
              <a:rPr sz="1500" b="1" i="0">
                <a:solidFill>
                  <a:srgbClr val="1C2333"/>
                </a:solidFill>
                <a:latin typeface="Calibri"/>
              </a:rPr>
              <a:t>Không dùng để chứng minh định lý mới</a:t>
            </a:r>
          </a:p>
        </p:txBody>
      </p:sp>
      <p:sp>
        <p:nvSpPr>
          <p:cNvPr id="6" name="TextBox 5"/>
          <p:cNvSpPr txBox="1"/>
          <p:nvPr/>
        </p:nvSpPr>
        <p:spPr>
          <a:xfrm>
            <a:off x="1188719" y="1874519"/>
            <a:ext cx="4572000" cy="868680"/>
          </a:xfrm>
          <a:prstGeom prst="rect">
            <a:avLst/>
          </a:prstGeom>
          <a:noFill/>
        </p:spPr>
        <p:txBody>
          <a:bodyPr wrap="square" lIns="0" rIns="0" tIns="0" bIns="0" anchor="t">
            <a:spAutoFit/>
          </a:bodyPr>
          <a:lstStyle/>
          <a:p>
            <a:pPr algn="l"/>
            <a:r>
              <a:rPr sz="1250" b="0" i="0">
                <a:solidFill>
                  <a:srgbClr val="394152"/>
                </a:solidFill>
                <a:latin typeface="Calibri"/>
              </a:rPr>
              <a:t>Ông viết: chưa thấy hữu ích, và khả năng gây hiểu lầm có thể có hại. → Sinh ý phải qua bộ chấm; không tin chứng minh tự nhiên chưa kiểm.</a:t>
            </a:r>
          </a:p>
        </p:txBody>
      </p:sp>
      <p:sp>
        <p:nvSpPr>
          <p:cNvPr id="7" name="Rounded Rectangle 6"/>
          <p:cNvSpPr/>
          <p:nvPr/>
        </p:nvSpPr>
        <p:spPr>
          <a:xfrm>
            <a:off x="6172200" y="128016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400800" y="1508760"/>
            <a:ext cx="274320" cy="274320"/>
          </a:xfrm>
          <a:prstGeom prst="ellipse">
            <a:avLst/>
          </a:prstGeom>
          <a:solidFill>
            <a:srgbClr val="C9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12280" y="1444751"/>
            <a:ext cx="4572000" cy="411480"/>
          </a:xfrm>
          <a:prstGeom prst="rect">
            <a:avLst/>
          </a:prstGeom>
          <a:noFill/>
        </p:spPr>
        <p:txBody>
          <a:bodyPr wrap="square" lIns="0" rIns="0" tIns="0" bIns="0" anchor="t">
            <a:spAutoFit/>
          </a:bodyPr>
          <a:lstStyle/>
          <a:p>
            <a:pPr algn="l"/>
            <a:r>
              <a:rPr sz="1500" b="1" i="0">
                <a:solidFill>
                  <a:srgbClr val="1C2333"/>
                </a:solidFill>
                <a:latin typeface="Calibri"/>
              </a:rPr>
              <a:t>Sửa test cho qua thay vì sửa code</a:t>
            </a:r>
          </a:p>
        </p:txBody>
      </p:sp>
      <p:sp>
        <p:nvSpPr>
          <p:cNvPr id="10" name="TextBox 9"/>
          <p:cNvSpPr txBox="1"/>
          <p:nvPr/>
        </p:nvSpPr>
        <p:spPr>
          <a:xfrm>
            <a:off x="6812280" y="1874519"/>
            <a:ext cx="4572000" cy="868680"/>
          </a:xfrm>
          <a:prstGeom prst="rect">
            <a:avLst/>
          </a:prstGeom>
          <a:noFill/>
        </p:spPr>
        <p:txBody>
          <a:bodyPr wrap="square" lIns="0" rIns="0" tIns="0" bIns="0" anchor="t">
            <a:spAutoFit/>
          </a:bodyPr>
          <a:lstStyle/>
          <a:p>
            <a:pPr algn="l"/>
            <a:r>
              <a:rPr sz="1250" b="0" i="0">
                <a:solidFill>
                  <a:srgbClr val="394152"/>
                </a:solidFill>
                <a:latin typeface="Calibri"/>
              </a:rPr>
              <a:t>Ông chứng kiến điều này. → Bằng chứng trực tiếp cho luật “không sửa bộ chấm”.</a:t>
            </a:r>
          </a:p>
        </p:txBody>
      </p:sp>
      <p:sp>
        <p:nvSpPr>
          <p:cNvPr id="11" name="Rounded Rectangle 10"/>
          <p:cNvSpPr/>
          <p:nvPr/>
        </p:nvSpPr>
        <p:spPr>
          <a:xfrm>
            <a:off x="548640" y="297180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77240" y="3200400"/>
            <a:ext cx="274320" cy="274320"/>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8719" y="3136392"/>
            <a:ext cx="4572000" cy="411480"/>
          </a:xfrm>
          <a:prstGeom prst="rect">
            <a:avLst/>
          </a:prstGeom>
          <a:noFill/>
        </p:spPr>
        <p:txBody>
          <a:bodyPr wrap="square" lIns="0" rIns="0" tIns="0" bIns="0" anchor="t">
            <a:spAutoFit/>
          </a:bodyPr>
          <a:lstStyle/>
          <a:p>
            <a:pPr algn="l"/>
            <a:r>
              <a:rPr sz="1500" b="1" i="0">
                <a:solidFill>
                  <a:srgbClr val="1C2333"/>
                </a:solidFill>
                <a:latin typeface="Calibri"/>
              </a:rPr>
              <a:t>Bịa nội dung bài, bịa trích dẫn</a:t>
            </a:r>
          </a:p>
        </p:txBody>
      </p:sp>
      <p:sp>
        <p:nvSpPr>
          <p:cNvPr id="14" name="TextBox 13"/>
          <p:cNvSpPr txBox="1"/>
          <p:nvPr/>
        </p:nvSpPr>
        <p:spPr>
          <a:xfrm>
            <a:off x="1188719" y="3566160"/>
            <a:ext cx="4572000" cy="868680"/>
          </a:xfrm>
          <a:prstGeom prst="rect">
            <a:avLst/>
          </a:prstGeom>
          <a:noFill/>
        </p:spPr>
        <p:txBody>
          <a:bodyPr wrap="square" lIns="0" rIns="0" tIns="0" bIns="0" anchor="t">
            <a:spAutoFit/>
          </a:bodyPr>
          <a:lstStyle/>
          <a:p>
            <a:pPr algn="l"/>
            <a:r>
              <a:rPr sz="1250" b="0" i="0">
                <a:solidFill>
                  <a:srgbClr val="394152"/>
                </a:solidFill>
                <a:latin typeface="Calibri"/>
              </a:rPr>
              <a:t>Khi không đọc được bài, đôi khi nó tự bịa. → Số 3 phải kiểm trích dẫn có thật.</a:t>
            </a:r>
          </a:p>
        </p:txBody>
      </p:sp>
      <p:sp>
        <p:nvSpPr>
          <p:cNvPr id="15" name="Rounded Rectangle 14"/>
          <p:cNvSpPr/>
          <p:nvPr/>
        </p:nvSpPr>
        <p:spPr>
          <a:xfrm>
            <a:off x="6172200" y="297180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00800" y="3200400"/>
            <a:ext cx="274320" cy="274320"/>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12280" y="3136392"/>
            <a:ext cx="4572000" cy="411480"/>
          </a:xfrm>
          <a:prstGeom prst="rect">
            <a:avLst/>
          </a:prstGeom>
          <a:noFill/>
        </p:spPr>
        <p:txBody>
          <a:bodyPr wrap="square" lIns="0" rIns="0" tIns="0" bIns="0" anchor="t">
            <a:spAutoFit/>
          </a:bodyPr>
          <a:lstStyle/>
          <a:p>
            <a:pPr algn="l"/>
            <a:r>
              <a:rPr sz="1500" b="1" i="0">
                <a:solidFill>
                  <a:srgbClr val="1C2333"/>
                </a:solidFill>
                <a:latin typeface="Calibri"/>
              </a:rPr>
              <a:t>Chạy lại cùng lời nhắc tìm thêm lỗi</a:t>
            </a:r>
          </a:p>
        </p:txBody>
      </p:sp>
      <p:sp>
        <p:nvSpPr>
          <p:cNvPr id="18" name="TextBox 17"/>
          <p:cNvSpPr txBox="1"/>
          <p:nvPr/>
        </p:nvSpPr>
        <p:spPr>
          <a:xfrm>
            <a:off x="6812280" y="3566160"/>
            <a:ext cx="4572000" cy="868680"/>
          </a:xfrm>
          <a:prstGeom prst="rect">
            <a:avLst/>
          </a:prstGeom>
          <a:noFill/>
        </p:spPr>
        <p:txBody>
          <a:bodyPr wrap="square" lIns="0" rIns="0" tIns="0" bIns="0" anchor="t">
            <a:spAutoFit/>
          </a:bodyPr>
          <a:lstStyle/>
          <a:p>
            <a:pPr algn="l"/>
            <a:r>
              <a:rPr sz="1250" b="0" i="0">
                <a:solidFill>
                  <a:srgbClr val="394152"/>
                </a:solidFill>
                <a:latin typeface="Calibri"/>
              </a:rPr>
              <a:t>Kết quả không tất định. → Nhiều Phá cô lập chạy độc lập, gộp phát hiện.</a:t>
            </a:r>
          </a:p>
        </p:txBody>
      </p:sp>
      <p:sp>
        <p:nvSpPr>
          <p:cNvPr id="19" name="Rounded Rectangle 18"/>
          <p:cNvSpPr/>
          <p:nvPr/>
        </p:nvSpPr>
        <p:spPr>
          <a:xfrm>
            <a:off x="548640" y="466344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77240" y="4892040"/>
            <a:ext cx="274320" cy="274320"/>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88719" y="4828031"/>
            <a:ext cx="4572000" cy="411480"/>
          </a:xfrm>
          <a:prstGeom prst="rect">
            <a:avLst/>
          </a:prstGeom>
          <a:noFill/>
        </p:spPr>
        <p:txBody>
          <a:bodyPr wrap="square" lIns="0" rIns="0" tIns="0" bIns="0" anchor="t">
            <a:spAutoFit/>
          </a:bodyPr>
          <a:lstStyle/>
          <a:p>
            <a:pPr algn="l"/>
            <a:r>
              <a:rPr sz="1500" b="1" i="0">
                <a:solidFill>
                  <a:srgbClr val="1C2333"/>
                </a:solidFill>
                <a:latin typeface="Calibri"/>
              </a:rPr>
              <a:t>Opus lập kế hoạch, Sonnet viết code, Opus review</a:t>
            </a:r>
          </a:p>
        </p:txBody>
      </p:sp>
      <p:sp>
        <p:nvSpPr>
          <p:cNvPr id="22" name="TextBox 21"/>
          <p:cNvSpPr txBox="1"/>
          <p:nvPr/>
        </p:nvSpPr>
        <p:spPr>
          <a:xfrm>
            <a:off x="1188719" y="5257800"/>
            <a:ext cx="4572000" cy="868680"/>
          </a:xfrm>
          <a:prstGeom prst="rect">
            <a:avLst/>
          </a:prstGeom>
          <a:noFill/>
        </p:spPr>
        <p:txBody>
          <a:bodyPr wrap="square" lIns="0" rIns="0" tIns="0" bIns="0" anchor="t">
            <a:spAutoFit/>
          </a:bodyPr>
          <a:lstStyle/>
          <a:p>
            <a:pPr algn="l"/>
            <a:r>
              <a:rPr sz="1250" b="0" i="0">
                <a:solidFill>
                  <a:srgbClr val="394152"/>
                </a:solidFill>
                <a:latin typeface="Calibri"/>
              </a:rPr>
              <a:t>→ Chia model theo ghế: model mạnh cho kế hoạch và phá, model rẻ cho triển khai.</a:t>
            </a:r>
          </a:p>
        </p:txBody>
      </p:sp>
      <p:sp>
        <p:nvSpPr>
          <p:cNvPr id="23" name="Rounded Rectangle 22"/>
          <p:cNvSpPr/>
          <p:nvPr/>
        </p:nvSpPr>
        <p:spPr>
          <a:xfrm>
            <a:off x="6172200" y="4663440"/>
            <a:ext cx="5440680" cy="15087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00800" y="4892040"/>
            <a:ext cx="274320" cy="274320"/>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12280" y="4828031"/>
            <a:ext cx="4572000" cy="411480"/>
          </a:xfrm>
          <a:prstGeom prst="rect">
            <a:avLst/>
          </a:prstGeom>
          <a:noFill/>
        </p:spPr>
        <p:txBody>
          <a:bodyPr wrap="square" lIns="0" rIns="0" tIns="0" bIns="0" anchor="t">
            <a:spAutoFit/>
          </a:bodyPr>
          <a:lstStyle/>
          <a:p>
            <a:pPr algn="l"/>
            <a:r>
              <a:rPr sz="1500" b="1" i="0">
                <a:solidFill>
                  <a:srgbClr val="1C2333"/>
                </a:solidFill>
                <a:latin typeface="Calibri"/>
              </a:rPr>
              <a:t>Giỏi việc máy móc hơn người</a:t>
            </a:r>
          </a:p>
        </p:txBody>
      </p:sp>
      <p:sp>
        <p:nvSpPr>
          <p:cNvPr id="26" name="TextBox 25"/>
          <p:cNvSpPr txBox="1"/>
          <p:nvPr/>
        </p:nvSpPr>
        <p:spPr>
          <a:xfrm>
            <a:off x="6812280" y="5257800"/>
            <a:ext cx="4572000" cy="868680"/>
          </a:xfrm>
          <a:prstGeom prst="rect">
            <a:avLst/>
          </a:prstGeom>
          <a:noFill/>
        </p:spPr>
        <p:txBody>
          <a:bodyPr wrap="square" lIns="0" rIns="0" tIns="0" bIns="0" anchor="t">
            <a:spAutoFit/>
          </a:bodyPr>
          <a:lstStyle/>
          <a:p>
            <a:pPr algn="l"/>
            <a:r>
              <a:rPr sz="1250" b="0" i="0">
                <a:solidFill>
                  <a:srgbClr val="394152"/>
                </a:solidFill>
                <a:latin typeface="Calibri"/>
              </a:rPr>
              <a:t>Lan truyền dấu, độ dịch bậc, kiểm nhất quán ký hiệu. → Giao cho Số 2 những việc này trước.</a:t>
            </a:r>
          </a:p>
        </p:txBody>
      </p:sp>
      <p:sp>
        <p:nvSpPr>
          <p:cNvPr id="27" name="TextBox 26"/>
          <p:cNvSpPr txBox="1"/>
          <p:nvPr/>
        </p:nvSpPr>
        <p:spPr>
          <a:xfrm>
            <a:off x="548640" y="6355080"/>
            <a:ext cx="11064240" cy="274320"/>
          </a:xfrm>
          <a:prstGeom prst="rect">
            <a:avLst/>
          </a:prstGeom>
          <a:noFill/>
        </p:spPr>
        <p:txBody>
          <a:bodyPr wrap="square" lIns="0" rIns="0" tIns="0" bIns="0" anchor="t">
            <a:spAutoFit/>
          </a:bodyPr>
          <a:lstStyle/>
          <a:p>
            <a:pPr algn="l"/>
            <a:r>
              <a:rPr sz="1100" b="1" i="0">
                <a:solidFill>
                  <a:srgbClr val="5F6878"/>
                </a:solidFill>
                <a:latin typeface="Calibri"/>
              </a:rPr>
              <a:t>Nguồn: </a:t>
            </a:r>
            <a:r>
              <a:rPr sz="1100" b="0" i="0" u="sng">
                <a:solidFill>
                  <a:srgbClr val="2B59D9"/>
                </a:solidFill>
                <a:latin typeface="Calibri"/>
                <a:hlinkClick r:id="rId2"/>
              </a:rPr>
              <a:t>hướng dẫn Lipshitz (chưa xác nhận được nguồn)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Bài học từ claude-for-researchers</a:t>
            </a:r>
          </a:p>
        </p:txBody>
      </p:sp>
      <p:graphicFrame>
        <p:nvGraphicFramePr>
          <p:cNvPr id="3" name="Table 2"/>
          <p:cNvGraphicFramePr>
            <a:graphicFrameLocks noGrp="1"/>
          </p:cNvGraphicFramePr>
          <p:nvPr/>
        </p:nvGraphicFramePr>
        <p:xfrm>
          <a:off x="548640" y="1234440"/>
          <a:ext cx="11064240" cy="4352544"/>
        </p:xfrm>
        <a:graphic>
          <a:graphicData uri="http://schemas.openxmlformats.org/drawingml/2006/table">
            <a:tbl>
              <a:tblPr firstRow="1" bandRow="1">
                <a:tableStyleId>{5C22544A-7EE6-4342-B048-85BDC9FD1C3A}</a:tableStyleId>
              </a:tblPr>
              <a:tblGrid>
                <a:gridCol w="4937760"/>
                <a:gridCol w="6126480"/>
              </a:tblGrid>
              <a:tr h="621792">
                <a:tc>
                  <a:txBody>
                    <a:bodyPr/>
                    <a:lstStyle/>
                    <a:p>
                      <a:r>
                        <a:rPr sz="1350" b="1">
                          <a:solidFill>
                            <a:srgbClr val="FFFFFF"/>
                          </a:solidFill>
                          <a:latin typeface="Calibri"/>
                        </a:rPr>
                        <a:t>Bài học</a:t>
                      </a:r>
                    </a:p>
                  </a:txBody>
                  <a:tcPr marL="91440" marR="91440" marT="36576" marB="36576" anchor="ctr">
                    <a:solidFill>
                      <a:srgbClr val="157A55"/>
                    </a:solidFill>
                  </a:tcPr>
                </a:tc>
                <a:tc>
                  <a:txBody>
                    <a:bodyPr/>
                    <a:lstStyle/>
                    <a:p>
                      <a:r>
                        <a:rPr sz="1350" b="1">
                          <a:solidFill>
                            <a:srgbClr val="FFFFFF"/>
                          </a:solidFill>
                          <a:latin typeface="Calibri"/>
                        </a:rPr>
                        <a:t>Áp vào đội</a:t>
                      </a:r>
                    </a:p>
                  </a:txBody>
                  <a:tcPr marL="91440" marR="91440" marT="36576" marB="36576" anchor="ctr">
                    <a:solidFill>
                      <a:srgbClr val="157A55"/>
                    </a:solidFill>
                  </a:tcPr>
                </a:tc>
              </a:tr>
              <a:tr h="621792">
                <a:tc>
                  <a:txBody>
                    <a:bodyPr/>
                    <a:lstStyle/>
                    <a:p>
                      <a:r>
                        <a:rPr sz="1350" b="1">
                          <a:solidFill>
                            <a:srgbClr val="1C2333"/>
                          </a:solidFill>
                          <a:latin typeface="Calibri"/>
                        </a:rPr>
                        <a:t>CLAUDE.md quyết định chất lượng mọi phiên</a:t>
                      </a:r>
                    </a:p>
                  </a:txBody>
                  <a:tcPr marL="91440" marR="91440" marT="36576" marB="36576" anchor="ctr">
                    <a:solidFill>
                      <a:srgbClr val="F2F4F7"/>
                    </a:solidFill>
                  </a:tcPr>
                </a:tc>
                <a:tc>
                  <a:txBody>
                    <a:bodyPr/>
                    <a:lstStyle/>
                    <a:p>
                      <a:r>
                        <a:rPr sz="1350" b="0">
                          <a:solidFill>
                            <a:srgbClr val="394152"/>
                          </a:solidFill>
                          <a:latin typeface="Calibri"/>
                        </a:rPr>
                        <a:t>Thẻ vai của mỗi ghế chính là CLAUDE.md của ghế đó; viết kỹ nhất</a:t>
                      </a:r>
                    </a:p>
                  </a:txBody>
                  <a:tcPr marL="91440" marR="91440" marT="36576" marB="36576" anchor="ctr">
                    <a:solidFill>
                      <a:srgbClr val="F2F4F7"/>
                    </a:solidFill>
                  </a:tcPr>
                </a:tc>
              </a:tr>
              <a:tr h="621792">
                <a:tc>
                  <a:txBody>
                    <a:bodyPr/>
                    <a:lstStyle/>
                    <a:p>
                      <a:r>
                        <a:rPr sz="1350" b="1">
                          <a:solidFill>
                            <a:srgbClr val="1C2333"/>
                          </a:solidFill>
                          <a:latin typeface="Calibri"/>
                        </a:rPr>
                        <a:t>Ghi chú cô đọng đọc đầu tiên tốt hơn trông vào trí nhớ</a:t>
                      </a:r>
                    </a:p>
                  </a:txBody>
                  <a:tcPr marL="91440" marR="91440" marT="36576" marB="36576" anchor="ctr">
                    <a:solidFill>
                      <a:srgbClr val="FFFFFF"/>
                    </a:solidFill>
                  </a:tcPr>
                </a:tc>
                <a:tc>
                  <a:txBody>
                    <a:bodyPr/>
                    <a:lstStyle/>
                    <a:p>
                      <a:r>
                        <a:rPr sz="1350" b="0">
                          <a:solidFill>
                            <a:srgbClr val="394152"/>
                          </a:solidFill>
                          <a:latin typeface="Calibri"/>
                        </a:rPr>
                        <a:t>Bảng tác chiến cần một bản tóm tắt ngắn: “bản đồ trận”, cho cả agent lẫn ChatGPT</a:t>
                      </a:r>
                    </a:p>
                  </a:txBody>
                  <a:tcPr marL="91440" marR="91440" marT="36576" marB="36576" anchor="ctr">
                    <a:solidFill>
                      <a:srgbClr val="FFFFFF"/>
                    </a:solidFill>
                  </a:tcPr>
                </a:tc>
              </a:tr>
              <a:tr h="621792">
                <a:tc>
                  <a:txBody>
                    <a:bodyPr/>
                    <a:lstStyle/>
                    <a:p>
                      <a:r>
                        <a:rPr sz="1350" b="1">
                          <a:solidFill>
                            <a:srgbClr val="1C2333"/>
                          </a:solidFill>
                          <a:latin typeface="Calibri"/>
                        </a:rPr>
                        <a:t>Mỗi skill một việc, không skill “làm mọi thứ”</a:t>
                      </a:r>
                    </a:p>
                  </a:txBody>
                  <a:tcPr marL="91440" marR="91440" marT="36576" marB="36576" anchor="ctr">
                    <a:solidFill>
                      <a:srgbClr val="F2F4F7"/>
                    </a:solidFill>
                  </a:tcPr>
                </a:tc>
                <a:tc>
                  <a:txBody>
                    <a:bodyPr/>
                    <a:lstStyle/>
                    <a:p>
                      <a:r>
                        <a:rPr sz="1350" b="0">
                          <a:solidFill>
                            <a:srgbClr val="394152"/>
                          </a:solidFill>
                          <a:latin typeface="Calibri"/>
                        </a:rPr>
                        <a:t>Đúng nguyên tắc tách thẻ vai và skill quy trình</a:t>
                      </a:r>
                    </a:p>
                  </a:txBody>
                  <a:tcPr marL="91440" marR="91440" marT="36576" marB="36576" anchor="ctr">
                    <a:solidFill>
                      <a:srgbClr val="F2F4F7"/>
                    </a:solidFill>
                  </a:tcPr>
                </a:tc>
              </a:tr>
              <a:tr h="621792">
                <a:tc>
                  <a:txBody>
                    <a:bodyPr/>
                    <a:lstStyle/>
                    <a:p>
                      <a:r>
                        <a:rPr sz="1350" b="1">
                          <a:solidFill>
                            <a:srgbClr val="1C2333"/>
                          </a:solidFill>
                          <a:latin typeface="Calibri"/>
                        </a:rPr>
                        <a:t>Hook: kiểm trước commit, lưu trạng thái trước khi nén ngữ cảnh</a:t>
                      </a:r>
                    </a:p>
                  </a:txBody>
                  <a:tcPr marL="91440" marR="91440" marT="36576" marB="36576" anchor="ctr">
                    <a:solidFill>
                      <a:srgbClr val="FFFFFF"/>
                    </a:solidFill>
                  </a:tcPr>
                </a:tc>
                <a:tc>
                  <a:txBody>
                    <a:bodyPr/>
                    <a:lstStyle/>
                    <a:p>
                      <a:r>
                        <a:rPr sz="1350" b="0">
                          <a:solidFill>
                            <a:srgbClr val="394152"/>
                          </a:solidFill>
                          <a:latin typeface="Calibri"/>
                        </a:rPr>
                        <a:t>Hook trước khi nén = tự động viết biên bản bàn giao, chính là luật thay người 50%</a:t>
                      </a:r>
                    </a:p>
                  </a:txBody>
                  <a:tcPr marL="91440" marR="91440" marT="36576" marB="36576" anchor="ctr">
                    <a:solidFill>
                      <a:srgbClr val="FFFFFF"/>
                    </a:solidFill>
                  </a:tcPr>
                </a:tc>
              </a:tr>
              <a:tr h="621792">
                <a:tc>
                  <a:txBody>
                    <a:bodyPr/>
                    <a:lstStyle/>
                    <a:p>
                      <a:r>
                        <a:rPr sz="1350" b="1">
                          <a:solidFill>
                            <a:srgbClr val="1C2333"/>
                          </a:solidFill>
                          <a:latin typeface="Calibri"/>
                        </a:rPr>
                        <a:t>Nhật ký việc do người giữ thắng bộ nhớ tự động</a:t>
                      </a:r>
                    </a:p>
                  </a:txBody>
                  <a:tcPr marL="91440" marR="91440" marT="36576" marB="36576" anchor="ctr">
                    <a:solidFill>
                      <a:srgbClr val="F2F4F7"/>
                    </a:solidFill>
                  </a:tcPr>
                </a:tc>
                <a:tc>
                  <a:txBody>
                    <a:bodyPr/>
                    <a:lstStyle/>
                    <a:p>
                      <a:r>
                        <a:rPr sz="1350" b="0">
                          <a:solidFill>
                            <a:srgbClr val="394152"/>
                          </a:solidFill>
                          <a:latin typeface="Calibri"/>
                        </a:rPr>
                        <a:t>Trạng thái nghiên cứu nằm trong file, không nằm trong trí nhớ của model</a:t>
                      </a:r>
                    </a:p>
                  </a:txBody>
                  <a:tcPr marL="91440" marR="91440" marT="36576" marB="36576" anchor="ctr">
                    <a:solidFill>
                      <a:srgbClr val="F2F4F7"/>
                    </a:solidFill>
                  </a:tcPr>
                </a:tc>
              </a:tr>
              <a:tr h="621792">
                <a:tc>
                  <a:txBody>
                    <a:bodyPr/>
                    <a:lstStyle/>
                    <a:p>
                      <a:r>
                        <a:rPr sz="1350" b="1">
                          <a:solidFill>
                            <a:srgbClr val="1C2333"/>
                          </a:solidFill>
                          <a:latin typeface="Calibri"/>
                        </a:rPr>
                        <a:t>Commit nhỏ, rõ ràng</a:t>
                      </a:r>
                    </a:p>
                  </a:txBody>
                  <a:tcPr marL="91440" marR="91440" marT="36576" marB="36576" anchor="ctr">
                    <a:solidFill>
                      <a:srgbClr val="FFFFFF"/>
                    </a:solidFill>
                  </a:tcPr>
                </a:tc>
                <a:tc>
                  <a:txBody>
                    <a:bodyPr/>
                    <a:lstStyle/>
                    <a:p>
                      <a:r>
                        <a:rPr sz="1350" b="0">
                          <a:solidFill>
                            <a:srgbClr val="394152"/>
                          </a:solidFill>
                          <a:latin typeface="Calibri"/>
                        </a:rPr>
                        <a:t>Kho đã kiểm và bảng tác chiến đặt trong git: lùi lại được khi sai</a:t>
                      </a:r>
                    </a:p>
                  </a:txBody>
                  <a:tcPr marL="91440" marR="91440" marT="36576" marB="36576" anchor="ctr">
                    <a:solidFill>
                      <a:srgbClr val="FFFFFF"/>
                    </a:solidFill>
                  </a:tcPr>
                </a:tc>
              </a:tr>
            </a:tbl>
          </a:graphicData>
        </a:graphic>
      </p:graphicFrame>
      <p:sp>
        <p:nvSpPr>
          <p:cNvPr id="4" name="TextBox 3"/>
          <p:cNvSpPr txBox="1"/>
          <p:nvPr/>
        </p:nvSpPr>
        <p:spPr>
          <a:xfrm>
            <a:off x="548640" y="6355080"/>
            <a:ext cx="11064240" cy="274320"/>
          </a:xfrm>
          <a:prstGeom prst="rect">
            <a:avLst/>
          </a:prstGeom>
          <a:noFill/>
        </p:spPr>
        <p:txBody>
          <a:bodyPr wrap="square" lIns="0" rIns="0" tIns="0" bIns="0" anchor="t">
            <a:spAutoFit/>
          </a:bodyPr>
          <a:lstStyle/>
          <a:p>
            <a:pPr algn="l"/>
            <a:r>
              <a:rPr sz="1100" b="1" i="0">
                <a:solidFill>
                  <a:srgbClr val="5F6878"/>
                </a:solidFill>
                <a:latin typeface="Calibri"/>
              </a:rPr>
              <a:t>Nguồn: </a:t>
            </a:r>
            <a:r>
              <a:rPr sz="1100" b="0" i="0" u="sng">
                <a:solidFill>
                  <a:srgbClr val="2B59D9"/>
                </a:solidFill>
                <a:latin typeface="Calibri"/>
                <a:hlinkClick r:id="rId2"/>
              </a:rPr>
              <a:t>claude-for-researchers (chưa xác nhận được nguồn)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Skill cần tự viết, theo thứ tự ưu tiên</a:t>
            </a:r>
          </a:p>
        </p:txBody>
      </p:sp>
      <p:sp>
        <p:nvSpPr>
          <p:cNvPr id="3" name="Oval 2"/>
          <p:cNvSpPr/>
          <p:nvPr/>
        </p:nvSpPr>
        <p:spPr>
          <a:xfrm>
            <a:off x="548640" y="1289304"/>
            <a:ext cx="420624" cy="420624"/>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289304"/>
            <a:ext cx="420624" cy="420624"/>
          </a:xfrm>
          <a:prstGeom prst="rect">
            <a:avLst/>
          </a:prstGeom>
          <a:noFill/>
        </p:spPr>
        <p:txBody>
          <a:bodyPr wrap="square" lIns="0" rIns="0" tIns="0" bIns="0" anchor="ctr">
            <a:spAutoFit/>
          </a:bodyPr>
          <a:lstStyle/>
          <a:p>
            <a:pPr algn="ctr"/>
            <a:r>
              <a:rPr sz="1400" b="1" i="0">
                <a:solidFill>
                  <a:srgbClr val="FFFFFF"/>
                </a:solidFill>
                <a:latin typeface="Calibri"/>
              </a:rPr>
              <a:t>1</a:t>
            </a:r>
          </a:p>
        </p:txBody>
      </p:sp>
      <p:sp>
        <p:nvSpPr>
          <p:cNvPr id="5" name="TextBox 4"/>
          <p:cNvSpPr txBox="1"/>
          <p:nvPr/>
        </p:nvSpPr>
        <p:spPr>
          <a:xfrm>
            <a:off x="1143000" y="1307592"/>
            <a:ext cx="3657600" cy="411480"/>
          </a:xfrm>
          <a:prstGeom prst="rect">
            <a:avLst/>
          </a:prstGeom>
          <a:noFill/>
        </p:spPr>
        <p:txBody>
          <a:bodyPr wrap="square" lIns="0" rIns="0" tIns="0" bIns="0" anchor="ctr">
            <a:spAutoFit/>
          </a:bodyPr>
          <a:lstStyle/>
          <a:p>
            <a:pPr algn="l"/>
            <a:r>
              <a:rPr sz="1600" b="1" i="0">
                <a:solidFill>
                  <a:srgbClr val="1C2333"/>
                </a:solidFill>
                <a:latin typeface="Calibri"/>
              </a:rPr>
              <a:t>Đăng mảnh lên bảng</a:t>
            </a:r>
          </a:p>
        </p:txBody>
      </p:sp>
      <p:sp>
        <p:nvSpPr>
          <p:cNvPr id="6" name="TextBox 5"/>
          <p:cNvSpPr txBox="1"/>
          <p:nvPr/>
        </p:nvSpPr>
        <p:spPr>
          <a:xfrm>
            <a:off x="4846320" y="1307592"/>
            <a:ext cx="1280160" cy="411480"/>
          </a:xfrm>
          <a:prstGeom prst="rect">
            <a:avLst/>
          </a:prstGeom>
          <a:noFill/>
        </p:spPr>
        <p:txBody>
          <a:bodyPr wrap="square" lIns="0" rIns="0" tIns="0" bIns="0" anchor="ctr">
            <a:spAutoFit/>
          </a:bodyPr>
          <a:lstStyle/>
          <a:p>
            <a:pPr algn="l"/>
            <a:r>
              <a:rPr sz="1300" b="1" i="0">
                <a:solidFill>
                  <a:srgbClr val="2B59D9"/>
                </a:solidFill>
                <a:latin typeface="Calibri"/>
              </a:rPr>
              <a:t>Mọi ghế</a:t>
            </a:r>
          </a:p>
        </p:txBody>
      </p:sp>
      <p:sp>
        <p:nvSpPr>
          <p:cNvPr id="7" name="TextBox 6"/>
          <p:cNvSpPr txBox="1"/>
          <p:nvPr/>
        </p:nvSpPr>
        <p:spPr>
          <a:xfrm>
            <a:off x="6217920" y="1307592"/>
            <a:ext cx="5486400" cy="411480"/>
          </a:xfrm>
          <a:prstGeom prst="rect">
            <a:avLst/>
          </a:prstGeom>
          <a:noFill/>
        </p:spPr>
        <p:txBody>
          <a:bodyPr wrap="square" lIns="0" rIns="0" tIns="0" bIns="0" anchor="ctr">
            <a:spAutoFit/>
          </a:bodyPr>
          <a:lstStyle/>
          <a:p>
            <a:pPr algn="l"/>
            <a:r>
              <a:rPr sz="1350" b="0" i="0">
                <a:solidFill>
                  <a:srgbClr val="394152"/>
                </a:solidFill>
                <a:latin typeface="Calibri"/>
              </a:rPr>
              <a:t>Khuôn: phát biểu, nhãn, nguồn, phụ thuộc, bằng chứng</a:t>
            </a:r>
          </a:p>
        </p:txBody>
      </p:sp>
      <p:sp>
        <p:nvSpPr>
          <p:cNvPr id="8" name="Oval 7"/>
          <p:cNvSpPr/>
          <p:nvPr/>
        </p:nvSpPr>
        <p:spPr>
          <a:xfrm>
            <a:off x="548640" y="1911096"/>
            <a:ext cx="420624" cy="420624"/>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911096"/>
            <a:ext cx="420624" cy="420624"/>
          </a:xfrm>
          <a:prstGeom prst="rect">
            <a:avLst/>
          </a:prstGeom>
          <a:noFill/>
        </p:spPr>
        <p:txBody>
          <a:bodyPr wrap="square" lIns="0" rIns="0" tIns="0" bIns="0" anchor="ctr">
            <a:spAutoFit/>
          </a:bodyPr>
          <a:lstStyle/>
          <a:p>
            <a:pPr algn="ctr"/>
            <a:r>
              <a:rPr sz="1400" b="1" i="0">
                <a:solidFill>
                  <a:srgbClr val="FFFFFF"/>
                </a:solidFill>
                <a:latin typeface="Calibri"/>
              </a:rPr>
              <a:t>2</a:t>
            </a:r>
          </a:p>
        </p:txBody>
      </p:sp>
      <p:sp>
        <p:nvSpPr>
          <p:cNvPr id="10" name="TextBox 9"/>
          <p:cNvSpPr txBox="1"/>
          <p:nvPr/>
        </p:nvSpPr>
        <p:spPr>
          <a:xfrm>
            <a:off x="1143000" y="1929384"/>
            <a:ext cx="3657600" cy="411480"/>
          </a:xfrm>
          <a:prstGeom prst="rect">
            <a:avLst/>
          </a:prstGeom>
          <a:noFill/>
        </p:spPr>
        <p:txBody>
          <a:bodyPr wrap="square" lIns="0" rIns="0" tIns="0" bIns="0" anchor="ctr">
            <a:spAutoFit/>
          </a:bodyPr>
          <a:lstStyle/>
          <a:p>
            <a:pPr algn="l"/>
            <a:r>
              <a:rPr sz="1600" b="1" i="0">
                <a:solidFill>
                  <a:srgbClr val="1C2333"/>
                </a:solidFill>
                <a:latin typeface="Calibri"/>
              </a:rPr>
              <a:t>Bàn giao khi thay người</a:t>
            </a:r>
          </a:p>
        </p:txBody>
      </p:sp>
      <p:sp>
        <p:nvSpPr>
          <p:cNvPr id="11" name="TextBox 10"/>
          <p:cNvSpPr txBox="1"/>
          <p:nvPr/>
        </p:nvSpPr>
        <p:spPr>
          <a:xfrm>
            <a:off x="4846320" y="1929384"/>
            <a:ext cx="1280160" cy="411480"/>
          </a:xfrm>
          <a:prstGeom prst="rect">
            <a:avLst/>
          </a:prstGeom>
          <a:noFill/>
        </p:spPr>
        <p:txBody>
          <a:bodyPr wrap="square" lIns="0" rIns="0" tIns="0" bIns="0" anchor="ctr">
            <a:spAutoFit/>
          </a:bodyPr>
          <a:lstStyle/>
          <a:p>
            <a:pPr algn="l"/>
            <a:r>
              <a:rPr sz="1300" b="1" i="0">
                <a:solidFill>
                  <a:srgbClr val="2B59D9"/>
                </a:solidFill>
                <a:latin typeface="Calibri"/>
              </a:rPr>
              <a:t>Mọi ghế</a:t>
            </a:r>
          </a:p>
        </p:txBody>
      </p:sp>
      <p:sp>
        <p:nvSpPr>
          <p:cNvPr id="12" name="TextBox 11"/>
          <p:cNvSpPr txBox="1"/>
          <p:nvPr/>
        </p:nvSpPr>
        <p:spPr>
          <a:xfrm>
            <a:off x="6217920" y="1929384"/>
            <a:ext cx="5486400" cy="411480"/>
          </a:xfrm>
          <a:prstGeom prst="rect">
            <a:avLst/>
          </a:prstGeom>
          <a:noFill/>
        </p:spPr>
        <p:txBody>
          <a:bodyPr wrap="square" lIns="0" rIns="0" tIns="0" bIns="0" anchor="ctr">
            <a:spAutoFit/>
          </a:bodyPr>
          <a:lstStyle/>
          <a:p>
            <a:pPr algn="l"/>
            <a:r>
              <a:rPr sz="1350" b="0" i="0">
                <a:solidFill>
                  <a:srgbClr val="394152"/>
                </a:solidFill>
                <a:latin typeface="Calibri"/>
              </a:rPr>
              <a:t>Biên bản + hook tự chạy trước khi nén ngữ cảnh</a:t>
            </a:r>
          </a:p>
        </p:txBody>
      </p:sp>
      <p:sp>
        <p:nvSpPr>
          <p:cNvPr id="13" name="Oval 12"/>
          <p:cNvSpPr/>
          <p:nvPr/>
        </p:nvSpPr>
        <p:spPr>
          <a:xfrm>
            <a:off x="548640" y="2532888"/>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2532888"/>
            <a:ext cx="420624" cy="420624"/>
          </a:xfrm>
          <a:prstGeom prst="rect">
            <a:avLst/>
          </a:prstGeom>
          <a:noFill/>
        </p:spPr>
        <p:txBody>
          <a:bodyPr wrap="square" lIns="0" rIns="0" tIns="0" bIns="0" anchor="ctr">
            <a:spAutoFit/>
          </a:bodyPr>
          <a:lstStyle/>
          <a:p>
            <a:pPr algn="ctr"/>
            <a:r>
              <a:rPr sz="1400" b="1" i="0">
                <a:solidFill>
                  <a:srgbClr val="FFFFFF"/>
                </a:solidFill>
                <a:latin typeface="Calibri"/>
              </a:rPr>
              <a:t>3</a:t>
            </a:r>
          </a:p>
        </p:txBody>
      </p:sp>
      <p:sp>
        <p:nvSpPr>
          <p:cNvPr id="15" name="TextBox 14"/>
          <p:cNvSpPr txBox="1"/>
          <p:nvPr/>
        </p:nvSpPr>
        <p:spPr>
          <a:xfrm>
            <a:off x="1143000" y="2551176"/>
            <a:ext cx="3657600" cy="411480"/>
          </a:xfrm>
          <a:prstGeom prst="rect">
            <a:avLst/>
          </a:prstGeom>
          <a:noFill/>
        </p:spPr>
        <p:txBody>
          <a:bodyPr wrap="square" lIns="0" rIns="0" tIns="0" bIns="0" anchor="ctr">
            <a:spAutoFit/>
          </a:bodyPr>
          <a:lstStyle/>
          <a:p>
            <a:pPr algn="l"/>
            <a:r>
              <a:rPr sz="1600" b="1" i="0">
                <a:solidFill>
                  <a:srgbClr val="1C2333"/>
                </a:solidFill>
                <a:latin typeface="Calibri"/>
              </a:rPr>
              <a:t>Khoá đề hai bản</a:t>
            </a:r>
          </a:p>
        </p:txBody>
      </p:sp>
      <p:sp>
        <p:nvSpPr>
          <p:cNvPr id="16" name="TextBox 15"/>
          <p:cNvSpPr txBox="1"/>
          <p:nvPr/>
        </p:nvSpPr>
        <p:spPr>
          <a:xfrm>
            <a:off x="4846320" y="2551176"/>
            <a:ext cx="1280160" cy="411480"/>
          </a:xfrm>
          <a:prstGeom prst="rect">
            <a:avLst/>
          </a:prstGeom>
          <a:noFill/>
        </p:spPr>
        <p:txBody>
          <a:bodyPr wrap="square" lIns="0" rIns="0" tIns="0" bIns="0" anchor="ctr">
            <a:spAutoFit/>
          </a:bodyPr>
          <a:lstStyle/>
          <a:p>
            <a:pPr algn="l"/>
            <a:r>
              <a:rPr sz="1300" b="1" i="0">
                <a:solidFill>
                  <a:srgbClr val="2B59D9"/>
                </a:solidFill>
                <a:latin typeface="Calibri"/>
              </a:rPr>
              <a:t>1, 2</a:t>
            </a:r>
          </a:p>
        </p:txBody>
      </p:sp>
      <p:sp>
        <p:nvSpPr>
          <p:cNvPr id="17" name="TextBox 16"/>
          <p:cNvSpPr txBox="1"/>
          <p:nvPr/>
        </p:nvSpPr>
        <p:spPr>
          <a:xfrm>
            <a:off x="6217920" y="2551176"/>
            <a:ext cx="5486400" cy="411480"/>
          </a:xfrm>
          <a:prstGeom prst="rect">
            <a:avLst/>
          </a:prstGeom>
          <a:noFill/>
        </p:spPr>
        <p:txBody>
          <a:bodyPr wrap="square" lIns="0" rIns="0" tIns="0" bIns="0" anchor="ctr">
            <a:spAutoFit/>
          </a:bodyPr>
          <a:lstStyle/>
          <a:p>
            <a:pPr algn="l"/>
            <a:r>
              <a:rPr sz="1350" b="0" i="0">
                <a:solidFill>
                  <a:srgbClr val="394152"/>
                </a:solidFill>
                <a:latin typeface="Calibri"/>
              </a:rPr>
              <a:t>Hai bản độc lập, so khác nghĩa, phải bác được biến thể sai</a:t>
            </a:r>
          </a:p>
        </p:txBody>
      </p:sp>
      <p:sp>
        <p:nvSpPr>
          <p:cNvPr id="18" name="Oval 17"/>
          <p:cNvSpPr/>
          <p:nvPr/>
        </p:nvSpPr>
        <p:spPr>
          <a:xfrm>
            <a:off x="548640" y="3154680"/>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154680"/>
            <a:ext cx="420624" cy="420624"/>
          </a:xfrm>
          <a:prstGeom prst="rect">
            <a:avLst/>
          </a:prstGeom>
          <a:noFill/>
        </p:spPr>
        <p:txBody>
          <a:bodyPr wrap="square" lIns="0" rIns="0" tIns="0" bIns="0" anchor="ctr">
            <a:spAutoFit/>
          </a:bodyPr>
          <a:lstStyle/>
          <a:p>
            <a:pPr algn="ctr"/>
            <a:r>
              <a:rPr sz="1400" b="1" i="0">
                <a:solidFill>
                  <a:srgbClr val="FFFFFF"/>
                </a:solidFill>
                <a:latin typeface="Calibri"/>
              </a:rPr>
              <a:t>4</a:t>
            </a:r>
          </a:p>
        </p:txBody>
      </p:sp>
      <p:sp>
        <p:nvSpPr>
          <p:cNvPr id="20" name="TextBox 19"/>
          <p:cNvSpPr txBox="1"/>
          <p:nvPr/>
        </p:nvSpPr>
        <p:spPr>
          <a:xfrm>
            <a:off x="1143000" y="3172968"/>
            <a:ext cx="3657600" cy="411480"/>
          </a:xfrm>
          <a:prstGeom prst="rect">
            <a:avLst/>
          </a:prstGeom>
          <a:noFill/>
        </p:spPr>
        <p:txBody>
          <a:bodyPr wrap="square" lIns="0" rIns="0" tIns="0" bIns="0" anchor="ctr">
            <a:spAutoFit/>
          </a:bodyPr>
          <a:lstStyle/>
          <a:p>
            <a:pPr algn="l"/>
            <a:r>
              <a:rPr sz="1600" b="1" i="0">
                <a:solidFill>
                  <a:srgbClr val="1C2333"/>
                </a:solidFill>
                <a:latin typeface="Calibri"/>
              </a:rPr>
              <a:t>Săn phản ví dụ, nhãn Lakatos</a:t>
            </a:r>
          </a:p>
        </p:txBody>
      </p:sp>
      <p:sp>
        <p:nvSpPr>
          <p:cNvPr id="21" name="TextBox 20"/>
          <p:cNvSpPr txBox="1"/>
          <p:nvPr/>
        </p:nvSpPr>
        <p:spPr>
          <a:xfrm>
            <a:off x="4846320" y="3172968"/>
            <a:ext cx="1280160" cy="411480"/>
          </a:xfrm>
          <a:prstGeom prst="rect">
            <a:avLst/>
          </a:prstGeom>
          <a:noFill/>
        </p:spPr>
        <p:txBody>
          <a:bodyPr wrap="square" lIns="0" rIns="0" tIns="0" bIns="0" anchor="ctr">
            <a:spAutoFit/>
          </a:bodyPr>
          <a:lstStyle/>
          <a:p>
            <a:pPr algn="l"/>
            <a:r>
              <a:rPr sz="1300" b="1" i="0">
                <a:solidFill>
                  <a:srgbClr val="2B59D9"/>
                </a:solidFill>
                <a:latin typeface="Calibri"/>
              </a:rPr>
              <a:t>4</a:t>
            </a:r>
          </a:p>
        </p:txBody>
      </p:sp>
      <p:sp>
        <p:nvSpPr>
          <p:cNvPr id="22" name="TextBox 21"/>
          <p:cNvSpPr txBox="1"/>
          <p:nvPr/>
        </p:nvSpPr>
        <p:spPr>
          <a:xfrm>
            <a:off x="6217920" y="3172968"/>
            <a:ext cx="5486400" cy="411480"/>
          </a:xfrm>
          <a:prstGeom prst="rect">
            <a:avLst/>
          </a:prstGeom>
          <a:noFill/>
        </p:spPr>
        <p:txBody>
          <a:bodyPr wrap="square" lIns="0" rIns="0" tIns="0" bIns="0" anchor="ctr">
            <a:spAutoFit/>
          </a:bodyPr>
          <a:lstStyle/>
          <a:p>
            <a:pPr algn="l"/>
            <a:r>
              <a:rPr sz="1350" b="0" i="0">
                <a:solidFill>
                  <a:srgbClr val="394152"/>
                </a:solidFill>
                <a:latin typeface="Calibri"/>
              </a:rPr>
              <a:t>Ca nhỏ, SAT/SMT, Sage; phân loại cục bộ hay toàn cục</a:t>
            </a:r>
          </a:p>
        </p:txBody>
      </p:sp>
      <p:sp>
        <p:nvSpPr>
          <p:cNvPr id="23" name="Oval 22"/>
          <p:cNvSpPr/>
          <p:nvPr/>
        </p:nvSpPr>
        <p:spPr>
          <a:xfrm>
            <a:off x="548640" y="3776472"/>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3776472"/>
            <a:ext cx="420624" cy="420624"/>
          </a:xfrm>
          <a:prstGeom prst="rect">
            <a:avLst/>
          </a:prstGeom>
          <a:noFill/>
        </p:spPr>
        <p:txBody>
          <a:bodyPr wrap="square" lIns="0" rIns="0" tIns="0" bIns="0" anchor="ctr">
            <a:spAutoFit/>
          </a:bodyPr>
          <a:lstStyle/>
          <a:p>
            <a:pPr algn="ctr"/>
            <a:r>
              <a:rPr sz="1400" b="1" i="0">
                <a:solidFill>
                  <a:srgbClr val="FFFFFF"/>
                </a:solidFill>
                <a:latin typeface="Calibri"/>
              </a:rPr>
              <a:t>5</a:t>
            </a:r>
          </a:p>
        </p:txBody>
      </p:sp>
      <p:sp>
        <p:nvSpPr>
          <p:cNvPr id="25" name="TextBox 24"/>
          <p:cNvSpPr txBox="1"/>
          <p:nvPr/>
        </p:nvSpPr>
        <p:spPr>
          <a:xfrm>
            <a:off x="1143000" y="3794760"/>
            <a:ext cx="3657600" cy="411480"/>
          </a:xfrm>
          <a:prstGeom prst="rect">
            <a:avLst/>
          </a:prstGeom>
          <a:noFill/>
        </p:spPr>
        <p:txBody>
          <a:bodyPr wrap="square" lIns="0" rIns="0" tIns="0" bIns="0" anchor="ctr">
            <a:spAutoFit/>
          </a:bodyPr>
          <a:lstStyle/>
          <a:p>
            <a:pPr algn="l"/>
            <a:r>
              <a:rPr sz="1600" b="1" i="0">
                <a:solidFill>
                  <a:srgbClr val="1C2333"/>
                </a:solidFill>
                <a:latin typeface="Calibri"/>
              </a:rPr>
              <a:t>Tính mới và ghi công</a:t>
            </a:r>
          </a:p>
        </p:txBody>
      </p:sp>
      <p:sp>
        <p:nvSpPr>
          <p:cNvPr id="26" name="TextBox 25"/>
          <p:cNvSpPr txBox="1"/>
          <p:nvPr/>
        </p:nvSpPr>
        <p:spPr>
          <a:xfrm>
            <a:off x="4846320" y="3794760"/>
            <a:ext cx="1280160" cy="411480"/>
          </a:xfrm>
          <a:prstGeom prst="rect">
            <a:avLst/>
          </a:prstGeom>
          <a:noFill/>
        </p:spPr>
        <p:txBody>
          <a:bodyPr wrap="square" lIns="0" rIns="0" tIns="0" bIns="0" anchor="ctr">
            <a:spAutoFit/>
          </a:bodyPr>
          <a:lstStyle/>
          <a:p>
            <a:pPr algn="l"/>
            <a:r>
              <a:rPr sz="1300" b="1" i="0">
                <a:solidFill>
                  <a:srgbClr val="2B59D9"/>
                </a:solidFill>
                <a:latin typeface="Calibri"/>
              </a:rPr>
              <a:t>3</a:t>
            </a:r>
          </a:p>
        </p:txBody>
      </p:sp>
      <p:sp>
        <p:nvSpPr>
          <p:cNvPr id="27" name="TextBox 26"/>
          <p:cNvSpPr txBox="1"/>
          <p:nvPr/>
        </p:nvSpPr>
        <p:spPr>
          <a:xfrm>
            <a:off x="6217920" y="3794760"/>
            <a:ext cx="5486400" cy="411480"/>
          </a:xfrm>
          <a:prstGeom prst="rect">
            <a:avLst/>
          </a:prstGeom>
          <a:noFill/>
        </p:spPr>
        <p:txBody>
          <a:bodyPr wrap="square" lIns="0" rIns="0" tIns="0" bIns="0" anchor="ctr">
            <a:spAutoFit/>
          </a:bodyPr>
          <a:lstStyle/>
          <a:p>
            <a:pPr algn="l"/>
            <a:r>
              <a:rPr sz="1350" b="0" i="0">
                <a:solidFill>
                  <a:srgbClr val="394152"/>
                </a:solidFill>
                <a:latin typeface="Calibri"/>
              </a:rPr>
              <a:t>Tra arXiv, kiểm trích dẫn, ghi kết quả âm kèm phạm vi</a:t>
            </a:r>
          </a:p>
        </p:txBody>
      </p:sp>
      <p:sp>
        <p:nvSpPr>
          <p:cNvPr id="28" name="Oval 27"/>
          <p:cNvSpPr/>
          <p:nvPr/>
        </p:nvSpPr>
        <p:spPr>
          <a:xfrm>
            <a:off x="548640" y="4398264"/>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8640" y="4398264"/>
            <a:ext cx="420624" cy="420624"/>
          </a:xfrm>
          <a:prstGeom prst="rect">
            <a:avLst/>
          </a:prstGeom>
          <a:noFill/>
        </p:spPr>
        <p:txBody>
          <a:bodyPr wrap="square" lIns="0" rIns="0" tIns="0" bIns="0" anchor="ctr">
            <a:spAutoFit/>
          </a:bodyPr>
          <a:lstStyle/>
          <a:p>
            <a:pPr algn="ctr"/>
            <a:r>
              <a:rPr sz="1400" b="1" i="0">
                <a:solidFill>
                  <a:srgbClr val="FFFFFF"/>
                </a:solidFill>
                <a:latin typeface="Calibri"/>
              </a:rPr>
              <a:t>6</a:t>
            </a:r>
          </a:p>
        </p:txBody>
      </p:sp>
      <p:sp>
        <p:nvSpPr>
          <p:cNvPr id="30" name="TextBox 29"/>
          <p:cNvSpPr txBox="1"/>
          <p:nvPr/>
        </p:nvSpPr>
        <p:spPr>
          <a:xfrm>
            <a:off x="1143000" y="4416552"/>
            <a:ext cx="3657600" cy="411480"/>
          </a:xfrm>
          <a:prstGeom prst="rect">
            <a:avLst/>
          </a:prstGeom>
          <a:noFill/>
        </p:spPr>
        <p:txBody>
          <a:bodyPr wrap="square" lIns="0" rIns="0" tIns="0" bIns="0" anchor="ctr">
            <a:spAutoFit/>
          </a:bodyPr>
          <a:lstStyle/>
          <a:p>
            <a:pPr algn="l"/>
            <a:r>
              <a:rPr sz="1600" b="1" i="0">
                <a:solidFill>
                  <a:srgbClr val="1C2333"/>
                </a:solidFill>
                <a:latin typeface="Calibri"/>
              </a:rPr>
              <a:t>Phép tương tự có cấu trúc</a:t>
            </a:r>
          </a:p>
        </p:txBody>
      </p:sp>
      <p:sp>
        <p:nvSpPr>
          <p:cNvPr id="31" name="TextBox 30"/>
          <p:cNvSpPr txBox="1"/>
          <p:nvPr/>
        </p:nvSpPr>
        <p:spPr>
          <a:xfrm>
            <a:off x="4846320" y="4416552"/>
            <a:ext cx="1280160" cy="411480"/>
          </a:xfrm>
          <a:prstGeom prst="rect">
            <a:avLst/>
          </a:prstGeom>
          <a:noFill/>
        </p:spPr>
        <p:txBody>
          <a:bodyPr wrap="square" lIns="0" rIns="0" tIns="0" bIns="0" anchor="ctr">
            <a:spAutoFit/>
          </a:bodyPr>
          <a:lstStyle/>
          <a:p>
            <a:pPr algn="l"/>
            <a:r>
              <a:rPr sz="1300" b="1" i="0">
                <a:solidFill>
                  <a:srgbClr val="2B59D9"/>
                </a:solidFill>
                <a:latin typeface="Calibri"/>
              </a:rPr>
              <a:t>11, 7</a:t>
            </a:r>
          </a:p>
        </p:txBody>
      </p:sp>
      <p:sp>
        <p:nvSpPr>
          <p:cNvPr id="32" name="TextBox 31"/>
          <p:cNvSpPr txBox="1"/>
          <p:nvPr/>
        </p:nvSpPr>
        <p:spPr>
          <a:xfrm>
            <a:off x="6217920" y="4416552"/>
            <a:ext cx="5486400" cy="411480"/>
          </a:xfrm>
          <a:prstGeom prst="rect">
            <a:avLst/>
          </a:prstGeom>
          <a:noFill/>
        </p:spPr>
        <p:txBody>
          <a:bodyPr wrap="square" lIns="0" rIns="0" tIns="0" bIns="0" anchor="ctr">
            <a:spAutoFit/>
          </a:bodyPr>
          <a:lstStyle/>
          <a:p>
            <a:pPr algn="l"/>
            <a:r>
              <a:rPr sz="1350" b="0" i="0">
                <a:solidFill>
                  <a:srgbClr val="394152"/>
                </a:solidFill>
                <a:latin typeface="Calibri"/>
              </a:rPr>
              <a:t>Đã có: skill far-analogy</a:t>
            </a:r>
          </a:p>
        </p:txBody>
      </p:sp>
      <p:sp>
        <p:nvSpPr>
          <p:cNvPr id="33" name="Oval 32"/>
          <p:cNvSpPr/>
          <p:nvPr/>
        </p:nvSpPr>
        <p:spPr>
          <a:xfrm>
            <a:off x="548640" y="5020055"/>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5020055"/>
            <a:ext cx="420624" cy="420624"/>
          </a:xfrm>
          <a:prstGeom prst="rect">
            <a:avLst/>
          </a:prstGeom>
          <a:noFill/>
        </p:spPr>
        <p:txBody>
          <a:bodyPr wrap="square" lIns="0" rIns="0" tIns="0" bIns="0" anchor="ctr">
            <a:spAutoFit/>
          </a:bodyPr>
          <a:lstStyle/>
          <a:p>
            <a:pPr algn="ctr"/>
            <a:r>
              <a:rPr sz="1400" b="1" i="0">
                <a:solidFill>
                  <a:srgbClr val="FFFFFF"/>
                </a:solidFill>
                <a:latin typeface="Calibri"/>
              </a:rPr>
              <a:t>7</a:t>
            </a:r>
          </a:p>
        </p:txBody>
      </p:sp>
      <p:sp>
        <p:nvSpPr>
          <p:cNvPr id="35" name="TextBox 34"/>
          <p:cNvSpPr txBox="1"/>
          <p:nvPr/>
        </p:nvSpPr>
        <p:spPr>
          <a:xfrm>
            <a:off x="1143000" y="5038344"/>
            <a:ext cx="3657600" cy="411480"/>
          </a:xfrm>
          <a:prstGeom prst="rect">
            <a:avLst/>
          </a:prstGeom>
          <a:noFill/>
        </p:spPr>
        <p:txBody>
          <a:bodyPr wrap="square" lIns="0" rIns="0" tIns="0" bIns="0" anchor="ctr">
            <a:spAutoFit/>
          </a:bodyPr>
          <a:lstStyle/>
          <a:p>
            <a:pPr algn="l"/>
            <a:r>
              <a:rPr sz="1600" b="1" i="0">
                <a:solidFill>
                  <a:srgbClr val="1C2333"/>
                </a:solidFill>
                <a:latin typeface="Calibri"/>
              </a:rPr>
              <a:t>Đồ thị khẳng định và rút lại</a:t>
            </a:r>
          </a:p>
        </p:txBody>
      </p:sp>
      <p:sp>
        <p:nvSpPr>
          <p:cNvPr id="36" name="TextBox 35"/>
          <p:cNvSpPr txBox="1"/>
          <p:nvPr/>
        </p:nvSpPr>
        <p:spPr>
          <a:xfrm>
            <a:off x="4846320" y="5038344"/>
            <a:ext cx="1280160" cy="411480"/>
          </a:xfrm>
          <a:prstGeom prst="rect">
            <a:avLst/>
          </a:prstGeom>
          <a:noFill/>
        </p:spPr>
        <p:txBody>
          <a:bodyPr wrap="square" lIns="0" rIns="0" tIns="0" bIns="0" anchor="ctr">
            <a:spAutoFit/>
          </a:bodyPr>
          <a:lstStyle/>
          <a:p>
            <a:pPr algn="l"/>
            <a:r>
              <a:rPr sz="1300" b="1" i="0">
                <a:solidFill>
                  <a:srgbClr val="2B59D9"/>
                </a:solidFill>
                <a:latin typeface="Calibri"/>
              </a:rPr>
              <a:t>6</a:t>
            </a:r>
          </a:p>
        </p:txBody>
      </p:sp>
      <p:sp>
        <p:nvSpPr>
          <p:cNvPr id="37" name="TextBox 36"/>
          <p:cNvSpPr txBox="1"/>
          <p:nvPr/>
        </p:nvSpPr>
        <p:spPr>
          <a:xfrm>
            <a:off x="6217920" y="5038344"/>
            <a:ext cx="5486400" cy="411480"/>
          </a:xfrm>
          <a:prstGeom prst="rect">
            <a:avLst/>
          </a:prstGeom>
          <a:noFill/>
        </p:spPr>
        <p:txBody>
          <a:bodyPr wrap="square" lIns="0" rIns="0" tIns="0" bIns="0" anchor="ctr">
            <a:spAutoFit/>
          </a:bodyPr>
          <a:lstStyle/>
          <a:p>
            <a:pPr algn="l"/>
            <a:r>
              <a:rPr sz="1350" b="0" i="0">
                <a:solidFill>
                  <a:srgbClr val="394152"/>
                </a:solidFill>
                <a:latin typeface="Calibri"/>
              </a:rPr>
              <a:t>Nối phụ thuộc, hạ cấp dây chuyền, phân bổ ngân sách</a:t>
            </a:r>
          </a:p>
        </p:txBody>
      </p:sp>
      <p:sp>
        <p:nvSpPr>
          <p:cNvPr id="38" name="Oval 37"/>
          <p:cNvSpPr/>
          <p:nvPr/>
        </p:nvSpPr>
        <p:spPr>
          <a:xfrm>
            <a:off x="548640" y="5641848"/>
            <a:ext cx="420624" cy="420624"/>
          </a:xfrm>
          <a:prstGeom prst="ellipse">
            <a:avLst/>
          </a:prstGeom>
          <a:solidFill>
            <a:srgbClr val="2B5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641848"/>
            <a:ext cx="420624" cy="420624"/>
          </a:xfrm>
          <a:prstGeom prst="rect">
            <a:avLst/>
          </a:prstGeom>
          <a:noFill/>
        </p:spPr>
        <p:txBody>
          <a:bodyPr wrap="square" lIns="0" rIns="0" tIns="0" bIns="0" anchor="ctr">
            <a:spAutoFit/>
          </a:bodyPr>
          <a:lstStyle/>
          <a:p>
            <a:pPr algn="ctr"/>
            <a:r>
              <a:rPr sz="1400" b="1" i="0">
                <a:solidFill>
                  <a:srgbClr val="FFFFFF"/>
                </a:solidFill>
                <a:latin typeface="Calibri"/>
              </a:rPr>
              <a:t>8</a:t>
            </a:r>
          </a:p>
        </p:txBody>
      </p:sp>
      <p:sp>
        <p:nvSpPr>
          <p:cNvPr id="40" name="TextBox 39"/>
          <p:cNvSpPr txBox="1"/>
          <p:nvPr/>
        </p:nvSpPr>
        <p:spPr>
          <a:xfrm>
            <a:off x="1143000" y="5660136"/>
            <a:ext cx="3657600" cy="411480"/>
          </a:xfrm>
          <a:prstGeom prst="rect">
            <a:avLst/>
          </a:prstGeom>
          <a:noFill/>
        </p:spPr>
        <p:txBody>
          <a:bodyPr wrap="square" lIns="0" rIns="0" tIns="0" bIns="0" anchor="ctr">
            <a:spAutoFit/>
          </a:bodyPr>
          <a:lstStyle/>
          <a:p>
            <a:pPr algn="l"/>
            <a:r>
              <a:rPr sz="1600" b="1" i="0">
                <a:solidFill>
                  <a:srgbClr val="1C2333"/>
                </a:solidFill>
                <a:latin typeface="Calibri"/>
              </a:rPr>
              <a:t>Đội đá tập</a:t>
            </a:r>
          </a:p>
        </p:txBody>
      </p:sp>
      <p:sp>
        <p:nvSpPr>
          <p:cNvPr id="41" name="TextBox 40"/>
          <p:cNvSpPr txBox="1"/>
          <p:nvPr/>
        </p:nvSpPr>
        <p:spPr>
          <a:xfrm>
            <a:off x="4846320" y="5660136"/>
            <a:ext cx="1280160" cy="411480"/>
          </a:xfrm>
          <a:prstGeom prst="rect">
            <a:avLst/>
          </a:prstGeom>
          <a:noFill/>
        </p:spPr>
        <p:txBody>
          <a:bodyPr wrap="square" lIns="0" rIns="0" tIns="0" bIns="0" anchor="ctr">
            <a:spAutoFit/>
          </a:bodyPr>
          <a:lstStyle/>
          <a:p>
            <a:pPr algn="l"/>
            <a:r>
              <a:rPr sz="1300" b="1" i="0">
                <a:solidFill>
                  <a:srgbClr val="2B59D9"/>
                </a:solidFill>
                <a:latin typeface="Calibri"/>
              </a:rPr>
              <a:t>ngoài sân</a:t>
            </a:r>
          </a:p>
        </p:txBody>
      </p:sp>
      <p:sp>
        <p:nvSpPr>
          <p:cNvPr id="42" name="TextBox 41"/>
          <p:cNvSpPr txBox="1"/>
          <p:nvPr/>
        </p:nvSpPr>
        <p:spPr>
          <a:xfrm>
            <a:off x="6217920" y="5660136"/>
            <a:ext cx="5486400" cy="411480"/>
          </a:xfrm>
          <a:prstGeom prst="rect">
            <a:avLst/>
          </a:prstGeom>
          <a:noFill/>
        </p:spPr>
        <p:txBody>
          <a:bodyPr wrap="square" lIns="0" rIns="0" tIns="0" bIns="0" anchor="ctr">
            <a:spAutoFit/>
          </a:bodyPr>
          <a:lstStyle/>
          <a:p>
            <a:pPr algn="l"/>
            <a:r>
              <a:rPr sz="1350" b="0" i="0">
                <a:solidFill>
                  <a:srgbClr val="394152"/>
                </a:solidFill>
                <a:latin typeface="Calibri"/>
              </a:rPr>
              <a:t>Cấy biến thể sai, đo tỉ lệ bị bắt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Pha −1: ví dụ trước, phát biểu sau</a:t>
            </a:r>
          </a:p>
        </p:txBody>
      </p:sp>
      <p:sp>
        <p:nvSpPr>
          <p:cNvPr id="3" name="Rectangle 2"/>
          <p:cNvSpPr/>
          <p:nvPr/>
        </p:nvSpPr>
        <p:spPr>
          <a:xfrm>
            <a:off x="457200" y="1188720"/>
            <a:ext cx="7223760" cy="149504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097280" cy="228600"/>
          </a:xfrm>
          <a:prstGeom prst="rect">
            <a:avLst/>
          </a:prstGeom>
          <a:noFill/>
        </p:spPr>
        <p:txBody>
          <a:bodyPr wrap="square" lIns="0" rIns="0" tIns="0" bIns="0" anchor="t">
            <a:spAutoFit/>
          </a:bodyPr>
          <a:lstStyle/>
          <a:p>
            <a:pPr algn="l"/>
            <a:r>
              <a:rPr sz="1000" b="1" i="0">
                <a:solidFill>
                  <a:srgbClr val="2B59D9"/>
                </a:solidFill>
                <a:latin typeface="Calibri"/>
              </a:rPr>
              <a:t>Tấn công</a:t>
            </a:r>
          </a:p>
        </p:txBody>
      </p:sp>
      <p:sp>
        <p:nvSpPr>
          <p:cNvPr id="5" name="Rectangle 4"/>
          <p:cNvSpPr/>
          <p:nvPr/>
        </p:nvSpPr>
        <p:spPr>
          <a:xfrm>
            <a:off x="457200" y="2683764"/>
            <a:ext cx="7223760" cy="19933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2729484"/>
            <a:ext cx="1097280" cy="228600"/>
          </a:xfrm>
          <a:prstGeom prst="rect">
            <a:avLst/>
          </a:prstGeom>
          <a:noFill/>
        </p:spPr>
        <p:txBody>
          <a:bodyPr wrap="square" lIns="0" rIns="0" tIns="0" bIns="0" anchor="t">
            <a:spAutoFit/>
          </a:bodyPr>
          <a:lstStyle/>
          <a:p>
            <a:pPr algn="l"/>
            <a:r>
              <a:rPr sz="1000" b="1" i="0">
                <a:solidFill>
                  <a:srgbClr val="1C2333"/>
                </a:solidFill>
                <a:latin typeface="Calibri"/>
              </a:rPr>
              <a:t>Tiền vệ</a:t>
            </a:r>
          </a:p>
        </p:txBody>
      </p:sp>
      <p:sp>
        <p:nvSpPr>
          <p:cNvPr id="7" name="Rectangle 6"/>
          <p:cNvSpPr/>
          <p:nvPr/>
        </p:nvSpPr>
        <p:spPr>
          <a:xfrm>
            <a:off x="457200" y="4677156"/>
            <a:ext cx="7223760" cy="1495043"/>
          </a:xfrm>
          <a:prstGeom prst="rect">
            <a:avLst/>
          </a:prstGeom>
          <a:solidFill>
            <a:srgbClr val="FC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722876"/>
            <a:ext cx="1097280" cy="228600"/>
          </a:xfrm>
          <a:prstGeom prst="rect">
            <a:avLst/>
          </a:prstGeom>
          <a:noFill/>
        </p:spPr>
        <p:txBody>
          <a:bodyPr wrap="square" lIns="0" rIns="0" tIns="0" bIns="0" anchor="t">
            <a:spAutoFit/>
          </a:bodyPr>
          <a:lstStyle/>
          <a:p>
            <a:pPr algn="l"/>
            <a:r>
              <a:rPr sz="1000" b="1" i="0">
                <a:solidFill>
                  <a:srgbClr val="A86C0E"/>
                </a:solidFill>
                <a:latin typeface="Calibri"/>
              </a:rPr>
              <a:t>Phòng thủ</a:t>
            </a:r>
          </a:p>
        </p:txBody>
      </p:sp>
      <p:sp>
        <p:nvSpPr>
          <p:cNvPr id="9" name="TextBox 8"/>
          <p:cNvSpPr txBox="1"/>
          <p:nvPr/>
        </p:nvSpPr>
        <p:spPr>
          <a:xfrm>
            <a:off x="457200" y="6400800"/>
            <a:ext cx="7223760" cy="274320"/>
          </a:xfrm>
          <a:prstGeom prst="rect">
            <a:avLst/>
          </a:prstGeom>
          <a:noFill/>
        </p:spPr>
        <p:txBody>
          <a:bodyPr wrap="square" lIns="0" rIns="0" tIns="0" bIns="0" anchor="t">
            <a:spAutoFit/>
          </a:bodyPr>
          <a:lstStyle/>
          <a:p>
            <a:pPr algn="l"/>
            <a:r>
              <a:rPr sz="1200" b="0" i="1">
                <a:solidFill>
                  <a:srgbClr val="394152"/>
                </a:solidFill>
                <a:latin typeface="Calibri"/>
              </a:rPr>
              <a:t>Khởi động trước trận: tính ví dụ trước, phát biểu sau. Sai ở pha sau thì quay về đây.</a:t>
            </a:r>
          </a:p>
        </p:txBody>
      </p:sp>
      <p:grpSp>
        <p:nvGrpSpPr>
          <p:cNvPr id="59" name="Số 11"/>
          <p:cNvGrpSpPr/>
          <p:nvPr/>
        </p:nvGrpSpPr>
        <p:grpSpPr>
          <a:xfrm>
            <a:off x="731520" y="3337560"/>
            <a:ext cx="1645920" cy="740664"/>
            <a:chOff x="731520" y="3337560"/>
            <a:chExt cx="1645920" cy="740664"/>
          </a:xfrm>
        </p:grpSpPr>
        <p:sp>
          <p:nvSpPr>
            <p:cNvPr id="19" name="Oval 18"/>
            <p:cNvSpPr/>
            <p:nvPr/>
          </p:nvSpPr>
          <p:spPr>
            <a:xfrm>
              <a:off x="1325880" y="33375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11</a:t>
              </a:r>
            </a:p>
          </p:txBody>
        </p:sp>
        <p:sp>
          <p:nvSpPr>
            <p:cNvPr id="20" name="TextBox 19"/>
            <p:cNvSpPr txBox="1"/>
            <p:nvPr/>
          </p:nvSpPr>
          <p:spPr>
            <a:xfrm>
              <a:off x="731520" y="382219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kề</a:t>
              </a:r>
            </a:p>
          </p:txBody>
        </p:sp>
      </p:grpSp>
      <p:grpSp>
        <p:nvGrpSpPr>
          <p:cNvPr id="60" name="Số 9"/>
          <p:cNvGrpSpPr/>
          <p:nvPr/>
        </p:nvGrpSpPr>
        <p:grpSpPr>
          <a:xfrm>
            <a:off x="3246120" y="1417320"/>
            <a:ext cx="1645920" cy="740664"/>
            <a:chOff x="3246120" y="1417320"/>
            <a:chExt cx="1645920" cy="740664"/>
          </a:xfrm>
        </p:grpSpPr>
        <p:sp>
          <p:nvSpPr>
            <p:cNvPr id="21" name="Oval 20"/>
            <p:cNvSpPr/>
            <p:nvPr/>
          </p:nvSpPr>
          <p:spPr>
            <a:xfrm>
              <a:off x="3840480" y="141732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9</a:t>
              </a:r>
            </a:p>
          </p:txBody>
        </p:sp>
        <p:sp>
          <p:nvSpPr>
            <p:cNvPr id="22" name="TextBox 21"/>
            <p:cNvSpPr txBox="1"/>
            <p:nvPr/>
          </p:nvSpPr>
          <p:spPr>
            <a:xfrm>
              <a:off x="3246120" y="1901952"/>
              <a:ext cx="1645920" cy="256032"/>
            </a:xfrm>
            <a:prstGeom prst="rect">
              <a:avLst/>
            </a:prstGeom>
            <a:noFill/>
          </p:spPr>
          <p:txBody>
            <a:bodyPr wrap="square" lIns="0" rIns="0" tIns="0" bIns="0" anchor="t">
              <a:spAutoFit/>
            </a:bodyPr>
            <a:lstStyle/>
            <a:p>
              <a:pPr algn="ctr"/>
              <a:r>
                <a:rPr sz="1150" b="1" i="0">
                  <a:solidFill>
                    <a:srgbClr val="B8BEC9"/>
                  </a:solidFill>
                  <a:latin typeface="Calibri"/>
                </a:rPr>
                <a:t>Chứng minh</a:t>
              </a:r>
            </a:p>
          </p:txBody>
        </p:sp>
      </p:grpSp>
      <p:grpSp>
        <p:nvGrpSpPr>
          <p:cNvPr id="61" name="Số 7"/>
          <p:cNvGrpSpPr/>
          <p:nvPr/>
        </p:nvGrpSpPr>
        <p:grpSpPr>
          <a:xfrm>
            <a:off x="5760720" y="3337560"/>
            <a:ext cx="1645920" cy="740664"/>
            <a:chOff x="5760720" y="3337560"/>
            <a:chExt cx="1645920" cy="740664"/>
          </a:xfrm>
        </p:grpSpPr>
        <p:sp>
          <p:nvSpPr>
            <p:cNvPr id="23" name="Oval 22"/>
            <p:cNvSpPr/>
            <p:nvPr/>
          </p:nvSpPr>
          <p:spPr>
            <a:xfrm>
              <a:off x="6355080" y="33375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7</a:t>
              </a:r>
            </a:p>
          </p:txBody>
        </p:sp>
        <p:sp>
          <p:nvSpPr>
            <p:cNvPr id="24" name="TextBox 23"/>
            <p:cNvSpPr txBox="1"/>
            <p:nvPr/>
          </p:nvSpPr>
          <p:spPr>
            <a:xfrm>
              <a:off x="5760720" y="3822192"/>
              <a:ext cx="1645920" cy="256032"/>
            </a:xfrm>
            <a:prstGeom prst="rect">
              <a:avLst/>
            </a:prstGeom>
            <a:noFill/>
          </p:spPr>
          <p:txBody>
            <a:bodyPr wrap="square" lIns="0" rIns="0" tIns="0" bIns="0" anchor="t">
              <a:spAutoFit/>
            </a:bodyPr>
            <a:lstStyle/>
            <a:p>
              <a:pPr algn="ctr"/>
              <a:r>
                <a:rPr sz="1150" b="1" i="0">
                  <a:solidFill>
                    <a:srgbClr val="B8BEC9"/>
                  </a:solidFill>
                  <a:latin typeface="Calibri"/>
                </a:rPr>
                <a:t>Xuyên ngành xa</a:t>
              </a:r>
            </a:p>
          </p:txBody>
        </p:sp>
      </p:grpSp>
      <p:grpSp>
        <p:nvGrpSpPr>
          <p:cNvPr id="62" name="Số 10"/>
          <p:cNvGrpSpPr/>
          <p:nvPr/>
        </p:nvGrpSpPr>
        <p:grpSpPr>
          <a:xfrm>
            <a:off x="3246120" y="3337560"/>
            <a:ext cx="1645920" cy="740664"/>
            <a:chOff x="3246120" y="3337560"/>
            <a:chExt cx="1645920" cy="740664"/>
          </a:xfrm>
        </p:grpSpPr>
        <p:sp>
          <p:nvSpPr>
            <p:cNvPr id="25" name="Oval 24"/>
            <p:cNvSpPr/>
            <p:nvPr/>
          </p:nvSpPr>
          <p:spPr>
            <a:xfrm>
              <a:off x="3840480" y="333756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10</a:t>
              </a:r>
            </a:p>
          </p:txBody>
        </p:sp>
        <p:sp>
          <p:nvSpPr>
            <p:cNvPr id="26" name="TextBox 25"/>
            <p:cNvSpPr txBox="1"/>
            <p:nvPr/>
          </p:nvSpPr>
          <p:spPr>
            <a:xfrm>
              <a:off x="3246120" y="3822192"/>
              <a:ext cx="1645920" cy="256032"/>
            </a:xfrm>
            <a:prstGeom prst="rect">
              <a:avLst/>
            </a:prstGeom>
            <a:noFill/>
          </p:spPr>
          <p:txBody>
            <a:bodyPr wrap="square" lIns="0" rIns="0" tIns="0" bIns="0" anchor="t">
              <a:spAutoFit/>
            </a:bodyPr>
            <a:lstStyle/>
            <a:p>
              <a:pPr algn="ctr"/>
              <a:r>
                <a:rPr sz="1150" b="1" i="0">
                  <a:solidFill>
                    <a:srgbClr val="1C2333"/>
                  </a:solidFill>
                  <a:latin typeface="Calibri"/>
                </a:rPr>
                <a:t>Trong ngành</a:t>
              </a:r>
            </a:p>
          </p:txBody>
        </p:sp>
      </p:grpSp>
      <p:grpSp>
        <p:nvGrpSpPr>
          <p:cNvPr id="63" name="Số 8"/>
          <p:cNvGrpSpPr/>
          <p:nvPr/>
        </p:nvGrpSpPr>
        <p:grpSpPr>
          <a:xfrm>
            <a:off x="3246120" y="2423160"/>
            <a:ext cx="1645920" cy="740664"/>
            <a:chOff x="3246120" y="2423160"/>
            <a:chExt cx="1645920" cy="740664"/>
          </a:xfrm>
        </p:grpSpPr>
        <p:sp>
          <p:nvSpPr>
            <p:cNvPr id="27" name="Oval 26"/>
            <p:cNvSpPr/>
            <p:nvPr/>
          </p:nvSpPr>
          <p:spPr>
            <a:xfrm>
              <a:off x="3840480" y="24231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8</a:t>
              </a:r>
            </a:p>
          </p:txBody>
        </p:sp>
        <p:sp>
          <p:nvSpPr>
            <p:cNvPr id="28" name="TextBox 27"/>
            <p:cNvSpPr txBox="1"/>
            <p:nvPr/>
          </p:nvSpPr>
          <p:spPr>
            <a:xfrm>
              <a:off x="3246120" y="2907792"/>
              <a:ext cx="1645920" cy="256032"/>
            </a:xfrm>
            <a:prstGeom prst="rect">
              <a:avLst/>
            </a:prstGeom>
            <a:noFill/>
          </p:spPr>
          <p:txBody>
            <a:bodyPr wrap="square" lIns="0" rIns="0" tIns="0" bIns="0" anchor="t">
              <a:spAutoFit/>
            </a:bodyPr>
            <a:lstStyle/>
            <a:p>
              <a:pPr algn="ctr"/>
              <a:r>
                <a:rPr sz="1150" b="1" i="0">
                  <a:solidFill>
                    <a:srgbClr val="B8BEC9"/>
                  </a:solidFill>
                  <a:latin typeface="Calibri"/>
                </a:rPr>
                <a:t>Blueprint</a:t>
              </a:r>
            </a:p>
          </p:txBody>
        </p:sp>
      </p:grpSp>
      <p:grpSp>
        <p:nvGrpSpPr>
          <p:cNvPr id="64" name="Số 14"/>
          <p:cNvGrpSpPr/>
          <p:nvPr/>
        </p:nvGrpSpPr>
        <p:grpSpPr>
          <a:xfrm>
            <a:off x="731520" y="1554480"/>
            <a:ext cx="1645920" cy="740664"/>
            <a:chOff x="731520" y="1554480"/>
            <a:chExt cx="1645920" cy="740664"/>
          </a:xfrm>
        </p:grpSpPr>
        <p:sp>
          <p:nvSpPr>
            <p:cNvPr id="29" name="Oval 28"/>
            <p:cNvSpPr/>
            <p:nvPr/>
          </p:nvSpPr>
          <p:spPr>
            <a:xfrm>
              <a:off x="1325880" y="1554480"/>
              <a:ext cx="457200" cy="457200"/>
            </a:xfrm>
            <a:prstGeom prst="ellipse">
              <a:avLst/>
            </a:prstGeom>
            <a:solidFill>
              <a:srgbClr val="2B59D9"/>
            </a:solidFill>
            <a:ln w="19050">
              <a:solidFill>
                <a:srgbClr val="2B59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14</a:t>
              </a:r>
            </a:p>
          </p:txBody>
        </p:sp>
        <p:sp>
          <p:nvSpPr>
            <p:cNvPr id="30" name="TextBox 29"/>
            <p:cNvSpPr txBox="1"/>
            <p:nvPr/>
          </p:nvSpPr>
          <p:spPr>
            <a:xfrm>
              <a:off x="731520" y="2039112"/>
              <a:ext cx="1645920" cy="256032"/>
            </a:xfrm>
            <a:prstGeom prst="rect">
              <a:avLst/>
            </a:prstGeom>
            <a:noFill/>
          </p:spPr>
          <p:txBody>
            <a:bodyPr wrap="square" lIns="0" rIns="0" tIns="0" bIns="0" anchor="t">
              <a:spAutoFit/>
            </a:bodyPr>
            <a:lstStyle/>
            <a:p>
              <a:pPr algn="ctr"/>
              <a:r>
                <a:rPr sz="1150" b="1" i="0">
                  <a:solidFill>
                    <a:srgbClr val="1C2333"/>
                  </a:solidFill>
                  <a:latin typeface="Calibri"/>
                </a:rPr>
                <a:t>Ví dụ</a:t>
              </a:r>
            </a:p>
          </p:txBody>
        </p:sp>
      </p:grpSp>
      <p:grpSp>
        <p:nvGrpSpPr>
          <p:cNvPr id="65" name="Số 6"/>
          <p:cNvGrpSpPr/>
          <p:nvPr/>
        </p:nvGrpSpPr>
        <p:grpSpPr>
          <a:xfrm>
            <a:off x="3246120" y="4160520"/>
            <a:ext cx="1645920" cy="740664"/>
            <a:chOff x="3246120" y="4160520"/>
            <a:chExt cx="1645920" cy="740664"/>
          </a:xfrm>
        </p:grpSpPr>
        <p:sp>
          <p:nvSpPr>
            <p:cNvPr id="31" name="Oval 30"/>
            <p:cNvSpPr/>
            <p:nvPr/>
          </p:nvSpPr>
          <p:spPr>
            <a:xfrm>
              <a:off x="3840480" y="4160520"/>
              <a:ext cx="457200" cy="457200"/>
            </a:xfrm>
            <a:prstGeom prst="ellipse">
              <a:avLst/>
            </a:prstGeom>
            <a:solidFill>
              <a:srgbClr val="1C2333"/>
            </a:solidFill>
            <a:ln w="19050">
              <a:solidFill>
                <a:srgbClr val="1C233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2" name="TextBox 31"/>
            <p:cNvSpPr txBox="1"/>
            <p:nvPr/>
          </p:nvSpPr>
          <p:spPr>
            <a:xfrm>
              <a:off x="3246120" y="4645152"/>
              <a:ext cx="1645920" cy="256032"/>
            </a:xfrm>
            <a:prstGeom prst="rect">
              <a:avLst/>
            </a:prstGeom>
            <a:noFill/>
          </p:spPr>
          <p:txBody>
            <a:bodyPr wrap="square" lIns="0" rIns="0" tIns="0" bIns="0" anchor="t">
              <a:spAutoFit/>
            </a:bodyPr>
            <a:lstStyle/>
            <a:p>
              <a:pPr algn="ctr"/>
              <a:r>
                <a:rPr sz="1150" b="1" i="0">
                  <a:solidFill>
                    <a:srgbClr val="1C2333"/>
                  </a:solidFill>
                  <a:latin typeface="Calibri"/>
                </a:rPr>
                <a:t>Điều phối</a:t>
              </a:r>
            </a:p>
          </p:txBody>
        </p:sp>
      </p:grpSp>
      <p:grpSp>
        <p:nvGrpSpPr>
          <p:cNvPr id="66" name="Số 3"/>
          <p:cNvGrpSpPr/>
          <p:nvPr/>
        </p:nvGrpSpPr>
        <p:grpSpPr>
          <a:xfrm>
            <a:off x="731520" y="4937760"/>
            <a:ext cx="1645920" cy="740664"/>
            <a:chOff x="731520" y="4937760"/>
            <a:chExt cx="1645920" cy="740664"/>
          </a:xfrm>
        </p:grpSpPr>
        <p:sp>
          <p:nvSpPr>
            <p:cNvPr id="33" name="Oval 32"/>
            <p:cNvSpPr/>
            <p:nvPr/>
          </p:nvSpPr>
          <p:spPr>
            <a:xfrm>
              <a:off x="1325880" y="49377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3</a:t>
              </a:r>
            </a:p>
          </p:txBody>
        </p:sp>
        <p:sp>
          <p:nvSpPr>
            <p:cNvPr id="34" name="TextBox 33"/>
            <p:cNvSpPr txBox="1"/>
            <p:nvPr/>
          </p:nvSpPr>
          <p:spPr>
            <a:xfrm>
              <a:off x="731520" y="5422392"/>
              <a:ext cx="1645920" cy="256032"/>
            </a:xfrm>
            <a:prstGeom prst="rect">
              <a:avLst/>
            </a:prstGeom>
            <a:noFill/>
          </p:spPr>
          <p:txBody>
            <a:bodyPr wrap="square" lIns="0" rIns="0" tIns="0" bIns="0" anchor="t">
              <a:spAutoFit/>
            </a:bodyPr>
            <a:lstStyle/>
            <a:p>
              <a:pPr algn="ctr"/>
              <a:r>
                <a:rPr sz="1150" b="1" i="0">
                  <a:solidFill>
                    <a:srgbClr val="B8BEC9"/>
                  </a:solidFill>
                  <a:latin typeface="Calibri"/>
                </a:rPr>
                <a:t>Tính mới</a:t>
              </a:r>
            </a:p>
          </p:txBody>
        </p:sp>
      </p:grpSp>
      <p:grpSp>
        <p:nvGrpSpPr>
          <p:cNvPr id="67" name="Số 4"/>
          <p:cNvGrpSpPr/>
          <p:nvPr/>
        </p:nvGrpSpPr>
        <p:grpSpPr>
          <a:xfrm>
            <a:off x="5760720" y="1554480"/>
            <a:ext cx="1645920" cy="740664"/>
            <a:chOff x="5760720" y="1554480"/>
            <a:chExt cx="1645920" cy="740664"/>
          </a:xfrm>
        </p:grpSpPr>
        <p:sp>
          <p:nvSpPr>
            <p:cNvPr id="35" name="Oval 34"/>
            <p:cNvSpPr/>
            <p:nvPr/>
          </p:nvSpPr>
          <p:spPr>
            <a:xfrm>
              <a:off x="6355080" y="1554480"/>
              <a:ext cx="457200" cy="457200"/>
            </a:xfrm>
            <a:prstGeom prst="ellipse">
              <a:avLst/>
            </a:prstGeom>
            <a:solidFill>
              <a:srgbClr val="C93A2A"/>
            </a:solidFill>
            <a:ln w="19050">
              <a:solidFill>
                <a:srgbClr val="C93A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6" name="TextBox 35"/>
            <p:cNvSpPr txBox="1"/>
            <p:nvPr/>
          </p:nvSpPr>
          <p:spPr>
            <a:xfrm>
              <a:off x="5760720" y="2039112"/>
              <a:ext cx="1645920" cy="256032"/>
            </a:xfrm>
            <a:prstGeom prst="rect">
              <a:avLst/>
            </a:prstGeom>
            <a:noFill/>
          </p:spPr>
          <p:txBody>
            <a:bodyPr wrap="square" lIns="0" rIns="0" tIns="0" bIns="0" anchor="t">
              <a:spAutoFit/>
            </a:bodyPr>
            <a:lstStyle/>
            <a:p>
              <a:pPr algn="ctr"/>
              <a:r>
                <a:rPr sz="1150" b="1" i="0">
                  <a:solidFill>
                    <a:srgbClr val="1C2333"/>
                  </a:solidFill>
                  <a:latin typeface="Calibri"/>
                </a:rPr>
                <a:t>Phá</a:t>
              </a:r>
            </a:p>
          </p:txBody>
        </p:sp>
      </p:grpSp>
      <p:grpSp>
        <p:nvGrpSpPr>
          <p:cNvPr id="68" name="Số 2"/>
          <p:cNvGrpSpPr/>
          <p:nvPr/>
        </p:nvGrpSpPr>
        <p:grpSpPr>
          <a:xfrm>
            <a:off x="5760720" y="4937760"/>
            <a:ext cx="1645920" cy="740664"/>
            <a:chOff x="5760720" y="4937760"/>
            <a:chExt cx="1645920" cy="740664"/>
          </a:xfrm>
        </p:grpSpPr>
        <p:sp>
          <p:nvSpPr>
            <p:cNvPr id="37" name="Oval 36"/>
            <p:cNvSpPr/>
            <p:nvPr/>
          </p:nvSpPr>
          <p:spPr>
            <a:xfrm>
              <a:off x="6355080" y="4937760"/>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2</a:t>
              </a:r>
            </a:p>
          </p:txBody>
        </p:sp>
        <p:sp>
          <p:nvSpPr>
            <p:cNvPr id="38" name="TextBox 37"/>
            <p:cNvSpPr txBox="1"/>
            <p:nvPr/>
          </p:nvSpPr>
          <p:spPr>
            <a:xfrm>
              <a:off x="5760720" y="5422392"/>
              <a:ext cx="1645920" cy="256032"/>
            </a:xfrm>
            <a:prstGeom prst="rect">
              <a:avLst/>
            </a:prstGeom>
            <a:noFill/>
          </p:spPr>
          <p:txBody>
            <a:bodyPr wrap="square" lIns="0" rIns="0" tIns="0" bIns="0" anchor="t">
              <a:spAutoFit/>
            </a:bodyPr>
            <a:lstStyle/>
            <a:p>
              <a:pPr algn="ctr"/>
              <a:r>
                <a:rPr sz="1150" b="1" i="0">
                  <a:solidFill>
                    <a:srgbClr val="B8BEC9"/>
                  </a:solidFill>
                  <a:latin typeface="Calibri"/>
                </a:rPr>
                <a:t>Soát chứng minh</a:t>
              </a:r>
            </a:p>
          </p:txBody>
        </p:sp>
      </p:grpSp>
      <p:grpSp>
        <p:nvGrpSpPr>
          <p:cNvPr id="69" name="Số 1"/>
          <p:cNvGrpSpPr/>
          <p:nvPr/>
        </p:nvGrpSpPr>
        <p:grpSpPr>
          <a:xfrm>
            <a:off x="3246120" y="5596128"/>
            <a:ext cx="1645920" cy="740664"/>
            <a:chOff x="3246120" y="5596128"/>
            <a:chExt cx="1645920" cy="740664"/>
          </a:xfrm>
        </p:grpSpPr>
        <p:sp>
          <p:nvSpPr>
            <p:cNvPr id="39" name="Oval 38"/>
            <p:cNvSpPr/>
            <p:nvPr/>
          </p:nvSpPr>
          <p:spPr>
            <a:xfrm>
              <a:off x="3840480" y="5596128"/>
              <a:ext cx="457200" cy="457200"/>
            </a:xfrm>
            <a:prstGeom prst="ellipse">
              <a:avLst/>
            </a:prstGeom>
            <a:solidFill>
              <a:srgbClr val="FFFFFF"/>
            </a:solidFill>
            <a:ln w="19050">
              <a:solidFill>
                <a:srgbClr val="B8BE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B8BEC9"/>
                  </a:solidFill>
                  <a:latin typeface="Calibri"/>
                </a:rPr>
                <a:t>1</a:t>
              </a:r>
            </a:p>
          </p:txBody>
        </p:sp>
        <p:sp>
          <p:nvSpPr>
            <p:cNvPr id="40" name="TextBox 39"/>
            <p:cNvSpPr txBox="1"/>
            <p:nvPr/>
          </p:nvSpPr>
          <p:spPr>
            <a:xfrm>
              <a:off x="3246120" y="6080760"/>
              <a:ext cx="1645920" cy="256032"/>
            </a:xfrm>
            <a:prstGeom prst="rect">
              <a:avLst/>
            </a:prstGeom>
            <a:noFill/>
          </p:spPr>
          <p:txBody>
            <a:bodyPr wrap="square" lIns="0" rIns="0" tIns="0" bIns="0" anchor="t">
              <a:spAutoFit/>
            </a:bodyPr>
            <a:lstStyle/>
            <a:p>
              <a:pPr algn="ctr"/>
              <a:r>
                <a:rPr sz="1150" b="1" i="0">
                  <a:solidFill>
                    <a:srgbClr val="B8BEC9"/>
                  </a:solidFill>
                  <a:latin typeface="Calibri"/>
                </a:rPr>
                <a:t>Kiểm chứng cuối</a:t>
              </a:r>
            </a:p>
          </p:txBody>
        </p:sp>
      </p:grpSp>
      <p:sp>
        <p:nvSpPr>
          <p:cNvPr id="41" name="Oval 40"/>
          <p:cNvSpPr/>
          <p:nvPr/>
        </p:nvSpPr>
        <p:spPr>
          <a:xfrm>
            <a:off x="8001000" y="1234440"/>
            <a:ext cx="109728" cy="109728"/>
          </a:xfrm>
          <a:prstGeom prst="ellipse">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83879" y="1161288"/>
            <a:ext cx="3611880" cy="1371600"/>
          </a:xfrm>
          <a:prstGeom prst="rect">
            <a:avLst/>
          </a:prstGeom>
          <a:noFill/>
        </p:spPr>
        <p:txBody>
          <a:bodyPr wrap="square" lIns="0" rIns="0" tIns="0" bIns="0" anchor="t">
            <a:spAutoFit/>
          </a:bodyPr>
          <a:lstStyle/>
          <a:p>
            <a:pPr algn="l"/>
            <a:r>
              <a:rPr sz="1500" b="1" i="0">
                <a:solidFill>
                  <a:srgbClr val="1C2333"/>
                </a:solidFill>
                <a:latin typeface="Calibri"/>
              </a:rPr>
              <a:t>Khi nào</a:t>
            </a:r>
          </a:p>
          <a:p>
            <a:pPr algn="l"/>
            <a:r>
              <a:rPr sz="1300" b="0" i="0">
                <a:solidFill>
                  <a:srgbClr val="394152"/>
                </a:solidFill>
                <a:latin typeface="Calibri"/>
              </a:rPr>
              <a:t>Đầu mỗi bài, khi chưa có phát biểu nào.</a:t>
            </a:r>
          </a:p>
        </p:txBody>
      </p:sp>
      <p:sp>
        <p:nvSpPr>
          <p:cNvPr id="43" name="Oval 42"/>
          <p:cNvSpPr/>
          <p:nvPr/>
        </p:nvSpPr>
        <p:spPr>
          <a:xfrm>
            <a:off x="8001000" y="2560320"/>
            <a:ext cx="109728" cy="109728"/>
          </a:xfrm>
          <a:prstGeom prst="ellipse">
            <a:avLst/>
          </a:prstGeom>
          <a:solidFill>
            <a:srgbClr val="A86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83879" y="2487168"/>
            <a:ext cx="3611880" cy="1371600"/>
          </a:xfrm>
          <a:prstGeom prst="rect">
            <a:avLst/>
          </a:prstGeom>
          <a:noFill/>
        </p:spPr>
        <p:txBody>
          <a:bodyPr wrap="square" lIns="0" rIns="0" tIns="0" bIns="0" anchor="t">
            <a:spAutoFit/>
          </a:bodyPr>
          <a:lstStyle/>
          <a:p>
            <a:pPr algn="l"/>
            <a:r>
              <a:rPr sz="1500" b="1" i="0">
                <a:solidFill>
                  <a:srgbClr val="1C2333"/>
                </a:solidFill>
                <a:latin typeface="Calibri"/>
              </a:rPr>
              <a:t>Ai chạy</a:t>
            </a:r>
          </a:p>
          <a:p>
            <a:pPr algn="l"/>
            <a:r>
              <a:rPr sz="1300" b="0" i="0">
                <a:solidFill>
                  <a:srgbClr val="394152"/>
                </a:solidFill>
                <a:latin typeface="Calibri"/>
              </a:rPr>
              <a:t>Số 14 dẫn: săn ví dụ có ý nghĩa, tính một ví dụ mẫu từ A đến Z. Số 10 đặt phỏng đoán khớp cả thư viện. Số 4 đá trên, săn phản ví dụ và chọn một ca mới. Số 6 đặt ngân sách.</a:t>
            </a:r>
          </a:p>
        </p:txBody>
      </p:sp>
      <p:sp>
        <p:nvSpPr>
          <p:cNvPr id="45" name="Oval 44"/>
          <p:cNvSpPr/>
          <p:nvPr/>
        </p:nvSpPr>
        <p:spPr>
          <a:xfrm>
            <a:off x="8001000" y="3886200"/>
            <a:ext cx="109728" cy="109728"/>
          </a:xfrm>
          <a:prstGeom prst="ellipse">
            <a:avLst/>
          </a:prstGeom>
          <a:solidFill>
            <a:srgbClr val="15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183879" y="3813048"/>
            <a:ext cx="3611880" cy="1371600"/>
          </a:xfrm>
          <a:prstGeom prst="rect">
            <a:avLst/>
          </a:prstGeom>
          <a:noFill/>
        </p:spPr>
        <p:txBody>
          <a:bodyPr wrap="square" lIns="0" rIns="0" tIns="0" bIns="0" anchor="t">
            <a:spAutoFit/>
          </a:bodyPr>
          <a:lstStyle/>
          <a:p>
            <a:pPr algn="l"/>
            <a:r>
              <a:rPr sz="1500" b="1" i="0">
                <a:solidFill>
                  <a:srgbClr val="1C2333"/>
                </a:solidFill>
                <a:latin typeface="Calibri"/>
              </a:rPr>
              <a:t>Kết thúc khi</a:t>
            </a:r>
          </a:p>
          <a:p>
            <a:pPr algn="l"/>
            <a:r>
              <a:rPr sz="1300" b="0" i="0">
                <a:solidFill>
                  <a:srgbClr val="394152"/>
                </a:solidFill>
                <a:latin typeface="Calibri"/>
              </a:rPr>
              <a:t>Phỏng đoán đoán đúng ca mới; dự đoán được ghi ra trước khi Số 14 tính.</a:t>
            </a:r>
          </a:p>
        </p:txBody>
      </p:sp>
      <p:sp>
        <p:nvSpPr>
          <p:cNvPr id="47" name="Oval 46"/>
          <p:cNvSpPr/>
          <p:nvPr/>
        </p:nvSpPr>
        <p:spPr>
          <a:xfrm>
            <a:off x="8001000" y="5212080"/>
            <a:ext cx="109728" cy="109728"/>
          </a:xfrm>
          <a:prstGeom prst="ellipse">
            <a:avLst/>
          </a:prstGeom>
          <a:solidFill>
            <a:srgbClr val="B8B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183879" y="5138928"/>
            <a:ext cx="3611880" cy="1371600"/>
          </a:xfrm>
          <a:prstGeom prst="rect">
            <a:avLst/>
          </a:prstGeom>
          <a:noFill/>
        </p:spPr>
        <p:txBody>
          <a:bodyPr wrap="square" lIns="0" rIns="0" tIns="0" bIns="0" anchor="t">
            <a:spAutoFit/>
          </a:bodyPr>
          <a:lstStyle/>
          <a:p>
            <a:pPr algn="l"/>
            <a:r>
              <a:rPr sz="1500" b="1" i="0">
                <a:solidFill>
                  <a:srgbClr val="1C2333"/>
                </a:solidFill>
                <a:latin typeface="Calibri"/>
              </a:rPr>
              <a:t>Tắt</a:t>
            </a:r>
          </a:p>
          <a:p>
            <a:pPr algn="l"/>
            <a:r>
              <a:rPr sz="1300" b="0" i="0">
                <a:solidFill>
                  <a:srgbClr val="394152"/>
                </a:solidFill>
                <a:latin typeface="Calibri"/>
              </a:rPr>
              <a:t>Số 9 chưa ra sân: chưa có gì để chứng minh. Thủ môn và hàng thủ chờ đề.</a:t>
            </a:r>
          </a:p>
        </p:txBody>
      </p:sp>
      <p:cxnSp>
        <p:nvCxnSpPr>
          <p:cNvPr id="49" name="6-14-0"/>
          <p:cNvCxnSpPr/>
          <p:nvPr/>
        </p:nvCxnSpPr>
        <p:spPr>
          <a:xfrm flipH="1" flipV="1">
            <a:off x="1744959" y="1980486"/>
            <a:ext cx="2146340" cy="2224389"/>
          </a:xfrm>
          <a:prstGeom prst="line">
            <a:avLst/>
          </a:prstGeom>
          <a:ln w="28575">
            <a:solidFill>
              <a:srgbClr val="1C23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lbl-giao việc"/>
          <p:cNvSpPr txBox="1"/>
          <p:nvPr/>
        </p:nvSpPr>
        <p:spPr>
          <a:xfrm>
            <a:off x="2743200" y="3977640"/>
            <a:ext cx="822960" cy="256032"/>
          </a:xfrm>
          <a:prstGeom prst="rect">
            <a:avLst/>
          </a:prstGeom>
          <a:noFill/>
        </p:spPr>
        <p:txBody>
          <a:bodyPr wrap="square" lIns="0" rIns="0" tIns="0" bIns="0" anchor="t">
            <a:spAutoFit/>
          </a:bodyPr>
          <a:lstStyle/>
          <a:p>
            <a:pPr algn="l"/>
            <a:r>
              <a:rPr sz="1100" b="1" i="0">
                <a:solidFill>
                  <a:srgbClr val="2B59D9"/>
                </a:solidFill>
                <a:latin typeface="Calibri"/>
              </a:rPr>
              <a:t>giao việc</a:t>
            </a:r>
          </a:p>
        </p:txBody>
      </p:sp>
      <p:cxnSp>
        <p:nvCxnSpPr>
          <p:cNvPr id="51" name="14-10-0"/>
          <p:cNvCxnSpPr/>
          <p:nvPr/>
        </p:nvCxnSpPr>
        <p:spPr>
          <a:xfrm>
            <a:off x="1763334" y="1931176"/>
            <a:ext cx="2081974" cy="1476309"/>
          </a:xfrm>
          <a:prstGeom prst="line">
            <a:avLst/>
          </a:prstGeom>
          <a:ln w="22225">
            <a:solidFill>
              <a:srgbClr val="2B5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lbl-thư viện ví dụ"/>
          <p:cNvSpPr txBox="1"/>
          <p:nvPr/>
        </p:nvSpPr>
        <p:spPr>
          <a:xfrm>
            <a:off x="2331720" y="1874520"/>
            <a:ext cx="1188720" cy="256032"/>
          </a:xfrm>
          <a:prstGeom prst="rect">
            <a:avLst/>
          </a:prstGeom>
          <a:noFill/>
        </p:spPr>
        <p:txBody>
          <a:bodyPr wrap="square" lIns="0" rIns="0" tIns="0" bIns="0" anchor="t">
            <a:spAutoFit/>
          </a:bodyPr>
          <a:lstStyle/>
          <a:p>
            <a:pPr algn="l"/>
            <a:r>
              <a:rPr sz="1100" b="1" i="0">
                <a:solidFill>
                  <a:srgbClr val="2B59D9"/>
                </a:solidFill>
                <a:latin typeface="Calibri"/>
              </a:rPr>
              <a:t>thư viện ví dụ</a:t>
            </a:r>
          </a:p>
        </p:txBody>
      </p:sp>
      <p:cxnSp>
        <p:nvCxnSpPr>
          <p:cNvPr id="53" name="10-4-0"/>
          <p:cNvCxnSpPr/>
          <p:nvPr/>
        </p:nvCxnSpPr>
        <p:spPr>
          <a:xfrm flipV="1">
            <a:off x="4277934" y="1941755"/>
            <a:ext cx="2081974" cy="1476309"/>
          </a:xfrm>
          <a:prstGeom prst="line">
            <a:avLst/>
          </a:prstGeom>
          <a:ln w="25400">
            <a:solidFill>
              <a:srgbClr val="C93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lbl-phỏng đoán"/>
          <p:cNvSpPr txBox="1"/>
          <p:nvPr/>
        </p:nvSpPr>
        <p:spPr>
          <a:xfrm>
            <a:off x="5440680" y="2834640"/>
            <a:ext cx="914400" cy="256032"/>
          </a:xfrm>
          <a:prstGeom prst="rect">
            <a:avLst/>
          </a:prstGeom>
          <a:noFill/>
        </p:spPr>
        <p:txBody>
          <a:bodyPr wrap="square" lIns="0" rIns="0" tIns="0" bIns="0" anchor="t">
            <a:spAutoFit/>
          </a:bodyPr>
          <a:lstStyle/>
          <a:p>
            <a:pPr algn="l"/>
            <a:r>
              <a:rPr sz="1100" b="1" i="0">
                <a:solidFill>
                  <a:srgbClr val="C93A2A"/>
                </a:solidFill>
                <a:latin typeface="Calibri"/>
              </a:rPr>
              <a:t>phỏng đoán</a:t>
            </a:r>
          </a:p>
        </p:txBody>
      </p:sp>
      <p:cxnSp>
        <p:nvCxnSpPr>
          <p:cNvPr id="55" name="4-14-0"/>
          <p:cNvCxnSpPr/>
          <p:nvPr/>
        </p:nvCxnSpPr>
        <p:spPr>
          <a:xfrm flipV="1">
            <a:off x="6583680" y="1298448"/>
            <a:ext cx="0" cy="237744"/>
          </a:xfrm>
          <a:prstGeom prst="line">
            <a:avLst/>
          </a:prstGeom>
          <a:ln w="22225">
            <a:solidFill>
              <a:srgbClr val="C93A2A"/>
            </a:solidFill>
            <a:prstDash val="dash"/>
          </a:ln>
        </p:spPr>
        <p:style>
          <a:lnRef idx="2">
            <a:schemeClr val="accent1"/>
          </a:lnRef>
          <a:fillRef idx="0">
            <a:schemeClr val="accent1"/>
          </a:fillRef>
          <a:effectRef idx="1">
            <a:schemeClr val="accent1"/>
          </a:effectRef>
          <a:fontRef idx="minor">
            <a:schemeClr val="tx1"/>
          </a:fontRef>
        </p:style>
      </p:cxnSp>
      <p:cxnSp>
        <p:nvCxnSpPr>
          <p:cNvPr id="56" name="4-14-1"/>
          <p:cNvCxnSpPr/>
          <p:nvPr/>
        </p:nvCxnSpPr>
        <p:spPr>
          <a:xfrm flipH="1">
            <a:off x="1554480" y="1298448"/>
            <a:ext cx="5029200" cy="0"/>
          </a:xfrm>
          <a:prstGeom prst="line">
            <a:avLst/>
          </a:prstGeom>
          <a:ln w="22225">
            <a:solidFill>
              <a:srgbClr val="C93A2A"/>
            </a:solidFill>
            <a:prstDash val="dash"/>
          </a:ln>
        </p:spPr>
        <p:style>
          <a:lnRef idx="2">
            <a:schemeClr val="accent1"/>
          </a:lnRef>
          <a:fillRef idx="0">
            <a:schemeClr val="accent1"/>
          </a:fillRef>
          <a:effectRef idx="1">
            <a:schemeClr val="accent1"/>
          </a:effectRef>
          <a:fontRef idx="minor">
            <a:schemeClr val="tx1"/>
          </a:fontRef>
        </p:style>
      </p:cxnSp>
      <p:cxnSp>
        <p:nvCxnSpPr>
          <p:cNvPr id="57" name="4-14-2"/>
          <p:cNvCxnSpPr/>
          <p:nvPr/>
        </p:nvCxnSpPr>
        <p:spPr>
          <a:xfrm>
            <a:off x="1554480" y="1298448"/>
            <a:ext cx="0" cy="219456"/>
          </a:xfrm>
          <a:prstGeom prst="line">
            <a:avLst/>
          </a:prstGeom>
          <a:ln w="22225">
            <a:solidFill>
              <a:srgbClr val="C93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lbl-ca mới, đoán t"/>
          <p:cNvSpPr txBox="1"/>
          <p:nvPr/>
        </p:nvSpPr>
        <p:spPr>
          <a:xfrm>
            <a:off x="4434840" y="1325880"/>
            <a:ext cx="1828800" cy="256032"/>
          </a:xfrm>
          <a:prstGeom prst="rect">
            <a:avLst/>
          </a:prstGeom>
          <a:noFill/>
        </p:spPr>
        <p:txBody>
          <a:bodyPr wrap="square" lIns="0" rIns="0" tIns="0" bIns="0" anchor="t">
            <a:spAutoFit/>
          </a:bodyPr>
          <a:lstStyle/>
          <a:p>
            <a:pPr algn="l"/>
            <a:r>
              <a:rPr sz="1100" b="1" i="0">
                <a:solidFill>
                  <a:srgbClr val="C93A2A"/>
                </a:solidFill>
                <a:latin typeface="Calibri"/>
              </a:rPr>
              <a:t>ca mới, đoán trước khi tính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Ví dụ mẫu: tính từ A đến Z</a:t>
            </a:r>
            <a:endParaRPr lang="en-US" sz="3200" dirty="0"/>
          </a:p>
        </p:txBody>
      </p:sp>
      <p:grpSp>
        <p:nvGrpSpPr>
          <p:cNvPr id="26" name="Thẻ 1"/>
          <p:cNvGrpSpPr/>
          <p:nvPr/>
        </p:nvGrpSpPr>
        <p:grpSpPr>
          <a:xfrm>
            <a:off x="548640" y="1828800"/>
            <a:ext cx="3383280" cy="3108960"/>
            <a:chOff x="548640" y="1828800"/>
            <a:chExt cx="3383280" cy="3108960"/>
          </a:xfrm>
        </p:grpSpPr>
        <p:sp>
          <p:nvSpPr>
            <p:cNvPr id="3" name="Shape 1"/>
            <p:cNvSpPr/>
            <p:nvPr/>
          </p:nvSpPr>
          <p:spPr>
            <a:xfrm>
              <a:off x="54864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4" name="num1"/>
            <p:cNvSpPr/>
            <p:nvPr/>
          </p:nvSpPr>
          <p:spPr>
            <a:xfrm>
              <a:off x="822960" y="2103120"/>
              <a:ext cx="548640" cy="548640"/>
            </a:xfrm>
            <a:prstGeom prst="ellipse">
              <a:avLst/>
            </a:prstGeom>
            <a:solidFill>
              <a:srgbClr val="1C2333"/>
            </a:solidFill>
            <a:ln w="12700">
              <a:solidFill>
                <a:srgbClr val="1C2333"/>
              </a:solidFill>
              <a:prstDash val="solid"/>
            </a:ln>
          </p:spPr>
          <p:txBody>
            <a:bodyPr/>
            <a:lstStyle/>
            <a:p>
              <a:endParaRPr lang="en-US"/>
            </a:p>
          </p:txBody>
        </p:sp>
        <p:sp>
          <p:nvSpPr>
            <p:cNvPr id="5" name="Text 3"/>
            <p:cNvSpPr txBox="1"/>
            <p:nvPr/>
          </p:nvSpPr>
          <p:spPr>
            <a:xfrm>
              <a:off x="82296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82296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Chọn ví dụ có ý nghĩa</a:t>
              </a:r>
              <a:endParaRPr lang="en-US" sz="1900" dirty="0"/>
            </a:p>
          </p:txBody>
        </p:sp>
        <p:sp>
          <p:nvSpPr>
            <p:cNvPr id="7" name="Text 5"/>
            <p:cNvSpPr txBox="1"/>
            <p:nvPr/>
          </p:nvSpPr>
          <p:spPr>
            <a:xfrm>
              <a:off x="82296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Mọi giả thiết đều được dùng; tách được hai phỏng đoán; chạm dấu bằng; hoặc nằm sát biên một giả thiết. Không chọn ca suy biến.</a:t>
              </a:r>
              <a:endParaRPr lang="en-US" sz="1500" dirty="0"/>
            </a:p>
          </p:txBody>
        </p:sp>
      </p:grpSp>
      <p:sp>
        <p:nvSpPr>
          <p:cNvPr id="8" name="Shape 6"/>
          <p:cNvSpPr/>
          <p:nvPr/>
        </p:nvSpPr>
        <p:spPr>
          <a:xfrm>
            <a:off x="4005072" y="3154680"/>
            <a:ext cx="329184" cy="365760"/>
          </a:xfrm>
          <a:prstGeom prst="rightArrow">
            <a:avLst/>
          </a:prstGeom>
          <a:solidFill>
            <a:schemeClr val="accent5"/>
          </a:solidFill>
          <a:ln w="12700">
            <a:solidFill>
              <a:schemeClr val="accent5"/>
            </a:solidFill>
            <a:prstDash val="solid"/>
          </a:ln>
        </p:spPr>
        <p:txBody>
          <a:bodyPr/>
          <a:lstStyle/>
          <a:p>
            <a:endParaRPr lang="en-US"/>
          </a:p>
        </p:txBody>
      </p:sp>
      <p:grpSp>
        <p:nvGrpSpPr>
          <p:cNvPr id="27" name="Thẻ 2"/>
          <p:cNvGrpSpPr/>
          <p:nvPr/>
        </p:nvGrpSpPr>
        <p:grpSpPr>
          <a:xfrm>
            <a:off x="4389120" y="1828800"/>
            <a:ext cx="3383280" cy="3108960"/>
            <a:chOff x="4389120" y="1828800"/>
            <a:chExt cx="3383280" cy="3108960"/>
          </a:xfrm>
        </p:grpSpPr>
        <p:sp>
          <p:nvSpPr>
            <p:cNvPr id="9" name="Shape 7"/>
            <p:cNvSpPr/>
            <p:nvPr/>
          </p:nvSpPr>
          <p:spPr>
            <a:xfrm>
              <a:off x="438912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10" name="num2"/>
            <p:cNvSpPr/>
            <p:nvPr/>
          </p:nvSpPr>
          <p:spPr>
            <a:xfrm>
              <a:off x="4663440" y="2103120"/>
              <a:ext cx="548640" cy="548640"/>
            </a:xfrm>
            <a:prstGeom prst="ellipse">
              <a:avLst/>
            </a:prstGeom>
            <a:solidFill>
              <a:srgbClr val="A86C0E"/>
            </a:solidFill>
            <a:ln w="12700">
              <a:solidFill>
                <a:srgbClr val="A86C0E"/>
              </a:solidFill>
              <a:prstDash val="solid"/>
            </a:ln>
          </p:spPr>
          <p:txBody>
            <a:bodyPr/>
            <a:lstStyle/>
            <a:p>
              <a:endParaRPr lang="en-US"/>
            </a:p>
          </p:txBody>
        </p:sp>
        <p:sp>
          <p:nvSpPr>
            <p:cNvPr id="11" name="Text 9"/>
            <p:cNvSpPr txBox="1"/>
            <p:nvPr/>
          </p:nvSpPr>
          <p:spPr>
            <a:xfrm>
              <a:off x="466344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10"/>
            <p:cNvSpPr txBox="1"/>
            <p:nvPr/>
          </p:nvSpPr>
          <p:spPr>
            <a:xfrm>
              <a:off x="466344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Tính hết, chính xác</a:t>
              </a:r>
              <a:endParaRPr lang="en-US" sz="1900" dirty="0"/>
            </a:p>
          </p:txBody>
        </p:sp>
        <p:sp>
          <p:nvSpPr>
            <p:cNvPr id="13" name="Text 11"/>
            <p:cNvSpPr txBox="1"/>
            <p:nvPr/>
          </p:nvSpPr>
          <p:spPr>
            <a:xfrm>
              <a:off x="466344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Mọi đối tượng của lý thuyết, cả đại lượng trung gian, bằng đại số máy tính, có script chạy lại. Mọi ghế đọc trước khi vào sân.</a:t>
              </a:r>
              <a:endParaRPr lang="en-US" sz="1500" dirty="0"/>
            </a:p>
          </p:txBody>
        </p:sp>
      </p:grpSp>
      <p:sp>
        <p:nvSpPr>
          <p:cNvPr id="14" name="Shape 12"/>
          <p:cNvSpPr/>
          <p:nvPr/>
        </p:nvSpPr>
        <p:spPr>
          <a:xfrm>
            <a:off x="7845552" y="3154680"/>
            <a:ext cx="329184" cy="365760"/>
          </a:xfrm>
          <a:prstGeom prst="rightArrow">
            <a:avLst/>
          </a:prstGeom>
          <a:solidFill>
            <a:schemeClr val="accent5"/>
          </a:solidFill>
          <a:ln w="12700">
            <a:solidFill>
              <a:schemeClr val="accent5"/>
            </a:solidFill>
            <a:prstDash val="solid"/>
          </a:ln>
        </p:spPr>
        <p:txBody>
          <a:bodyPr/>
          <a:lstStyle/>
          <a:p>
            <a:endParaRPr lang="en-US"/>
          </a:p>
        </p:txBody>
      </p:sp>
      <p:grpSp>
        <p:nvGrpSpPr>
          <p:cNvPr id="28" name="Thẻ 3"/>
          <p:cNvGrpSpPr/>
          <p:nvPr/>
        </p:nvGrpSpPr>
        <p:grpSpPr>
          <a:xfrm>
            <a:off x="8229600" y="1828800"/>
            <a:ext cx="3383280" cy="3108960"/>
            <a:chOff x="8229600" y="1828800"/>
            <a:chExt cx="3383280" cy="3108960"/>
          </a:xfrm>
        </p:grpSpPr>
        <p:sp>
          <p:nvSpPr>
            <p:cNvPr id="15" name="Shape 13"/>
            <p:cNvSpPr/>
            <p:nvPr/>
          </p:nvSpPr>
          <p:spPr>
            <a:xfrm>
              <a:off x="8229600" y="1828800"/>
              <a:ext cx="3383280" cy="3108960"/>
            </a:xfrm>
            <a:prstGeom prst="roundRect">
              <a:avLst>
                <a:gd name="adj" fmla="val 2353"/>
              </a:avLst>
            </a:prstGeom>
            <a:solidFill>
              <a:schemeClr val="bg2"/>
            </a:solidFill>
            <a:ln w="22225">
              <a:solidFill>
                <a:schemeClr val="bg2"/>
              </a:solidFill>
              <a:prstDash val="solid"/>
            </a:ln>
          </p:spPr>
          <p:txBody>
            <a:bodyPr/>
            <a:lstStyle/>
            <a:p>
              <a:endParaRPr lang="en-US"/>
            </a:p>
          </p:txBody>
        </p:sp>
        <p:sp>
          <p:nvSpPr>
            <p:cNvPr id="16" name="num3"/>
            <p:cNvSpPr/>
            <p:nvPr/>
          </p:nvSpPr>
          <p:spPr>
            <a:xfrm>
              <a:off x="8503920" y="2103120"/>
              <a:ext cx="548640" cy="548640"/>
            </a:xfrm>
            <a:prstGeom prst="ellipse">
              <a:avLst/>
            </a:prstGeom>
            <a:solidFill>
              <a:srgbClr val="157A55"/>
            </a:solidFill>
            <a:ln w="12700">
              <a:solidFill>
                <a:srgbClr val="157A55"/>
              </a:solidFill>
              <a:prstDash val="solid"/>
            </a:ln>
          </p:spPr>
          <p:txBody>
            <a:bodyPr/>
            <a:lstStyle/>
            <a:p>
              <a:endParaRPr lang="en-US"/>
            </a:p>
          </p:txBody>
        </p:sp>
        <p:sp>
          <p:nvSpPr>
            <p:cNvPr id="17" name="Text 15"/>
            <p:cNvSpPr txBox="1"/>
            <p:nvPr/>
          </p:nvSpPr>
          <p:spPr>
            <a:xfrm>
              <a:off x="8503920" y="210312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6"/>
            <p:cNvSpPr txBox="1"/>
            <p:nvPr/>
          </p:nvSpPr>
          <p:spPr>
            <a:xfrm>
              <a:off x="8503920" y="2834640"/>
              <a:ext cx="2834640" cy="548640"/>
            </a:xfrm>
            <a:prstGeom prst="rect">
              <a:avLst/>
            </a:prstGeom>
            <a:noFill/>
            <a:ln/>
          </p:spPr>
          <p:txBody>
            <a:bodyPr wrap="square" lIns="0" tIns="0" rIns="0" bIns="0" rtlCol="0" anchor="ctr"/>
            <a:lstStyle/>
            <a:p>
              <a:pPr marL="0" indent="0">
                <a:buNone/>
              </a:pPr>
              <a:r>
                <a:rPr lang="en-US" sz="1900" b="1" dirty="0">
                  <a:solidFill>
                    <a:schemeClr val="tx1"/>
                  </a:solidFill>
                </a:rPr>
                <a:t>Chỉ dùng để loại</a:t>
              </a:r>
              <a:endParaRPr lang="en-US" sz="1900" dirty="0"/>
            </a:p>
          </p:txBody>
        </p:sp>
        <p:sp>
          <p:nvSpPr>
            <p:cNvPr id="19" name="Text 17"/>
            <p:cNvSpPr txBox="1"/>
            <p:nvPr/>
          </p:nvSpPr>
          <p:spPr>
            <a:xfrm>
              <a:off x="8503920" y="3429000"/>
              <a:ext cx="2834640" cy="1371600"/>
            </a:xfrm>
            <a:prstGeom prst="rect">
              <a:avLst/>
            </a:prstGeom>
            <a:noFill/>
            <a:ln/>
          </p:spPr>
          <p:txBody>
            <a:bodyPr wrap="square" lIns="0" tIns="0" rIns="0" bIns="0" rtlCol="0" anchor="t"/>
            <a:lstStyle/>
            <a:p>
              <a:pPr marL="0" indent="0">
                <a:buNone/>
              </a:pPr>
              <a:r>
                <a:rPr lang="en-US" sz="1500" dirty="0">
                  <a:solidFill>
                    <a:schemeClr val="tx2"/>
                  </a:solidFill>
                </a:rPr>
                <a:t>Số 2 tính từng bước chứng minh trên ví dụ mẫu. Sai trên ví dụ là sai thật. Qua được thì chưa chứng minh gì tổng quát.</a:t>
              </a:r>
              <a:endParaRPr lang="en-US" sz="1500" dirty="0"/>
            </a:p>
          </p:txBody>
        </p:sp>
      </p:grpSp>
      <p:sp>
        <p:nvSpPr>
          <p:cNvPr id="20" name="Text 18"/>
          <p:cNvSpPr txBox="1"/>
          <p:nvPr/>
        </p:nvSpPr>
        <p:spPr>
          <a:xfrm>
            <a:off x="548640" y="5394960"/>
            <a:ext cx="10972800" cy="411480"/>
          </a:xfrm>
          <a:prstGeom prst="rect">
            <a:avLst/>
          </a:prstGeom>
          <a:noFill/>
          <a:ln/>
        </p:spPr>
        <p:txBody>
          <a:bodyPr wrap="square" lIns="0" tIns="0" rIns="0" bIns="0" rtlCol="0" anchor="ctr"/>
          <a:lstStyle/>
          <a:p>
            <a:pPr marL="0" indent="0">
              <a:buNone/>
            </a:pPr>
            <a:r>
              <a:rPr lang="en-US" sz="1600" i="1" dirty="0">
                <a:solidFill>
                  <a:schemeClr val="tx2"/>
                </a:solidFill>
              </a:rPr>
              <a:t>Nhiều lý thuyết chỉ hiểu được khi đã tự tay tính trọn một ví dụ không tầm thường. Ví dụ mẫu thường lộ ra bộ khung của chứng minh.</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Đội hình trên sân</a:t>
            </a:r>
            <a:endParaRPr lang="en-US" sz="3200" dirty="0"/>
          </a:p>
        </p:txBody>
      </p:sp>
      <p:sp>
        <p:nvSpPr>
          <p:cNvPr id="4" name="Text 1"/>
          <p:cNvSpPr txBox="1"/>
          <p:nvPr/>
        </p:nvSpPr>
        <p:spPr>
          <a:xfrm>
            <a:off x="548640" y="6309360"/>
            <a:ext cx="10972800" cy="320040"/>
          </a:xfrm>
          <a:prstGeom prst="rect">
            <a:avLst/>
          </a:prstGeom>
          <a:noFill/>
          <a:ln/>
        </p:spPr>
        <p:txBody>
          <a:bodyPr wrap="square" lIns="0" tIns="0" rIns="0" bIns="0" rtlCol="0" anchor="ctr"/>
          <a:lstStyle/>
          <a:p>
            <a:pPr marL="0" indent="0">
              <a:buNone/>
            </a:pPr>
            <a:r>
              <a:rPr lang="en-US" sz="1400" i="1" dirty="0">
                <a:solidFill>
                  <a:schemeClr val="tx2"/>
                </a:solidFill>
              </a:rPr>
              <a:t>Tấn công sang phải. Viền liền: chín ghế lõi; viền đứt: hai cánh, Số 6 bật theo bài.</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
        <p:nvSpPr>
          <p:cNvPr id="26" name="co-nen"/>
          <p:cNvSpPr/>
          <p:nvPr/>
        </p:nvSpPr>
        <p:spPr>
          <a:xfrm>
            <a:off x="2194560" y="1033272"/>
            <a:ext cx="7808976" cy="5202936"/>
          </a:xfrm>
          <a:prstGeom prst="rect">
            <a:avLst/>
          </a:prstGeom>
          <a:solidFill>
            <a:srgbClr val="2F7D3A"/>
          </a:solidFill>
          <a:ln>
            <a:noFill/>
          </a:ln>
        </p:spPr>
        <p:txBody>
          <a:bodyPr wrap="none" lIns="0" tIns="0" rIns="0" bIns="0" anchor="ctr"/>
          <a:lstStyle/>
          <a:p>
            <a:pPr algn="ctr"/>
            <a:endParaRPr lang="vi-VN" sz="800"/>
          </a:p>
        </p:txBody>
      </p:sp>
      <p:sp>
        <p:nvSpPr>
          <p:cNvPr id="27" name="co-0"/>
          <p:cNvSpPr/>
          <p:nvPr/>
        </p:nvSpPr>
        <p:spPr>
          <a:xfrm>
            <a:off x="2395728" y="1234440"/>
            <a:ext cx="740664" cy="4800600"/>
          </a:xfrm>
          <a:prstGeom prst="rect">
            <a:avLst/>
          </a:prstGeom>
          <a:solidFill>
            <a:srgbClr val="2F7D3A"/>
          </a:solidFill>
          <a:ln>
            <a:noFill/>
          </a:ln>
        </p:spPr>
        <p:txBody>
          <a:bodyPr wrap="none" lIns="0" tIns="0" rIns="0" bIns="0" anchor="ctr"/>
          <a:lstStyle/>
          <a:p>
            <a:pPr algn="ctr"/>
            <a:endParaRPr lang="vi-VN" sz="800"/>
          </a:p>
        </p:txBody>
      </p:sp>
      <p:sp>
        <p:nvSpPr>
          <p:cNvPr id="28" name="co-1"/>
          <p:cNvSpPr/>
          <p:nvPr/>
        </p:nvSpPr>
        <p:spPr>
          <a:xfrm>
            <a:off x="3136392" y="1234440"/>
            <a:ext cx="740664" cy="4800600"/>
          </a:xfrm>
          <a:prstGeom prst="rect">
            <a:avLst/>
          </a:prstGeom>
          <a:solidFill>
            <a:srgbClr val="36873F"/>
          </a:solidFill>
          <a:ln>
            <a:noFill/>
          </a:ln>
        </p:spPr>
        <p:txBody>
          <a:bodyPr wrap="none" lIns="0" tIns="0" rIns="0" bIns="0" anchor="ctr"/>
          <a:lstStyle/>
          <a:p>
            <a:pPr algn="ctr"/>
            <a:endParaRPr lang="vi-VN" sz="800"/>
          </a:p>
        </p:txBody>
      </p:sp>
      <p:sp>
        <p:nvSpPr>
          <p:cNvPr id="29" name="co-2"/>
          <p:cNvSpPr/>
          <p:nvPr/>
        </p:nvSpPr>
        <p:spPr>
          <a:xfrm>
            <a:off x="3877056" y="1234440"/>
            <a:ext cx="740664" cy="4800600"/>
          </a:xfrm>
          <a:prstGeom prst="rect">
            <a:avLst/>
          </a:prstGeom>
          <a:solidFill>
            <a:srgbClr val="2F7D3A"/>
          </a:solidFill>
          <a:ln>
            <a:noFill/>
          </a:ln>
        </p:spPr>
        <p:txBody>
          <a:bodyPr wrap="none" lIns="0" tIns="0" rIns="0" bIns="0" anchor="ctr"/>
          <a:lstStyle/>
          <a:p>
            <a:pPr algn="ctr"/>
            <a:endParaRPr lang="vi-VN" sz="800"/>
          </a:p>
        </p:txBody>
      </p:sp>
      <p:sp>
        <p:nvSpPr>
          <p:cNvPr id="30" name="co-3"/>
          <p:cNvSpPr/>
          <p:nvPr/>
        </p:nvSpPr>
        <p:spPr>
          <a:xfrm>
            <a:off x="4617720" y="1234440"/>
            <a:ext cx="740664" cy="4800600"/>
          </a:xfrm>
          <a:prstGeom prst="rect">
            <a:avLst/>
          </a:prstGeom>
          <a:solidFill>
            <a:srgbClr val="36873F"/>
          </a:solidFill>
          <a:ln>
            <a:noFill/>
          </a:ln>
        </p:spPr>
        <p:txBody>
          <a:bodyPr wrap="none" lIns="0" tIns="0" rIns="0" bIns="0" anchor="ctr"/>
          <a:lstStyle/>
          <a:p>
            <a:pPr algn="ctr"/>
            <a:endParaRPr lang="vi-VN" sz="800"/>
          </a:p>
        </p:txBody>
      </p:sp>
      <p:sp>
        <p:nvSpPr>
          <p:cNvPr id="31" name="co-4"/>
          <p:cNvSpPr/>
          <p:nvPr/>
        </p:nvSpPr>
        <p:spPr>
          <a:xfrm>
            <a:off x="5358384" y="1234440"/>
            <a:ext cx="740664" cy="4800600"/>
          </a:xfrm>
          <a:prstGeom prst="rect">
            <a:avLst/>
          </a:prstGeom>
          <a:solidFill>
            <a:srgbClr val="2F7D3A"/>
          </a:solidFill>
          <a:ln>
            <a:noFill/>
          </a:ln>
        </p:spPr>
        <p:txBody>
          <a:bodyPr wrap="none" lIns="0" tIns="0" rIns="0" bIns="0" anchor="ctr"/>
          <a:lstStyle/>
          <a:p>
            <a:pPr algn="ctr"/>
            <a:endParaRPr lang="vi-VN" sz="800"/>
          </a:p>
        </p:txBody>
      </p:sp>
      <p:sp>
        <p:nvSpPr>
          <p:cNvPr id="32" name="co-5"/>
          <p:cNvSpPr/>
          <p:nvPr/>
        </p:nvSpPr>
        <p:spPr>
          <a:xfrm>
            <a:off x="6099048" y="1234440"/>
            <a:ext cx="740664" cy="4800600"/>
          </a:xfrm>
          <a:prstGeom prst="rect">
            <a:avLst/>
          </a:prstGeom>
          <a:solidFill>
            <a:srgbClr val="36873F"/>
          </a:solidFill>
          <a:ln>
            <a:noFill/>
          </a:ln>
        </p:spPr>
        <p:txBody>
          <a:bodyPr wrap="none" lIns="0" tIns="0" rIns="0" bIns="0" anchor="ctr"/>
          <a:lstStyle/>
          <a:p>
            <a:pPr algn="ctr"/>
            <a:endParaRPr lang="vi-VN" sz="800"/>
          </a:p>
        </p:txBody>
      </p:sp>
      <p:sp>
        <p:nvSpPr>
          <p:cNvPr id="33" name="co-6"/>
          <p:cNvSpPr/>
          <p:nvPr/>
        </p:nvSpPr>
        <p:spPr>
          <a:xfrm>
            <a:off x="6839712" y="1234440"/>
            <a:ext cx="740664" cy="4800600"/>
          </a:xfrm>
          <a:prstGeom prst="rect">
            <a:avLst/>
          </a:prstGeom>
          <a:solidFill>
            <a:srgbClr val="2F7D3A"/>
          </a:solidFill>
          <a:ln>
            <a:noFill/>
          </a:ln>
        </p:spPr>
        <p:txBody>
          <a:bodyPr wrap="none" lIns="0" tIns="0" rIns="0" bIns="0" anchor="ctr"/>
          <a:lstStyle/>
          <a:p>
            <a:pPr algn="ctr"/>
            <a:endParaRPr lang="vi-VN" sz="800"/>
          </a:p>
        </p:txBody>
      </p:sp>
      <p:sp>
        <p:nvSpPr>
          <p:cNvPr id="34" name="co-7"/>
          <p:cNvSpPr/>
          <p:nvPr/>
        </p:nvSpPr>
        <p:spPr>
          <a:xfrm>
            <a:off x="7580376" y="1234440"/>
            <a:ext cx="740664" cy="4800600"/>
          </a:xfrm>
          <a:prstGeom prst="rect">
            <a:avLst/>
          </a:prstGeom>
          <a:solidFill>
            <a:srgbClr val="36873F"/>
          </a:solidFill>
          <a:ln>
            <a:noFill/>
          </a:ln>
        </p:spPr>
        <p:txBody>
          <a:bodyPr wrap="none" lIns="0" tIns="0" rIns="0" bIns="0" anchor="ctr"/>
          <a:lstStyle/>
          <a:p>
            <a:pPr algn="ctr"/>
            <a:endParaRPr lang="vi-VN" sz="800"/>
          </a:p>
        </p:txBody>
      </p:sp>
      <p:sp>
        <p:nvSpPr>
          <p:cNvPr id="35" name="co-8"/>
          <p:cNvSpPr/>
          <p:nvPr/>
        </p:nvSpPr>
        <p:spPr>
          <a:xfrm>
            <a:off x="8321040" y="1234440"/>
            <a:ext cx="740664" cy="4800600"/>
          </a:xfrm>
          <a:prstGeom prst="rect">
            <a:avLst/>
          </a:prstGeom>
          <a:solidFill>
            <a:srgbClr val="2F7D3A"/>
          </a:solidFill>
          <a:ln>
            <a:noFill/>
          </a:ln>
        </p:spPr>
        <p:txBody>
          <a:bodyPr wrap="none" lIns="0" tIns="0" rIns="0" bIns="0" anchor="ctr"/>
          <a:lstStyle/>
          <a:p>
            <a:pPr algn="ctr"/>
            <a:endParaRPr lang="vi-VN" sz="800"/>
          </a:p>
        </p:txBody>
      </p:sp>
      <p:sp>
        <p:nvSpPr>
          <p:cNvPr id="36" name="co-9"/>
          <p:cNvSpPr/>
          <p:nvPr/>
        </p:nvSpPr>
        <p:spPr>
          <a:xfrm>
            <a:off x="9061704" y="1234440"/>
            <a:ext cx="740664" cy="4800600"/>
          </a:xfrm>
          <a:prstGeom prst="rect">
            <a:avLst/>
          </a:prstGeom>
          <a:solidFill>
            <a:srgbClr val="36873F"/>
          </a:solidFill>
          <a:ln>
            <a:noFill/>
          </a:ln>
        </p:spPr>
        <p:txBody>
          <a:bodyPr wrap="none" lIns="0" tIns="0" rIns="0" bIns="0" anchor="ctr"/>
          <a:lstStyle/>
          <a:p>
            <a:pPr algn="ctr"/>
            <a:endParaRPr lang="vi-VN" sz="800"/>
          </a:p>
        </p:txBody>
      </p:sp>
      <p:sp>
        <p:nvSpPr>
          <p:cNvPr id="37" name="vach-bien"/>
          <p:cNvSpPr/>
          <p:nvPr/>
        </p:nvSpPr>
        <p:spPr>
          <a:xfrm>
            <a:off x="2395728" y="1234440"/>
            <a:ext cx="7406640" cy="4800600"/>
          </a:xfrm>
          <a:prstGeom prst="rect">
            <a:avLst/>
          </a:prstGeom>
          <a:noFill/>
          <a:ln w="25400">
            <a:solidFill>
              <a:srgbClr val="FFFFFF"/>
            </a:solidFill>
          </a:ln>
        </p:spPr>
        <p:txBody>
          <a:bodyPr wrap="none" lIns="0" tIns="0" rIns="0" bIns="0" anchor="ctr"/>
          <a:lstStyle/>
          <a:p>
            <a:pPr algn="ctr"/>
            <a:endParaRPr lang="vi-VN" sz="800"/>
          </a:p>
        </p:txBody>
      </p:sp>
      <p:cxnSp>
        <p:nvCxnSpPr>
          <p:cNvPr id="38" name="vach-giua"/>
          <p:cNvCxnSpPr/>
          <p:nvPr/>
        </p:nvCxnSpPr>
        <p:spPr>
          <a:xfrm>
            <a:off x="6099048" y="1234440"/>
            <a:ext cx="0" cy="4800600"/>
          </a:xfrm>
          <a:prstGeom prst="line">
            <a:avLst/>
          </a:prstGeom>
          <a:ln w="22225">
            <a:solidFill>
              <a:srgbClr val="FFFFFF"/>
            </a:solidFill>
          </a:ln>
        </p:spPr>
      </p:cxnSp>
      <p:sp>
        <p:nvSpPr>
          <p:cNvPr id="39" name="vong-giua"/>
          <p:cNvSpPr/>
          <p:nvPr/>
        </p:nvSpPr>
        <p:spPr>
          <a:xfrm>
            <a:off x="5453612" y="2989304"/>
            <a:ext cx="1290872" cy="1290872"/>
          </a:xfrm>
          <a:prstGeom prst="ellipse">
            <a:avLst/>
          </a:prstGeom>
          <a:noFill/>
          <a:ln w="22225">
            <a:solidFill>
              <a:srgbClr val="FFFFFF"/>
            </a:solidFill>
          </a:ln>
        </p:spPr>
        <p:txBody>
          <a:bodyPr wrap="none" lIns="0" tIns="0" rIns="0" bIns="0" anchor="ctr"/>
          <a:lstStyle/>
          <a:p>
            <a:pPr algn="ctr"/>
            <a:endParaRPr lang="vi-VN" sz="800"/>
          </a:p>
        </p:txBody>
      </p:sp>
      <p:sp>
        <p:nvSpPr>
          <p:cNvPr id="40" name="cham-giua"/>
          <p:cNvSpPr/>
          <p:nvPr/>
        </p:nvSpPr>
        <p:spPr>
          <a:xfrm>
            <a:off x="6062472" y="3598164"/>
            <a:ext cx="73152" cy="73152"/>
          </a:xfrm>
          <a:prstGeom prst="ellipse">
            <a:avLst/>
          </a:prstGeom>
          <a:solidFill>
            <a:srgbClr val="FFFFFF"/>
          </a:solidFill>
          <a:ln>
            <a:noFill/>
          </a:ln>
        </p:spPr>
        <p:txBody>
          <a:bodyPr wrap="none" lIns="0" tIns="0" rIns="0" bIns="0" anchor="ctr"/>
          <a:lstStyle/>
          <a:p>
            <a:pPr algn="ctr"/>
            <a:endParaRPr lang="vi-VN" sz="800"/>
          </a:p>
        </p:txBody>
      </p:sp>
      <p:sp>
        <p:nvSpPr>
          <p:cNvPr id="41" name="vong-cam-0"/>
          <p:cNvSpPr/>
          <p:nvPr/>
        </p:nvSpPr>
        <p:spPr>
          <a:xfrm>
            <a:off x="2395728" y="2211503"/>
            <a:ext cx="1163901" cy="2846473"/>
          </a:xfrm>
          <a:prstGeom prst="rect">
            <a:avLst/>
          </a:prstGeom>
          <a:noFill/>
          <a:ln w="22225">
            <a:solidFill>
              <a:srgbClr val="FFFFFF"/>
            </a:solidFill>
          </a:ln>
        </p:spPr>
        <p:txBody>
          <a:bodyPr wrap="none" lIns="0" tIns="0" rIns="0" bIns="0" anchor="ctr"/>
          <a:lstStyle/>
          <a:p>
            <a:pPr algn="ctr"/>
            <a:endParaRPr lang="vi-VN" sz="800"/>
          </a:p>
        </p:txBody>
      </p:sp>
      <p:sp>
        <p:nvSpPr>
          <p:cNvPr id="42" name="khung-thanh-nho-0"/>
          <p:cNvSpPr/>
          <p:nvPr/>
        </p:nvSpPr>
        <p:spPr>
          <a:xfrm>
            <a:off x="2395728" y="2988071"/>
            <a:ext cx="387967" cy="1293338"/>
          </a:xfrm>
          <a:prstGeom prst="rect">
            <a:avLst/>
          </a:prstGeom>
          <a:noFill/>
          <a:ln w="22225">
            <a:solidFill>
              <a:srgbClr val="FFFFFF"/>
            </a:solidFill>
          </a:ln>
        </p:spPr>
        <p:txBody>
          <a:bodyPr wrap="none" lIns="0" tIns="0" rIns="0" bIns="0" anchor="ctr"/>
          <a:lstStyle/>
          <a:p>
            <a:pPr algn="ctr"/>
            <a:endParaRPr lang="vi-VN" sz="800"/>
          </a:p>
        </p:txBody>
      </p:sp>
      <p:sp>
        <p:nvSpPr>
          <p:cNvPr id="43" name="cham-phat-0"/>
          <p:cNvSpPr/>
          <p:nvPr/>
        </p:nvSpPr>
        <p:spPr>
          <a:xfrm>
            <a:off x="3139658" y="3602736"/>
            <a:ext cx="64008" cy="64008"/>
          </a:xfrm>
          <a:prstGeom prst="ellipse">
            <a:avLst/>
          </a:prstGeom>
          <a:solidFill>
            <a:srgbClr val="FFFFFF"/>
          </a:solidFill>
          <a:ln>
            <a:noFill/>
          </a:ln>
        </p:spPr>
        <p:txBody>
          <a:bodyPr wrap="none" lIns="0" tIns="0" rIns="0" bIns="0" anchor="ctr"/>
          <a:lstStyle/>
          <a:p>
            <a:pPr algn="ctr"/>
            <a:endParaRPr lang="vi-VN" sz="800"/>
          </a:p>
        </p:txBody>
      </p:sp>
      <p:sp>
        <p:nvSpPr>
          <p:cNvPr id="44" name="khung-thanh-0"/>
          <p:cNvSpPr/>
          <p:nvPr/>
        </p:nvSpPr>
        <p:spPr>
          <a:xfrm>
            <a:off x="2249424" y="3376355"/>
            <a:ext cx="146304" cy="516770"/>
          </a:xfrm>
          <a:prstGeom prst="rect">
            <a:avLst/>
          </a:prstGeom>
          <a:solidFill>
            <a:srgbClr val="DDE3EA"/>
          </a:solidFill>
          <a:ln w="19050">
            <a:solidFill>
              <a:srgbClr val="FFFFFF"/>
            </a:solidFill>
          </a:ln>
        </p:spPr>
        <p:txBody>
          <a:bodyPr wrap="none" lIns="0" tIns="0" rIns="0" bIns="0" anchor="ctr"/>
          <a:lstStyle/>
          <a:p>
            <a:pPr algn="ctr"/>
            <a:endParaRPr lang="vi-VN" sz="800"/>
          </a:p>
        </p:txBody>
      </p:sp>
      <p:sp>
        <p:nvSpPr>
          <p:cNvPr id="45" name="vong-cam-1"/>
          <p:cNvSpPr/>
          <p:nvPr/>
        </p:nvSpPr>
        <p:spPr>
          <a:xfrm>
            <a:off x="8638467" y="2211503"/>
            <a:ext cx="1163901" cy="2846473"/>
          </a:xfrm>
          <a:prstGeom prst="rect">
            <a:avLst/>
          </a:prstGeom>
          <a:noFill/>
          <a:ln w="22225">
            <a:solidFill>
              <a:srgbClr val="FFFFFF"/>
            </a:solidFill>
          </a:ln>
        </p:spPr>
        <p:txBody>
          <a:bodyPr wrap="none" lIns="0" tIns="0" rIns="0" bIns="0" anchor="ctr"/>
          <a:lstStyle/>
          <a:p>
            <a:pPr algn="ctr"/>
            <a:endParaRPr lang="vi-VN" sz="800"/>
          </a:p>
        </p:txBody>
      </p:sp>
      <p:sp>
        <p:nvSpPr>
          <p:cNvPr id="46" name="khung-thanh-nho-1"/>
          <p:cNvSpPr/>
          <p:nvPr/>
        </p:nvSpPr>
        <p:spPr>
          <a:xfrm>
            <a:off x="9414401" y="2988071"/>
            <a:ext cx="387967" cy="1293338"/>
          </a:xfrm>
          <a:prstGeom prst="rect">
            <a:avLst/>
          </a:prstGeom>
          <a:noFill/>
          <a:ln w="22225">
            <a:solidFill>
              <a:srgbClr val="FFFFFF"/>
            </a:solidFill>
          </a:ln>
        </p:spPr>
        <p:txBody>
          <a:bodyPr wrap="none" lIns="0" tIns="0" rIns="0" bIns="0" anchor="ctr"/>
          <a:lstStyle/>
          <a:p>
            <a:pPr algn="ctr"/>
            <a:endParaRPr lang="vi-VN" sz="800"/>
          </a:p>
        </p:txBody>
      </p:sp>
      <p:sp>
        <p:nvSpPr>
          <p:cNvPr id="47" name="cham-phat-1"/>
          <p:cNvSpPr/>
          <p:nvPr/>
        </p:nvSpPr>
        <p:spPr>
          <a:xfrm>
            <a:off x="8994430" y="3602736"/>
            <a:ext cx="64008" cy="64008"/>
          </a:xfrm>
          <a:prstGeom prst="ellipse">
            <a:avLst/>
          </a:prstGeom>
          <a:solidFill>
            <a:srgbClr val="FFFFFF"/>
          </a:solidFill>
          <a:ln>
            <a:noFill/>
          </a:ln>
        </p:spPr>
        <p:txBody>
          <a:bodyPr wrap="none" lIns="0" tIns="0" rIns="0" bIns="0" anchor="ctr"/>
          <a:lstStyle/>
          <a:p>
            <a:pPr algn="ctr"/>
            <a:endParaRPr lang="vi-VN" sz="800"/>
          </a:p>
        </p:txBody>
      </p:sp>
      <p:sp>
        <p:nvSpPr>
          <p:cNvPr id="48" name="khung-thanh-1"/>
          <p:cNvSpPr/>
          <p:nvPr/>
        </p:nvSpPr>
        <p:spPr>
          <a:xfrm>
            <a:off x="9802368" y="3376355"/>
            <a:ext cx="146304" cy="516770"/>
          </a:xfrm>
          <a:prstGeom prst="rect">
            <a:avLst/>
          </a:prstGeom>
          <a:solidFill>
            <a:srgbClr val="DDE3EA"/>
          </a:solidFill>
          <a:ln w="19050">
            <a:solidFill>
              <a:srgbClr val="FFFFFF"/>
            </a:solidFill>
          </a:ln>
        </p:spPr>
        <p:txBody>
          <a:bodyPr wrap="none" lIns="0" tIns="0" rIns="0" bIns="0" anchor="ctr"/>
          <a:lstStyle/>
          <a:p>
            <a:pPr algn="ctr"/>
            <a:endParaRPr lang="vi-VN" sz="800"/>
          </a:p>
        </p:txBody>
      </p:sp>
      <p:sp>
        <p:nvSpPr>
          <p:cNvPr id="49" name="huong"/>
          <p:cNvSpPr/>
          <p:nvPr/>
        </p:nvSpPr>
        <p:spPr>
          <a:xfrm>
            <a:off x="7333488" y="758952"/>
            <a:ext cx="2743200" cy="228600"/>
          </a:xfrm>
          <a:prstGeom prst="rect">
            <a:avLst/>
          </a:prstGeom>
          <a:noFill/>
          <a:ln>
            <a:noFill/>
          </a:ln>
        </p:spPr>
        <p:txBody>
          <a:bodyPr wrap="none" lIns="0" tIns="0" rIns="0" bIns="0" anchor="ctr"/>
          <a:lstStyle/>
          <a:p>
            <a:pPr algn="ctr"/>
            <a:r>
              <a:rPr lang="vi-VN" sz="1100" b="1">
                <a:solidFill>
                  <a:srgbClr val="1C2333"/>
                </a:solidFill>
                <a:latin typeface="Calibri"/>
              </a:rPr>
              <a:t>hướng tấn công →</a:t>
            </a:r>
            <a:endParaRPr lang="vi-VN" sz="800"/>
          </a:p>
        </p:txBody>
      </p:sp>
      <p:grpSp>
        <p:nvGrpSpPr>
          <p:cNvPr id="72" name="Số 1"/>
          <p:cNvGrpSpPr/>
          <p:nvPr/>
        </p:nvGrpSpPr>
        <p:grpSpPr>
          <a:xfrm>
            <a:off x="2204031" y="3396996"/>
            <a:ext cx="1229868" cy="731520"/>
            <a:chOff x="2204031" y="3396996"/>
            <a:chExt cx="1229868" cy="731520"/>
          </a:xfrm>
        </p:grpSpPr>
        <p:sp>
          <p:nvSpPr>
            <p:cNvPr id="50" name="so-1"/>
            <p:cNvSpPr/>
            <p:nvPr/>
          </p:nvSpPr>
          <p:spPr>
            <a:xfrm>
              <a:off x="2581221" y="3396996"/>
              <a:ext cx="475488" cy="475488"/>
            </a:xfrm>
            <a:prstGeom prst="ellipse">
              <a:avLst/>
            </a:prstGeom>
            <a:solidFill>
              <a:srgbClr val="A86C0E"/>
            </a:solidFill>
            <a:ln w="25400">
              <a:solidFill>
                <a:srgbClr val="FFFFFF"/>
              </a:solidFill>
            </a:ln>
          </p:spPr>
          <p:txBody>
            <a:bodyPr wrap="none" lIns="0" tIns="0" rIns="0" bIns="0" anchor="ctr"/>
            <a:lstStyle/>
            <a:p>
              <a:pPr algn="ctr"/>
              <a:r>
                <a:rPr lang="vi-VN" sz="1300" b="1">
                  <a:solidFill>
                    <a:srgbClr val="FFFFFF"/>
                  </a:solidFill>
                  <a:latin typeface="Calibri"/>
                </a:rPr>
                <a:t>1</a:t>
              </a:r>
              <a:endParaRPr lang="vi-VN" sz="800"/>
            </a:p>
          </p:txBody>
        </p:sp>
        <p:sp>
          <p:nvSpPr>
            <p:cNvPr id="51" name="ten-1"/>
            <p:cNvSpPr/>
            <p:nvPr/>
          </p:nvSpPr>
          <p:spPr>
            <a:xfrm>
              <a:off x="2204031" y="3909060"/>
              <a:ext cx="122986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Kiểm chứng cuối</a:t>
              </a:r>
              <a:endParaRPr lang="vi-VN" sz="800"/>
            </a:p>
          </p:txBody>
        </p:sp>
      </p:grpSp>
      <p:grpSp>
        <p:nvGrpSpPr>
          <p:cNvPr id="73" name="Số 3"/>
          <p:cNvGrpSpPr/>
          <p:nvPr/>
        </p:nvGrpSpPr>
        <p:grpSpPr>
          <a:xfrm>
            <a:off x="3431613" y="2338040"/>
            <a:ext cx="749808" cy="731520"/>
            <a:chOff x="3431613" y="2338040"/>
            <a:chExt cx="749808" cy="731520"/>
          </a:xfrm>
        </p:grpSpPr>
        <p:sp>
          <p:nvSpPr>
            <p:cNvPr id="52" name="so-3"/>
            <p:cNvSpPr/>
            <p:nvPr/>
          </p:nvSpPr>
          <p:spPr>
            <a:xfrm>
              <a:off x="3568773" y="2338040"/>
              <a:ext cx="475488" cy="475488"/>
            </a:xfrm>
            <a:prstGeom prst="ellipse">
              <a:avLst/>
            </a:prstGeom>
            <a:solidFill>
              <a:srgbClr val="C93A2A"/>
            </a:solidFill>
            <a:ln w="25400">
              <a:solidFill>
                <a:srgbClr val="FFFFFF"/>
              </a:solidFill>
            </a:ln>
          </p:spPr>
          <p:txBody>
            <a:bodyPr wrap="none" lIns="0" tIns="0" rIns="0" bIns="0" anchor="ctr"/>
            <a:lstStyle/>
            <a:p>
              <a:pPr algn="ctr"/>
              <a:r>
                <a:rPr lang="vi-VN" sz="1300" b="1">
                  <a:solidFill>
                    <a:srgbClr val="FFFFFF"/>
                  </a:solidFill>
                  <a:latin typeface="Calibri"/>
                </a:rPr>
                <a:t>3</a:t>
              </a:r>
              <a:endParaRPr lang="vi-VN" sz="800"/>
            </a:p>
          </p:txBody>
        </p:sp>
        <p:sp>
          <p:nvSpPr>
            <p:cNvPr id="53" name="ten-3"/>
            <p:cNvSpPr/>
            <p:nvPr/>
          </p:nvSpPr>
          <p:spPr>
            <a:xfrm>
              <a:off x="3431613" y="2850104"/>
              <a:ext cx="74980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Tính mới</a:t>
              </a:r>
              <a:endParaRPr lang="vi-VN" sz="800"/>
            </a:p>
          </p:txBody>
        </p:sp>
      </p:grpSp>
      <p:grpSp>
        <p:nvGrpSpPr>
          <p:cNvPr id="74" name="Số 2"/>
          <p:cNvGrpSpPr/>
          <p:nvPr/>
        </p:nvGrpSpPr>
        <p:grpSpPr>
          <a:xfrm>
            <a:off x="3191583" y="4455952"/>
            <a:ext cx="1229868" cy="731520"/>
            <a:chOff x="3191583" y="4455952"/>
            <a:chExt cx="1229868" cy="731520"/>
          </a:xfrm>
        </p:grpSpPr>
        <p:sp>
          <p:nvSpPr>
            <p:cNvPr id="54" name="so-2"/>
            <p:cNvSpPr/>
            <p:nvPr/>
          </p:nvSpPr>
          <p:spPr>
            <a:xfrm>
              <a:off x="3568773" y="4455952"/>
              <a:ext cx="475488" cy="475488"/>
            </a:xfrm>
            <a:prstGeom prst="ellipse">
              <a:avLst/>
            </a:prstGeom>
            <a:solidFill>
              <a:srgbClr val="C93A2A"/>
            </a:solidFill>
            <a:ln w="25400">
              <a:solidFill>
                <a:srgbClr val="FFFFFF"/>
              </a:solidFill>
            </a:ln>
          </p:spPr>
          <p:txBody>
            <a:bodyPr wrap="none" lIns="0" tIns="0" rIns="0" bIns="0" anchor="ctr"/>
            <a:lstStyle/>
            <a:p>
              <a:pPr algn="ctr"/>
              <a:r>
                <a:rPr lang="vi-VN" sz="1300" b="1">
                  <a:solidFill>
                    <a:srgbClr val="FFFFFF"/>
                  </a:solidFill>
                  <a:latin typeface="Calibri"/>
                </a:rPr>
                <a:t>2</a:t>
              </a:r>
              <a:endParaRPr lang="vi-VN" sz="800"/>
            </a:p>
          </p:txBody>
        </p:sp>
        <p:sp>
          <p:nvSpPr>
            <p:cNvPr id="55" name="ten-2"/>
            <p:cNvSpPr/>
            <p:nvPr/>
          </p:nvSpPr>
          <p:spPr>
            <a:xfrm>
              <a:off x="3191583" y="4968016"/>
              <a:ext cx="122986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Soát chứng minh</a:t>
              </a:r>
              <a:endParaRPr lang="vi-VN" sz="800"/>
            </a:p>
          </p:txBody>
        </p:sp>
      </p:grpSp>
      <p:grpSp>
        <p:nvGrpSpPr>
          <p:cNvPr id="75" name="Số 6"/>
          <p:cNvGrpSpPr/>
          <p:nvPr/>
        </p:nvGrpSpPr>
        <p:grpSpPr>
          <a:xfrm>
            <a:off x="4384875" y="3396996"/>
            <a:ext cx="818388" cy="731520"/>
            <a:chOff x="4384875" y="3396996"/>
            <a:chExt cx="818388" cy="731520"/>
          </a:xfrm>
        </p:grpSpPr>
        <p:sp>
          <p:nvSpPr>
            <p:cNvPr id="56" name="so-6"/>
            <p:cNvSpPr/>
            <p:nvPr/>
          </p:nvSpPr>
          <p:spPr>
            <a:xfrm>
              <a:off x="4556325" y="3396996"/>
              <a:ext cx="475488" cy="475488"/>
            </a:xfrm>
            <a:prstGeom prst="ellipse">
              <a:avLst/>
            </a:prstGeom>
            <a:solidFill>
              <a:srgbClr val="1C2333"/>
            </a:solidFill>
            <a:ln w="25400">
              <a:solidFill>
                <a:srgbClr val="FFFFFF"/>
              </a:solidFill>
            </a:ln>
          </p:spPr>
          <p:txBody>
            <a:bodyPr wrap="none" lIns="0" tIns="0" rIns="0" bIns="0" anchor="ctr"/>
            <a:lstStyle/>
            <a:p>
              <a:pPr algn="ctr"/>
              <a:r>
                <a:rPr lang="vi-VN" sz="1300" b="1">
                  <a:solidFill>
                    <a:srgbClr val="FFFFFF"/>
                  </a:solidFill>
                  <a:latin typeface="Calibri"/>
                </a:rPr>
                <a:t>6</a:t>
              </a:r>
              <a:endParaRPr lang="vi-VN" sz="800"/>
            </a:p>
          </p:txBody>
        </p:sp>
        <p:sp>
          <p:nvSpPr>
            <p:cNvPr id="57" name="ten-6"/>
            <p:cNvSpPr/>
            <p:nvPr/>
          </p:nvSpPr>
          <p:spPr>
            <a:xfrm>
              <a:off x="4384875" y="3909060"/>
              <a:ext cx="81838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Điều phối</a:t>
              </a:r>
              <a:endParaRPr lang="vi-VN" sz="800"/>
            </a:p>
          </p:txBody>
        </p:sp>
      </p:grpSp>
      <p:grpSp>
        <p:nvGrpSpPr>
          <p:cNvPr id="76" name="Số 11"/>
          <p:cNvGrpSpPr/>
          <p:nvPr/>
        </p:nvGrpSpPr>
        <p:grpSpPr>
          <a:xfrm>
            <a:off x="5547795" y="1702667"/>
            <a:ext cx="749808" cy="731520"/>
            <a:chOff x="5547795" y="1702667"/>
            <a:chExt cx="749808" cy="731520"/>
          </a:xfrm>
        </p:grpSpPr>
        <p:sp>
          <p:nvSpPr>
            <p:cNvPr id="58" name="so-11"/>
            <p:cNvSpPr/>
            <p:nvPr/>
          </p:nvSpPr>
          <p:spPr>
            <a:xfrm>
              <a:off x="5684955" y="1702667"/>
              <a:ext cx="475488" cy="475488"/>
            </a:xfrm>
            <a:prstGeom prst="ellipse">
              <a:avLst/>
            </a:prstGeom>
            <a:solidFill>
              <a:srgbClr val="2B59D9">
                <a:alpha val="70000"/>
              </a:srgbClr>
            </a:solidFill>
            <a:ln w="25400">
              <a:solidFill>
                <a:srgbClr val="FFFFFF"/>
              </a:solidFill>
              <a:prstDash val="dash"/>
            </a:ln>
          </p:spPr>
          <p:txBody>
            <a:bodyPr wrap="none" lIns="0" tIns="0" rIns="0" bIns="0" anchor="ctr"/>
            <a:lstStyle/>
            <a:p>
              <a:pPr algn="ctr"/>
              <a:r>
                <a:rPr lang="vi-VN" sz="1300" b="1">
                  <a:solidFill>
                    <a:srgbClr val="FFFFFF"/>
                  </a:solidFill>
                  <a:latin typeface="Calibri"/>
                </a:rPr>
                <a:t>11</a:t>
              </a:r>
              <a:endParaRPr lang="vi-VN" sz="800"/>
            </a:p>
          </p:txBody>
        </p:sp>
        <p:sp>
          <p:nvSpPr>
            <p:cNvPr id="59" name="ten-11"/>
            <p:cNvSpPr/>
            <p:nvPr/>
          </p:nvSpPr>
          <p:spPr>
            <a:xfrm>
              <a:off x="5547795" y="2214731"/>
              <a:ext cx="74980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Ngành kề</a:t>
              </a:r>
              <a:endParaRPr lang="vi-VN" sz="800"/>
            </a:p>
          </p:txBody>
        </p:sp>
      </p:grpSp>
      <p:grpSp>
        <p:nvGrpSpPr>
          <p:cNvPr id="77" name="Số 10"/>
          <p:cNvGrpSpPr/>
          <p:nvPr/>
        </p:nvGrpSpPr>
        <p:grpSpPr>
          <a:xfrm>
            <a:off x="5444925" y="3396996"/>
            <a:ext cx="955548" cy="731520"/>
            <a:chOff x="5444925" y="3396996"/>
            <a:chExt cx="955548" cy="731520"/>
          </a:xfrm>
        </p:grpSpPr>
        <p:sp>
          <p:nvSpPr>
            <p:cNvPr id="60" name="so-10"/>
            <p:cNvSpPr/>
            <p:nvPr/>
          </p:nvSpPr>
          <p:spPr>
            <a:xfrm>
              <a:off x="5684955" y="3396996"/>
              <a:ext cx="475488" cy="475488"/>
            </a:xfrm>
            <a:prstGeom prst="ellipse">
              <a:avLst/>
            </a:prstGeom>
            <a:solidFill>
              <a:srgbClr val="2B59D9"/>
            </a:solidFill>
            <a:ln w="25400">
              <a:solidFill>
                <a:srgbClr val="FFFFFF"/>
              </a:solidFill>
            </a:ln>
          </p:spPr>
          <p:txBody>
            <a:bodyPr wrap="none" lIns="0" tIns="0" rIns="0" bIns="0" anchor="ctr"/>
            <a:lstStyle/>
            <a:p>
              <a:pPr algn="ctr"/>
              <a:r>
                <a:rPr lang="vi-VN" sz="1300" b="1">
                  <a:solidFill>
                    <a:srgbClr val="FFFFFF"/>
                  </a:solidFill>
                  <a:latin typeface="Calibri"/>
                </a:rPr>
                <a:t>10</a:t>
              </a:r>
              <a:endParaRPr lang="vi-VN" sz="800"/>
            </a:p>
          </p:txBody>
        </p:sp>
        <p:sp>
          <p:nvSpPr>
            <p:cNvPr id="61" name="ten-10"/>
            <p:cNvSpPr/>
            <p:nvPr/>
          </p:nvSpPr>
          <p:spPr>
            <a:xfrm>
              <a:off x="5444925" y="3909060"/>
              <a:ext cx="95554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Trong ngành</a:t>
              </a:r>
              <a:endParaRPr lang="vi-VN" sz="800"/>
            </a:p>
          </p:txBody>
        </p:sp>
      </p:grpSp>
      <p:grpSp>
        <p:nvGrpSpPr>
          <p:cNvPr id="78" name="Số 7"/>
          <p:cNvGrpSpPr/>
          <p:nvPr/>
        </p:nvGrpSpPr>
        <p:grpSpPr>
          <a:xfrm>
            <a:off x="5547795" y="5091325"/>
            <a:ext cx="749808" cy="731520"/>
            <a:chOff x="5547795" y="5091325"/>
            <a:chExt cx="749808" cy="731520"/>
          </a:xfrm>
        </p:grpSpPr>
        <p:sp>
          <p:nvSpPr>
            <p:cNvPr id="62" name="so-7"/>
            <p:cNvSpPr/>
            <p:nvPr/>
          </p:nvSpPr>
          <p:spPr>
            <a:xfrm>
              <a:off x="5684955" y="5091325"/>
              <a:ext cx="475488" cy="475488"/>
            </a:xfrm>
            <a:prstGeom prst="ellipse">
              <a:avLst/>
            </a:prstGeom>
            <a:solidFill>
              <a:srgbClr val="2B59D9">
                <a:alpha val="70000"/>
              </a:srgbClr>
            </a:solidFill>
            <a:ln w="25400">
              <a:solidFill>
                <a:srgbClr val="FFFFFF"/>
              </a:solidFill>
              <a:prstDash val="dash"/>
            </a:ln>
          </p:spPr>
          <p:txBody>
            <a:bodyPr wrap="none" lIns="0" tIns="0" rIns="0" bIns="0" anchor="ctr"/>
            <a:lstStyle/>
            <a:p>
              <a:pPr algn="ctr"/>
              <a:r>
                <a:rPr lang="vi-VN" sz="1300" b="1">
                  <a:solidFill>
                    <a:srgbClr val="FFFFFF"/>
                  </a:solidFill>
                  <a:latin typeface="Calibri"/>
                </a:rPr>
                <a:t>7</a:t>
              </a:r>
              <a:endParaRPr lang="vi-VN" sz="800"/>
            </a:p>
          </p:txBody>
        </p:sp>
        <p:sp>
          <p:nvSpPr>
            <p:cNvPr id="63" name="ten-7"/>
            <p:cNvSpPr/>
            <p:nvPr/>
          </p:nvSpPr>
          <p:spPr>
            <a:xfrm>
              <a:off x="5547795" y="5603389"/>
              <a:ext cx="74980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Ngành xa</a:t>
              </a:r>
              <a:endParaRPr lang="vi-VN" sz="800"/>
            </a:p>
          </p:txBody>
        </p:sp>
      </p:grpSp>
      <p:grpSp>
        <p:nvGrpSpPr>
          <p:cNvPr id="79" name="Số 8"/>
          <p:cNvGrpSpPr/>
          <p:nvPr/>
        </p:nvGrpSpPr>
        <p:grpSpPr>
          <a:xfrm>
            <a:off x="6571597" y="3396996"/>
            <a:ext cx="818388" cy="731520"/>
            <a:chOff x="6571597" y="3396996"/>
            <a:chExt cx="818388" cy="731520"/>
          </a:xfrm>
        </p:grpSpPr>
        <p:sp>
          <p:nvSpPr>
            <p:cNvPr id="64" name="so-8"/>
            <p:cNvSpPr/>
            <p:nvPr/>
          </p:nvSpPr>
          <p:spPr>
            <a:xfrm>
              <a:off x="6743047" y="3396996"/>
              <a:ext cx="475488" cy="475488"/>
            </a:xfrm>
            <a:prstGeom prst="ellipse">
              <a:avLst/>
            </a:prstGeom>
            <a:solidFill>
              <a:srgbClr val="2B59D9"/>
            </a:solidFill>
            <a:ln w="25400">
              <a:solidFill>
                <a:srgbClr val="FFFFFF"/>
              </a:solidFill>
            </a:ln>
          </p:spPr>
          <p:txBody>
            <a:bodyPr wrap="none" lIns="0" tIns="0" rIns="0" bIns="0" anchor="ctr"/>
            <a:lstStyle/>
            <a:p>
              <a:pPr algn="ctr"/>
              <a:r>
                <a:rPr lang="vi-VN" sz="1300" b="1">
                  <a:solidFill>
                    <a:srgbClr val="FFFFFF"/>
                  </a:solidFill>
                  <a:latin typeface="Calibri"/>
                </a:rPr>
                <a:t>8</a:t>
              </a:r>
              <a:endParaRPr lang="vi-VN" sz="800"/>
            </a:p>
          </p:txBody>
        </p:sp>
        <p:sp>
          <p:nvSpPr>
            <p:cNvPr id="65" name="ten-8"/>
            <p:cNvSpPr/>
            <p:nvPr/>
          </p:nvSpPr>
          <p:spPr>
            <a:xfrm>
              <a:off x="6571597" y="3909060"/>
              <a:ext cx="81838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Blueprint</a:t>
              </a:r>
              <a:endParaRPr lang="vi-VN" sz="800"/>
            </a:p>
          </p:txBody>
        </p:sp>
      </p:grpSp>
      <p:grpSp>
        <p:nvGrpSpPr>
          <p:cNvPr id="80" name="Số 14"/>
          <p:cNvGrpSpPr/>
          <p:nvPr/>
        </p:nvGrpSpPr>
        <p:grpSpPr>
          <a:xfrm>
            <a:off x="7978467" y="1914458"/>
            <a:ext cx="544068" cy="731520"/>
            <a:chOff x="7978467" y="1914458"/>
            <a:chExt cx="544068" cy="731520"/>
          </a:xfrm>
        </p:grpSpPr>
        <p:sp>
          <p:nvSpPr>
            <p:cNvPr id="66" name="so-14"/>
            <p:cNvSpPr/>
            <p:nvPr/>
          </p:nvSpPr>
          <p:spPr>
            <a:xfrm>
              <a:off x="8012757" y="1914458"/>
              <a:ext cx="475488" cy="475488"/>
            </a:xfrm>
            <a:prstGeom prst="ellipse">
              <a:avLst/>
            </a:prstGeom>
            <a:solidFill>
              <a:srgbClr val="2B59D9"/>
            </a:solidFill>
            <a:ln w="25400">
              <a:solidFill>
                <a:srgbClr val="FFFFFF"/>
              </a:solidFill>
            </a:ln>
          </p:spPr>
          <p:txBody>
            <a:bodyPr wrap="none" lIns="0" tIns="0" rIns="0" bIns="0" anchor="ctr"/>
            <a:lstStyle/>
            <a:p>
              <a:pPr algn="ctr"/>
              <a:r>
                <a:rPr lang="vi-VN" sz="1300" b="1">
                  <a:solidFill>
                    <a:srgbClr val="FFFFFF"/>
                  </a:solidFill>
                  <a:latin typeface="Calibri"/>
                </a:rPr>
                <a:t>14</a:t>
              </a:r>
              <a:endParaRPr lang="vi-VN" sz="800"/>
            </a:p>
          </p:txBody>
        </p:sp>
        <p:sp>
          <p:nvSpPr>
            <p:cNvPr id="67" name="ten-14"/>
            <p:cNvSpPr/>
            <p:nvPr/>
          </p:nvSpPr>
          <p:spPr>
            <a:xfrm>
              <a:off x="7978467" y="2426522"/>
              <a:ext cx="54406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Ví dụ</a:t>
              </a:r>
              <a:endParaRPr lang="vi-VN" sz="800"/>
            </a:p>
          </p:txBody>
        </p:sp>
      </p:grpSp>
      <p:grpSp>
        <p:nvGrpSpPr>
          <p:cNvPr id="81" name="Số 9"/>
          <p:cNvGrpSpPr/>
          <p:nvPr/>
        </p:nvGrpSpPr>
        <p:grpSpPr>
          <a:xfrm>
            <a:off x="8089174" y="3396996"/>
            <a:ext cx="886968" cy="731520"/>
            <a:chOff x="8089174" y="3396996"/>
            <a:chExt cx="886968" cy="731520"/>
          </a:xfrm>
        </p:grpSpPr>
        <p:sp>
          <p:nvSpPr>
            <p:cNvPr id="68" name="so-9"/>
            <p:cNvSpPr/>
            <p:nvPr/>
          </p:nvSpPr>
          <p:spPr>
            <a:xfrm>
              <a:off x="8294914" y="3396996"/>
              <a:ext cx="475488" cy="475488"/>
            </a:xfrm>
            <a:prstGeom prst="ellipse">
              <a:avLst/>
            </a:prstGeom>
            <a:solidFill>
              <a:srgbClr val="2B59D9"/>
            </a:solidFill>
            <a:ln w="25400">
              <a:solidFill>
                <a:srgbClr val="FFFFFF"/>
              </a:solidFill>
            </a:ln>
          </p:spPr>
          <p:txBody>
            <a:bodyPr wrap="none" lIns="0" tIns="0" rIns="0" bIns="0" anchor="ctr"/>
            <a:lstStyle/>
            <a:p>
              <a:pPr algn="ctr"/>
              <a:r>
                <a:rPr lang="vi-VN" sz="1300" b="1">
                  <a:solidFill>
                    <a:srgbClr val="FFFFFF"/>
                  </a:solidFill>
                  <a:latin typeface="Calibri"/>
                </a:rPr>
                <a:t>9</a:t>
              </a:r>
              <a:endParaRPr lang="vi-VN" sz="800"/>
            </a:p>
          </p:txBody>
        </p:sp>
        <p:sp>
          <p:nvSpPr>
            <p:cNvPr id="69" name="ten-9"/>
            <p:cNvSpPr/>
            <p:nvPr/>
          </p:nvSpPr>
          <p:spPr>
            <a:xfrm>
              <a:off x="8089174" y="3909060"/>
              <a:ext cx="88696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Chứng minh</a:t>
              </a:r>
              <a:endParaRPr lang="vi-VN" sz="800"/>
            </a:p>
          </p:txBody>
        </p:sp>
      </p:grpSp>
      <p:grpSp>
        <p:nvGrpSpPr>
          <p:cNvPr id="82" name="Số 4"/>
          <p:cNvGrpSpPr/>
          <p:nvPr/>
        </p:nvGrpSpPr>
        <p:grpSpPr>
          <a:xfrm>
            <a:off x="8012757" y="4879534"/>
            <a:ext cx="475488" cy="731520"/>
            <a:chOff x="8012757" y="4879534"/>
            <a:chExt cx="475488" cy="731520"/>
          </a:xfrm>
        </p:grpSpPr>
        <p:sp>
          <p:nvSpPr>
            <p:cNvPr id="70" name="so-4"/>
            <p:cNvSpPr/>
            <p:nvPr/>
          </p:nvSpPr>
          <p:spPr>
            <a:xfrm>
              <a:off x="8012757" y="4879534"/>
              <a:ext cx="475488" cy="475488"/>
            </a:xfrm>
            <a:prstGeom prst="ellipse">
              <a:avLst/>
            </a:prstGeom>
            <a:solidFill>
              <a:srgbClr val="C93A2A"/>
            </a:solidFill>
            <a:ln w="25400">
              <a:solidFill>
                <a:srgbClr val="FFFFFF"/>
              </a:solidFill>
            </a:ln>
          </p:spPr>
          <p:txBody>
            <a:bodyPr wrap="none" lIns="0" tIns="0" rIns="0" bIns="0" anchor="ctr"/>
            <a:lstStyle/>
            <a:p>
              <a:pPr algn="ctr"/>
              <a:r>
                <a:rPr lang="vi-VN" sz="1300" b="1">
                  <a:solidFill>
                    <a:srgbClr val="FFFFFF"/>
                  </a:solidFill>
                  <a:latin typeface="Calibri"/>
                </a:rPr>
                <a:t>4</a:t>
              </a:r>
              <a:endParaRPr lang="vi-VN" sz="800"/>
            </a:p>
          </p:txBody>
        </p:sp>
        <p:sp>
          <p:nvSpPr>
            <p:cNvPr id="71" name="ten-4"/>
            <p:cNvSpPr/>
            <p:nvPr/>
          </p:nvSpPr>
          <p:spPr>
            <a:xfrm>
              <a:off x="8047047" y="5391598"/>
              <a:ext cx="406908" cy="219456"/>
            </a:xfrm>
            <a:prstGeom prst="roundRect">
              <a:avLst/>
            </a:prstGeom>
            <a:solidFill>
              <a:srgbClr val="1C2333">
                <a:alpha val="55000"/>
              </a:srgbClr>
            </a:solidFill>
            <a:ln>
              <a:noFill/>
            </a:ln>
          </p:spPr>
          <p:txBody>
            <a:bodyPr wrap="none" lIns="0" tIns="0" rIns="0" bIns="0" anchor="ctr"/>
            <a:lstStyle/>
            <a:p>
              <a:pPr algn="ctr"/>
              <a:r>
                <a:rPr lang="vi-VN" sz="1050" b="1">
                  <a:solidFill>
                    <a:srgbClr val="FFFFFF"/>
                  </a:solidFill>
                  <a:latin typeface="Calibri"/>
                </a:rPr>
                <a:t>Phá</a:t>
              </a:r>
              <a:endParaRPr lang="vi-VN" sz="800"/>
            </a:p>
          </p:txBody>
        </p:sp>
      </p:grpSp>
    </p:spTree>
  </p:cSld>
  <p:clrMapOvr>
    <a:masterClrMapping/>
  </p:clrMapOvr>
</p:sld>
</file>

<file path=ppt/theme/theme1.xml><?xml version="1.0" encoding="utf-8"?>
<a:theme xmlns:a="http://schemas.openxmlformats.org/drawingml/2006/main" name="Doi nghien cuu toan">
  <a:themeElements>
    <a:clrScheme name="Doi nghien cuu toan">
      <a:dk1>
        <a:srgbClr val="1C2333"/>
      </a:dk1>
      <a:lt1>
        <a:srgbClr val="FFFFFF"/>
      </a:lt1>
      <a:dk2>
        <a:srgbClr val="394152"/>
      </a:dk2>
      <a:lt2>
        <a:srgbClr val="F2F4F7"/>
      </a:lt2>
      <a:accent1>
        <a:srgbClr val="2B59D9"/>
      </a:accent1>
      <a:accent2>
        <a:srgbClr val="C93A2A"/>
      </a:accent2>
      <a:accent3>
        <a:srgbClr val="A86C0E"/>
      </a:accent3>
      <a:accent4>
        <a:srgbClr val="157A55"/>
      </a:accent4>
      <a:accent5>
        <a:srgbClr val="5F6878"/>
      </a:accent5>
      <a:accent6>
        <a:srgbClr val="EBF0FD"/>
      </a:accent6>
      <a:hlink>
        <a:srgbClr val="2B59D9"/>
      </a:hlink>
      <a:folHlink>
        <a:srgbClr val="5F6878"/>
      </a:folHlink>
    </a:clrScheme>
    <a:fontScheme name="Doi nghien cuu to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1594</Words>
  <Application>Microsoft Office PowerPoint</Application>
  <PresentationFormat>Widescreen</PresentationFormat>
  <Paragraphs>259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Doi nghien cuu toan</vt:lpstr>
      <vt:lpstr>Đội nghiên cứu toán</vt:lpstr>
      <vt:lpstr>“Dream Team” Barcelona của Johan Cruyff</vt:lpstr>
      <vt:lpstr>Kho đã kiểm và bảng tác chiến: ai được ghi gì</vt:lpstr>
      <vt:lpstr>Một tổ: nhiều agent đánh như một team</vt:lpstr>
      <vt:lpstr>Năm ghế lõi: luôn có</vt:lpstr>
      <vt:lpstr>Sáu ghế tuỳ chọn: bật theo bài</vt:lpstr>
      <vt:lpstr>Bốn luật không đổi</vt:lpstr>
      <vt:lpstr>Luật chuyền bóng khi một ghế có nhiều người</vt:lpstr>
      <vt:lpstr>Thay người: khi ngữ cảnh đầy 50%</vt:lpstr>
      <vt:lpstr>Tấn công chính bộ chấm</vt:lpstr>
      <vt:lpstr>Mỗi luật dựa trên một bằng chứng</vt:lpstr>
      <vt:lpstr>Sinh rộng ở trên, phán bằng bằng chứng ở dưới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Đội nghiên cứu toán</dc:title>
  <dc:subject>PptxGenJS Presentation</dc:subject>
  <dc:creator>PptxGenJS</dc:creator>
  <cp:lastModifiedBy>Mrdo</cp:lastModifiedBy>
  <cp:revision>2</cp:revision>
  <dcterms:created xsi:type="dcterms:W3CDTF">2026-10-22T06:05:08Z</dcterms:created>
  <dcterms:modified xsi:type="dcterms:W3CDTF">2026-10-22T06:18:27Z</dcterms:modified>
</cp:coreProperties>
</file>